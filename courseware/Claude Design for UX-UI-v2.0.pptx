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slides/slide113.xml" ContentType="application/vnd.openxmlformats-officedocument.presentationml.slide+xml"/>
  <Override PartName="/ppt/slides/slide114.xml" ContentType="application/vnd.openxmlformats-officedocument.presentationml.slide+xml"/>
  <Override PartName="/ppt/slides/slide115.xml" ContentType="application/vnd.openxmlformats-officedocument.presentationml.slide+xml"/>
  <Override PartName="/ppt/slides/slide116.xml" ContentType="application/vnd.openxmlformats-officedocument.presentationml.slide+xml"/>
  <Override PartName="/ppt/slides/slide117.xml" ContentType="application/vnd.openxmlformats-officedocument.presentationml.slide+xml"/>
  <Override PartName="/ppt/slides/slide118.xml" ContentType="application/vnd.openxmlformats-officedocument.presentationml.slide+xml"/>
  <Override PartName="/ppt/slides/slide119.xml" ContentType="application/vnd.openxmlformats-officedocument.presentationml.slide+xml"/>
  <Override PartName="/ppt/slides/slide12.xml" ContentType="application/vnd.openxmlformats-officedocument.presentationml.slide+xml"/>
  <Override PartName="/ppt/slides/slide120.xml" ContentType="application/vnd.openxmlformats-officedocument.presentationml.slide+xml"/>
  <Override PartName="/ppt/slides/slide121.xml" ContentType="application/vnd.openxmlformats-officedocument.presentationml.slide+xml"/>
  <Override PartName="/ppt/slides/slide122.xml" ContentType="application/vnd.openxmlformats-officedocument.presentationml.slide+xml"/>
  <Override PartName="/ppt/slides/slide123.xml" ContentType="application/vnd.openxmlformats-officedocument.presentationml.slide+xml"/>
  <Override PartName="/ppt/slides/slide124.xml" ContentType="application/vnd.openxmlformats-officedocument.presentationml.slide+xml"/>
  <Override PartName="/ppt/slides/slide125.xml" ContentType="application/vnd.openxmlformats-officedocument.presentationml.slide+xml"/>
  <Override PartName="/ppt/slides/slide126.xml" ContentType="application/vnd.openxmlformats-officedocument.presentationml.slide+xml"/>
  <Override PartName="/ppt/slides/slide127.xml" ContentType="application/vnd.openxmlformats-officedocument.presentationml.slide+xml"/>
  <Override PartName="/ppt/slides/slide128.xml" ContentType="application/vnd.openxmlformats-officedocument.presentationml.slide+xml"/>
  <Override PartName="/ppt/slides/slide129.xml" ContentType="application/vnd.openxmlformats-officedocument.presentationml.slide+xml"/>
  <Override PartName="/ppt/slides/slide13.xml" ContentType="application/vnd.openxmlformats-officedocument.presentationml.slide+xml"/>
  <Override PartName="/ppt/slides/slide130.xml" ContentType="application/vnd.openxmlformats-officedocument.presentationml.slide+xml"/>
  <Override PartName="/ppt/slides/slide131.xml" ContentType="application/vnd.openxmlformats-officedocument.presentationml.slide+xml"/>
  <Override PartName="/ppt/slides/slide132.xml" ContentType="application/vnd.openxmlformats-officedocument.presentationml.slide+xml"/>
  <Override PartName="/ppt/slides/slide133.xml" ContentType="application/vnd.openxmlformats-officedocument.presentationml.slide+xml"/>
  <Override PartName="/ppt/slides/slide134.xml" ContentType="application/vnd.openxmlformats-officedocument.presentationml.slide+xml"/>
  <Override PartName="/ppt/slides/slide135.xml" ContentType="application/vnd.openxmlformats-officedocument.presentationml.slide+xml"/>
  <Override PartName="/ppt/slides/slide136.xml" ContentType="application/vnd.openxmlformats-officedocument.presentationml.slide+xml"/>
  <Override PartName="/ppt/slides/slide137.xml" ContentType="application/vnd.openxmlformats-officedocument.presentationml.slide+xml"/>
  <Override PartName="/ppt/slides/slide138.xml" ContentType="application/vnd.openxmlformats-officedocument.presentationml.slide+xml"/>
  <Override PartName="/ppt/slides/slide139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8" r:id="rId9"/>
    <p:sldId id="259" r:id="rId10"/>
    <p:sldId id="260" r:id="rId11"/>
    <p:sldId id="261" r:id="rId12"/>
    <p:sldId id="262" r:id="rId13"/>
    <p:sldId id="265" r:id="rId16"/>
    <p:sldId id="266" r:id="rId17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  <p:sldId id="307" r:id="rId58"/>
    <p:sldId id="308" r:id="rId59"/>
    <p:sldId id="309" r:id="rId60"/>
    <p:sldId id="310" r:id="rId61"/>
    <p:sldId id="311" r:id="rId62"/>
    <p:sldId id="312" r:id="rId63"/>
    <p:sldId id="313" r:id="rId64"/>
    <p:sldId id="314" r:id="rId65"/>
    <p:sldId id="315" r:id="rId66"/>
    <p:sldId id="316" r:id="rId67"/>
    <p:sldId id="317" r:id="rId68"/>
    <p:sldId id="318" r:id="rId69"/>
    <p:sldId id="319" r:id="rId70"/>
    <p:sldId id="320" r:id="rId71"/>
    <p:sldId id="321" r:id="rId72"/>
    <p:sldId id="322" r:id="rId73"/>
    <p:sldId id="323" r:id="rId74"/>
    <p:sldId id="324" r:id="rId75"/>
    <p:sldId id="325" r:id="rId76"/>
    <p:sldId id="326" r:id="rId77"/>
    <p:sldId id="327" r:id="rId78"/>
    <p:sldId id="328" r:id="rId79"/>
    <p:sldId id="329" r:id="rId80"/>
    <p:sldId id="330" r:id="rId81"/>
    <p:sldId id="331" r:id="rId82"/>
    <p:sldId id="332" r:id="rId83"/>
    <p:sldId id="333" r:id="rId84"/>
    <p:sldId id="334" r:id="rId85"/>
    <p:sldId id="335" r:id="rId86"/>
    <p:sldId id="336" r:id="rId87"/>
    <p:sldId id="337" r:id="rId88"/>
    <p:sldId id="338" r:id="rId89"/>
    <p:sldId id="339" r:id="rId90"/>
    <p:sldId id="340" r:id="rId91"/>
    <p:sldId id="341" r:id="rId92"/>
    <p:sldId id="342" r:id="rId93"/>
    <p:sldId id="343" r:id="rId94"/>
    <p:sldId id="344" r:id="rId95"/>
    <p:sldId id="345" r:id="rId96"/>
    <p:sldId id="346" r:id="rId97"/>
    <p:sldId id="347" r:id="rId98"/>
    <p:sldId id="348" r:id="rId99"/>
    <p:sldId id="349" r:id="rId100"/>
    <p:sldId id="350" r:id="rId101"/>
    <p:sldId id="351" r:id="rId102"/>
    <p:sldId id="352" r:id="rId103"/>
    <p:sldId id="353" r:id="rId104"/>
    <p:sldId id="354" r:id="rId105"/>
    <p:sldId id="355" r:id="rId106"/>
    <p:sldId id="356" r:id="rId107"/>
    <p:sldId id="357" r:id="rId108"/>
    <p:sldId id="358" r:id="rId109"/>
    <p:sldId id="359" r:id="rId110"/>
    <p:sldId id="360" r:id="rId111"/>
    <p:sldId id="361" r:id="rId112"/>
    <p:sldId id="362" r:id="rId113"/>
    <p:sldId id="363" r:id="rId114"/>
    <p:sldId id="364" r:id="rId115"/>
    <p:sldId id="365" r:id="rId116"/>
    <p:sldId id="366" r:id="rId117"/>
    <p:sldId id="367" r:id="rId118"/>
    <p:sldId id="368" r:id="rId119"/>
    <p:sldId id="369" r:id="rId120"/>
    <p:sldId id="370" r:id="rId121"/>
    <p:sldId id="371" r:id="rId122"/>
    <p:sldId id="372" r:id="rId123"/>
    <p:sldId id="373" r:id="rId124"/>
    <p:sldId id="374" r:id="rId125"/>
    <p:sldId id="375" r:id="rId126"/>
    <p:sldId id="376" r:id="rId127"/>
    <p:sldId id="377" r:id="rId128"/>
    <p:sldId id="378" r:id="rId129"/>
    <p:sldId id="379" r:id="rId130"/>
    <p:sldId id="380" r:id="rId131"/>
    <p:sldId id="381" r:id="rId132"/>
    <p:sldId id="382" r:id="rId133"/>
    <p:sldId id="383" r:id="rId134"/>
    <p:sldId id="384" r:id="rId135"/>
    <p:sldId id="385" r:id="rId136"/>
    <p:sldId id="386" r:id="rId137"/>
    <p:sldId id="387" r:id="rId138"/>
    <p:sldId id="388" r:id="rId139"/>
    <p:sldId id="389" r:id="rId140"/>
    <p:sldId id="390" r:id="rId141"/>
    <p:sldId id="391" r:id="rId142"/>
    <p:sldId id="392" r:id="rId143"/>
    <p:sldId id="393" r:id="rId144"/>
    <p:sldId id="394" r:id="rId145"/>
    <p:sldId id="395" r:id="rId146"/>
    <p:sldId id="396" r:id="rId147"/>
    <p:sldId id="397" r:id="rId148"/>
    <p:sldId id="398" r:id="rId149"/>
    <p:sldId id="399" r:id="rId150"/>
    <p:sldId id="400" r:id="rId151"/>
    <p:sldId id="405" r:id="rId15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6" Type="http://schemas.openxmlformats.org/officeDocument/2006/relationships/slide" Target="slides/slide7.xml"/><Relationship Id="rId17" Type="http://schemas.openxmlformats.org/officeDocument/2006/relationships/slide" Target="slides/slide8.xml"/><Relationship Id="rId22" Type="http://schemas.openxmlformats.org/officeDocument/2006/relationships/slide" Target="slides/slide9.xml"/><Relationship Id="rId23" Type="http://schemas.openxmlformats.org/officeDocument/2006/relationships/slide" Target="slides/slide10.xml"/><Relationship Id="rId24" Type="http://schemas.openxmlformats.org/officeDocument/2006/relationships/slide" Target="slides/slide11.xml"/><Relationship Id="rId25" Type="http://schemas.openxmlformats.org/officeDocument/2006/relationships/slide" Target="slides/slide12.xml"/><Relationship Id="rId26" Type="http://schemas.openxmlformats.org/officeDocument/2006/relationships/slide" Target="slides/slide13.xml"/><Relationship Id="rId27" Type="http://schemas.openxmlformats.org/officeDocument/2006/relationships/slide" Target="slides/slide14.xml"/><Relationship Id="rId28" Type="http://schemas.openxmlformats.org/officeDocument/2006/relationships/slide" Target="slides/slide15.xml"/><Relationship Id="rId29" Type="http://schemas.openxmlformats.org/officeDocument/2006/relationships/slide" Target="slides/slide16.xml"/><Relationship Id="rId30" Type="http://schemas.openxmlformats.org/officeDocument/2006/relationships/slide" Target="slides/slide17.xml"/><Relationship Id="rId31" Type="http://schemas.openxmlformats.org/officeDocument/2006/relationships/slide" Target="slides/slide18.xml"/><Relationship Id="rId32" Type="http://schemas.openxmlformats.org/officeDocument/2006/relationships/slide" Target="slides/slide19.xml"/><Relationship Id="rId33" Type="http://schemas.openxmlformats.org/officeDocument/2006/relationships/slide" Target="slides/slide20.xml"/><Relationship Id="rId34" Type="http://schemas.openxmlformats.org/officeDocument/2006/relationships/slide" Target="slides/slide21.xml"/><Relationship Id="rId35" Type="http://schemas.openxmlformats.org/officeDocument/2006/relationships/slide" Target="slides/slide22.xml"/><Relationship Id="rId36" Type="http://schemas.openxmlformats.org/officeDocument/2006/relationships/slide" Target="slides/slide23.xml"/><Relationship Id="rId37" Type="http://schemas.openxmlformats.org/officeDocument/2006/relationships/slide" Target="slides/slide24.xml"/><Relationship Id="rId38" Type="http://schemas.openxmlformats.org/officeDocument/2006/relationships/slide" Target="slides/slide25.xml"/><Relationship Id="rId39" Type="http://schemas.openxmlformats.org/officeDocument/2006/relationships/slide" Target="slides/slide26.xml"/><Relationship Id="rId40" Type="http://schemas.openxmlformats.org/officeDocument/2006/relationships/slide" Target="slides/slide27.xml"/><Relationship Id="rId41" Type="http://schemas.openxmlformats.org/officeDocument/2006/relationships/slide" Target="slides/slide28.xml"/><Relationship Id="rId42" Type="http://schemas.openxmlformats.org/officeDocument/2006/relationships/slide" Target="slides/slide29.xml"/><Relationship Id="rId43" Type="http://schemas.openxmlformats.org/officeDocument/2006/relationships/slide" Target="slides/slide30.xml"/><Relationship Id="rId44" Type="http://schemas.openxmlformats.org/officeDocument/2006/relationships/slide" Target="slides/slide31.xml"/><Relationship Id="rId45" Type="http://schemas.openxmlformats.org/officeDocument/2006/relationships/slide" Target="slides/slide32.xml"/><Relationship Id="rId46" Type="http://schemas.openxmlformats.org/officeDocument/2006/relationships/slide" Target="slides/slide33.xml"/><Relationship Id="rId47" Type="http://schemas.openxmlformats.org/officeDocument/2006/relationships/slide" Target="slides/slide34.xml"/><Relationship Id="rId48" Type="http://schemas.openxmlformats.org/officeDocument/2006/relationships/slide" Target="slides/slide35.xml"/><Relationship Id="rId49" Type="http://schemas.openxmlformats.org/officeDocument/2006/relationships/slide" Target="slides/slide36.xml"/><Relationship Id="rId50" Type="http://schemas.openxmlformats.org/officeDocument/2006/relationships/slide" Target="slides/slide37.xml"/><Relationship Id="rId51" Type="http://schemas.openxmlformats.org/officeDocument/2006/relationships/slide" Target="slides/slide38.xml"/><Relationship Id="rId52" Type="http://schemas.openxmlformats.org/officeDocument/2006/relationships/slide" Target="slides/slide39.xml"/><Relationship Id="rId53" Type="http://schemas.openxmlformats.org/officeDocument/2006/relationships/slide" Target="slides/slide40.xml"/><Relationship Id="rId54" Type="http://schemas.openxmlformats.org/officeDocument/2006/relationships/slide" Target="slides/slide41.xml"/><Relationship Id="rId55" Type="http://schemas.openxmlformats.org/officeDocument/2006/relationships/slide" Target="slides/slide42.xml"/><Relationship Id="rId56" Type="http://schemas.openxmlformats.org/officeDocument/2006/relationships/slide" Target="slides/slide43.xml"/><Relationship Id="rId57" Type="http://schemas.openxmlformats.org/officeDocument/2006/relationships/slide" Target="slides/slide44.xml"/><Relationship Id="rId58" Type="http://schemas.openxmlformats.org/officeDocument/2006/relationships/slide" Target="slides/slide45.xml"/><Relationship Id="rId59" Type="http://schemas.openxmlformats.org/officeDocument/2006/relationships/slide" Target="slides/slide46.xml"/><Relationship Id="rId60" Type="http://schemas.openxmlformats.org/officeDocument/2006/relationships/slide" Target="slides/slide47.xml"/><Relationship Id="rId61" Type="http://schemas.openxmlformats.org/officeDocument/2006/relationships/slide" Target="slides/slide48.xml"/><Relationship Id="rId62" Type="http://schemas.openxmlformats.org/officeDocument/2006/relationships/slide" Target="slides/slide49.xml"/><Relationship Id="rId63" Type="http://schemas.openxmlformats.org/officeDocument/2006/relationships/slide" Target="slides/slide50.xml"/><Relationship Id="rId64" Type="http://schemas.openxmlformats.org/officeDocument/2006/relationships/slide" Target="slides/slide51.xml"/><Relationship Id="rId65" Type="http://schemas.openxmlformats.org/officeDocument/2006/relationships/slide" Target="slides/slide52.xml"/><Relationship Id="rId66" Type="http://schemas.openxmlformats.org/officeDocument/2006/relationships/slide" Target="slides/slide53.xml"/><Relationship Id="rId67" Type="http://schemas.openxmlformats.org/officeDocument/2006/relationships/slide" Target="slides/slide54.xml"/><Relationship Id="rId68" Type="http://schemas.openxmlformats.org/officeDocument/2006/relationships/slide" Target="slides/slide55.xml"/><Relationship Id="rId69" Type="http://schemas.openxmlformats.org/officeDocument/2006/relationships/slide" Target="slides/slide56.xml"/><Relationship Id="rId70" Type="http://schemas.openxmlformats.org/officeDocument/2006/relationships/slide" Target="slides/slide57.xml"/><Relationship Id="rId71" Type="http://schemas.openxmlformats.org/officeDocument/2006/relationships/slide" Target="slides/slide58.xml"/><Relationship Id="rId72" Type="http://schemas.openxmlformats.org/officeDocument/2006/relationships/slide" Target="slides/slide59.xml"/><Relationship Id="rId73" Type="http://schemas.openxmlformats.org/officeDocument/2006/relationships/slide" Target="slides/slide60.xml"/><Relationship Id="rId74" Type="http://schemas.openxmlformats.org/officeDocument/2006/relationships/slide" Target="slides/slide61.xml"/><Relationship Id="rId75" Type="http://schemas.openxmlformats.org/officeDocument/2006/relationships/slide" Target="slides/slide62.xml"/><Relationship Id="rId76" Type="http://schemas.openxmlformats.org/officeDocument/2006/relationships/slide" Target="slides/slide63.xml"/><Relationship Id="rId77" Type="http://schemas.openxmlformats.org/officeDocument/2006/relationships/slide" Target="slides/slide64.xml"/><Relationship Id="rId78" Type="http://schemas.openxmlformats.org/officeDocument/2006/relationships/slide" Target="slides/slide65.xml"/><Relationship Id="rId79" Type="http://schemas.openxmlformats.org/officeDocument/2006/relationships/slide" Target="slides/slide66.xml"/><Relationship Id="rId80" Type="http://schemas.openxmlformats.org/officeDocument/2006/relationships/slide" Target="slides/slide67.xml"/><Relationship Id="rId81" Type="http://schemas.openxmlformats.org/officeDocument/2006/relationships/slide" Target="slides/slide68.xml"/><Relationship Id="rId82" Type="http://schemas.openxmlformats.org/officeDocument/2006/relationships/slide" Target="slides/slide69.xml"/><Relationship Id="rId83" Type="http://schemas.openxmlformats.org/officeDocument/2006/relationships/slide" Target="slides/slide70.xml"/><Relationship Id="rId84" Type="http://schemas.openxmlformats.org/officeDocument/2006/relationships/slide" Target="slides/slide71.xml"/><Relationship Id="rId85" Type="http://schemas.openxmlformats.org/officeDocument/2006/relationships/slide" Target="slides/slide72.xml"/><Relationship Id="rId86" Type="http://schemas.openxmlformats.org/officeDocument/2006/relationships/slide" Target="slides/slide73.xml"/><Relationship Id="rId87" Type="http://schemas.openxmlformats.org/officeDocument/2006/relationships/slide" Target="slides/slide74.xml"/><Relationship Id="rId88" Type="http://schemas.openxmlformats.org/officeDocument/2006/relationships/slide" Target="slides/slide75.xml"/><Relationship Id="rId89" Type="http://schemas.openxmlformats.org/officeDocument/2006/relationships/slide" Target="slides/slide76.xml"/><Relationship Id="rId90" Type="http://schemas.openxmlformats.org/officeDocument/2006/relationships/slide" Target="slides/slide77.xml"/><Relationship Id="rId91" Type="http://schemas.openxmlformats.org/officeDocument/2006/relationships/slide" Target="slides/slide78.xml"/><Relationship Id="rId92" Type="http://schemas.openxmlformats.org/officeDocument/2006/relationships/slide" Target="slides/slide79.xml"/><Relationship Id="rId93" Type="http://schemas.openxmlformats.org/officeDocument/2006/relationships/slide" Target="slides/slide80.xml"/><Relationship Id="rId94" Type="http://schemas.openxmlformats.org/officeDocument/2006/relationships/slide" Target="slides/slide81.xml"/><Relationship Id="rId95" Type="http://schemas.openxmlformats.org/officeDocument/2006/relationships/slide" Target="slides/slide82.xml"/><Relationship Id="rId96" Type="http://schemas.openxmlformats.org/officeDocument/2006/relationships/slide" Target="slides/slide83.xml"/><Relationship Id="rId97" Type="http://schemas.openxmlformats.org/officeDocument/2006/relationships/slide" Target="slides/slide84.xml"/><Relationship Id="rId98" Type="http://schemas.openxmlformats.org/officeDocument/2006/relationships/slide" Target="slides/slide85.xml"/><Relationship Id="rId99" Type="http://schemas.openxmlformats.org/officeDocument/2006/relationships/slide" Target="slides/slide86.xml"/><Relationship Id="rId100" Type="http://schemas.openxmlformats.org/officeDocument/2006/relationships/slide" Target="slides/slide87.xml"/><Relationship Id="rId101" Type="http://schemas.openxmlformats.org/officeDocument/2006/relationships/slide" Target="slides/slide88.xml"/><Relationship Id="rId102" Type="http://schemas.openxmlformats.org/officeDocument/2006/relationships/slide" Target="slides/slide89.xml"/><Relationship Id="rId103" Type="http://schemas.openxmlformats.org/officeDocument/2006/relationships/slide" Target="slides/slide90.xml"/><Relationship Id="rId104" Type="http://schemas.openxmlformats.org/officeDocument/2006/relationships/slide" Target="slides/slide91.xml"/><Relationship Id="rId105" Type="http://schemas.openxmlformats.org/officeDocument/2006/relationships/slide" Target="slides/slide92.xml"/><Relationship Id="rId106" Type="http://schemas.openxmlformats.org/officeDocument/2006/relationships/slide" Target="slides/slide93.xml"/><Relationship Id="rId107" Type="http://schemas.openxmlformats.org/officeDocument/2006/relationships/slide" Target="slides/slide94.xml"/><Relationship Id="rId108" Type="http://schemas.openxmlformats.org/officeDocument/2006/relationships/slide" Target="slides/slide95.xml"/><Relationship Id="rId109" Type="http://schemas.openxmlformats.org/officeDocument/2006/relationships/slide" Target="slides/slide96.xml"/><Relationship Id="rId110" Type="http://schemas.openxmlformats.org/officeDocument/2006/relationships/slide" Target="slides/slide97.xml"/><Relationship Id="rId111" Type="http://schemas.openxmlformats.org/officeDocument/2006/relationships/slide" Target="slides/slide98.xml"/><Relationship Id="rId112" Type="http://schemas.openxmlformats.org/officeDocument/2006/relationships/slide" Target="slides/slide99.xml"/><Relationship Id="rId113" Type="http://schemas.openxmlformats.org/officeDocument/2006/relationships/slide" Target="slides/slide100.xml"/><Relationship Id="rId114" Type="http://schemas.openxmlformats.org/officeDocument/2006/relationships/slide" Target="slides/slide101.xml"/><Relationship Id="rId115" Type="http://schemas.openxmlformats.org/officeDocument/2006/relationships/slide" Target="slides/slide102.xml"/><Relationship Id="rId116" Type="http://schemas.openxmlformats.org/officeDocument/2006/relationships/slide" Target="slides/slide103.xml"/><Relationship Id="rId117" Type="http://schemas.openxmlformats.org/officeDocument/2006/relationships/slide" Target="slides/slide104.xml"/><Relationship Id="rId118" Type="http://schemas.openxmlformats.org/officeDocument/2006/relationships/slide" Target="slides/slide105.xml"/><Relationship Id="rId119" Type="http://schemas.openxmlformats.org/officeDocument/2006/relationships/slide" Target="slides/slide106.xml"/><Relationship Id="rId120" Type="http://schemas.openxmlformats.org/officeDocument/2006/relationships/slide" Target="slides/slide107.xml"/><Relationship Id="rId121" Type="http://schemas.openxmlformats.org/officeDocument/2006/relationships/slide" Target="slides/slide108.xml"/><Relationship Id="rId122" Type="http://schemas.openxmlformats.org/officeDocument/2006/relationships/slide" Target="slides/slide109.xml"/><Relationship Id="rId123" Type="http://schemas.openxmlformats.org/officeDocument/2006/relationships/slide" Target="slides/slide110.xml"/><Relationship Id="rId124" Type="http://schemas.openxmlformats.org/officeDocument/2006/relationships/slide" Target="slides/slide111.xml"/><Relationship Id="rId125" Type="http://schemas.openxmlformats.org/officeDocument/2006/relationships/slide" Target="slides/slide112.xml"/><Relationship Id="rId126" Type="http://schemas.openxmlformats.org/officeDocument/2006/relationships/slide" Target="slides/slide113.xml"/><Relationship Id="rId127" Type="http://schemas.openxmlformats.org/officeDocument/2006/relationships/slide" Target="slides/slide114.xml"/><Relationship Id="rId128" Type="http://schemas.openxmlformats.org/officeDocument/2006/relationships/slide" Target="slides/slide115.xml"/><Relationship Id="rId129" Type="http://schemas.openxmlformats.org/officeDocument/2006/relationships/slide" Target="slides/slide116.xml"/><Relationship Id="rId130" Type="http://schemas.openxmlformats.org/officeDocument/2006/relationships/slide" Target="slides/slide117.xml"/><Relationship Id="rId131" Type="http://schemas.openxmlformats.org/officeDocument/2006/relationships/slide" Target="slides/slide118.xml"/><Relationship Id="rId132" Type="http://schemas.openxmlformats.org/officeDocument/2006/relationships/slide" Target="slides/slide119.xml"/><Relationship Id="rId133" Type="http://schemas.openxmlformats.org/officeDocument/2006/relationships/slide" Target="slides/slide120.xml"/><Relationship Id="rId134" Type="http://schemas.openxmlformats.org/officeDocument/2006/relationships/slide" Target="slides/slide121.xml"/><Relationship Id="rId135" Type="http://schemas.openxmlformats.org/officeDocument/2006/relationships/slide" Target="slides/slide122.xml"/><Relationship Id="rId136" Type="http://schemas.openxmlformats.org/officeDocument/2006/relationships/slide" Target="slides/slide123.xml"/><Relationship Id="rId137" Type="http://schemas.openxmlformats.org/officeDocument/2006/relationships/slide" Target="slides/slide124.xml"/><Relationship Id="rId138" Type="http://schemas.openxmlformats.org/officeDocument/2006/relationships/slide" Target="slides/slide125.xml"/><Relationship Id="rId139" Type="http://schemas.openxmlformats.org/officeDocument/2006/relationships/slide" Target="slides/slide126.xml"/><Relationship Id="rId140" Type="http://schemas.openxmlformats.org/officeDocument/2006/relationships/slide" Target="slides/slide127.xml"/><Relationship Id="rId141" Type="http://schemas.openxmlformats.org/officeDocument/2006/relationships/slide" Target="slides/slide128.xml"/><Relationship Id="rId142" Type="http://schemas.openxmlformats.org/officeDocument/2006/relationships/slide" Target="slides/slide129.xml"/><Relationship Id="rId143" Type="http://schemas.openxmlformats.org/officeDocument/2006/relationships/slide" Target="slides/slide130.xml"/><Relationship Id="rId144" Type="http://schemas.openxmlformats.org/officeDocument/2006/relationships/slide" Target="slides/slide131.xml"/><Relationship Id="rId145" Type="http://schemas.openxmlformats.org/officeDocument/2006/relationships/slide" Target="slides/slide132.xml"/><Relationship Id="rId146" Type="http://schemas.openxmlformats.org/officeDocument/2006/relationships/slide" Target="slides/slide133.xml"/><Relationship Id="rId147" Type="http://schemas.openxmlformats.org/officeDocument/2006/relationships/slide" Target="slides/slide134.xml"/><Relationship Id="rId148" Type="http://schemas.openxmlformats.org/officeDocument/2006/relationships/slide" Target="slides/slide135.xml"/><Relationship Id="rId149" Type="http://schemas.openxmlformats.org/officeDocument/2006/relationships/slide" Target="slides/slide136.xml"/><Relationship Id="rId150" Type="http://schemas.openxmlformats.org/officeDocument/2006/relationships/slide" Target="slides/slide137.xml"/><Relationship Id="rId151" Type="http://schemas.openxmlformats.org/officeDocument/2006/relationships/slide" Target="slides/slide138.xml"/><Relationship Id="rId156" Type="http://schemas.openxmlformats.org/officeDocument/2006/relationships/slide" Target="slides/slide139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_rels/chart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4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Indicative task time</c:v>
                </c:pt>
              </c:strCache>
            </c:strRef>
          </c:tx>
          <c:dPt>
            <c:idx val="0"/>
            <c:spPr>
              <a:solidFill>
                <a:srgbClr val="1F6FEB"/>
              </a:solidFill>
              <a:ln>
                <a:noFill/>
              </a:ln>
            </c:spPr>
          </c:dPt>
          <c:dPt>
            <c:idx val="1"/>
            <c:spPr>
              <a:solidFill>
                <a:srgbClr val="724CD6"/>
              </a:solidFill>
              <a:ln>
                <a:noFill/>
              </a:ln>
            </c:spPr>
          </c:dPt>
          <c:dPt>
            <c:idx val="2"/>
            <c:spPr>
              <a:solidFill>
                <a:srgbClr val="10988A"/>
              </a:solidFill>
              <a:ln>
                <a:noFill/>
              </a:ln>
            </c:spPr>
          </c:dPt>
          <c:dPt>
            <c:idx val="3"/>
            <c:spPr>
              <a:solidFill>
                <a:srgbClr val="16845B"/>
              </a:solidFill>
              <a:ln>
                <a:noFill/>
              </a:ln>
            </c:spPr>
          </c:dPt>
          <c:cat>
            <c:strRef>
              <c:f>Sheet1!$A$2:$A$5</c:f>
              <c:strCache>
                <c:ptCount val="4"/>
                <c:pt idx="0">
                  <c:v>3 choices</c:v>
                </c:pt>
                <c:pt idx="1">
                  <c:v>5 choices</c:v>
                </c:pt>
                <c:pt idx="2">
                  <c:v>9 choices</c:v>
                </c:pt>
                <c:pt idx="3">
                  <c:v>15 choices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18</c:v>
                </c:pt>
                <c:pt idx="1">
                  <c:v>23</c:v>
                </c:pt>
                <c:pt idx="2">
                  <c:v>37</c:v>
                </c:pt>
                <c:pt idx="3">
                  <c:v>58</c:v>
                </c:pt>
              </c:numCache>
            </c:numRef>
          </c:val>
        </c:ser>
        <c:dLbls>
          <c:txPr>
            <a:bodyPr/>
            <a:lstStyle/>
            <a:p>
              <a:pPr>
                <a:defRPr sz="1100">
                  <a:latin typeface="Arial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100">
                <a:latin typeface="Arial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>
          <c:spPr>
            <a:ln>
              <a:solidFill>
                <a:srgbClr val="D7E0EA"/>
              </a:solidFill>
            </a:ln>
          </c:spPr>
        </c:majorGridlines>
        <c:majorTickMark val="out"/>
        <c:minorTickMark val="none"/>
        <c:tickLblPos val="nextTo"/>
        <c:txPr>
          <a:bodyPr/>
          <a:lstStyle/>
          <a:p>
            <a:pPr>
              <a:defRPr sz="1000">
                <a:latin typeface="Arial"/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Relative time</c:v>
                </c:pt>
              </c:strCache>
            </c:strRef>
          </c:tx>
          <c:dPt>
            <c:idx val="0"/>
            <c:spPr>
              <a:solidFill>
                <a:srgbClr val="1F6FEB"/>
              </a:solidFill>
              <a:ln>
                <a:noFill/>
              </a:ln>
            </c:spPr>
          </c:dPt>
          <c:dPt>
            <c:idx val="1"/>
            <c:spPr>
              <a:solidFill>
                <a:srgbClr val="724CD6"/>
              </a:solidFill>
              <a:ln>
                <a:noFill/>
              </a:ln>
            </c:spPr>
          </c:dPt>
          <c:cat>
            <c:strRef>
              <c:f>Sheet1!$A$2:$A$3</c:f>
              <c:strCache>
                <c:ptCount val="2"/>
                <c:pt idx="0">
                  <c:v>Without system</c:v>
                </c:pt>
                <c:pt idx="1">
                  <c:v>With system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100</c:v>
                </c:pt>
                <c:pt idx="1">
                  <c:v>66</c:v>
                </c:pt>
              </c:numCache>
            </c:numRef>
          </c:val>
        </c:ser>
        <c:dLbls>
          <c:txPr>
            <a:bodyPr/>
            <a:lstStyle/>
            <a:p>
              <a:pPr>
                <a:defRPr sz="1100">
                  <a:latin typeface="Arial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100">
                <a:latin typeface="Arial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>
          <c:spPr>
            <a:ln>
              <a:solidFill>
                <a:srgbClr val="D7E0EA"/>
              </a:solidFill>
            </a:ln>
          </c:spPr>
        </c:majorGridlines>
        <c:majorTickMark val="out"/>
        <c:minorTickMark val="none"/>
        <c:tickLblPos val="nextTo"/>
        <c:txPr>
          <a:bodyPr/>
          <a:lstStyle/>
          <a:p>
            <a:pPr>
              <a:defRPr sz="1000">
                <a:latin typeface="Arial"/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Indicative fix effort</c:v>
                </c:pt>
              </c:strCache>
            </c:strRef>
          </c:tx>
          <c:dPt>
            <c:idx val="0"/>
            <c:spPr>
              <a:solidFill>
                <a:srgbClr val="1F6FEB"/>
              </a:solidFill>
              <a:ln>
                <a:noFill/>
              </a:ln>
            </c:spPr>
          </c:dPt>
          <c:dPt>
            <c:idx val="1"/>
            <c:spPr>
              <a:solidFill>
                <a:srgbClr val="724CD6"/>
              </a:solidFill>
              <a:ln>
                <a:noFill/>
              </a:ln>
            </c:spPr>
          </c:dPt>
          <c:dPt>
            <c:idx val="2"/>
            <c:spPr>
              <a:solidFill>
                <a:srgbClr val="10988A"/>
              </a:solidFill>
              <a:ln>
                <a:noFill/>
              </a:ln>
            </c:spPr>
          </c:dPt>
          <c:cat>
            <c:strRef>
              <c:f>Sheet1!$A$2:$A$4</c:f>
              <c:strCache>
                <c:ptCount val="3"/>
                <c:pt idx="0">
                  <c:v>Wireframe</c:v>
                </c:pt>
                <c:pt idx="1">
                  <c:v>Interactive prototype</c:v>
                </c:pt>
                <c:pt idx="2">
                  <c:v>After build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</c:v>
                </c:pt>
                <c:pt idx="1">
                  <c:v>3</c:v>
                </c:pt>
                <c:pt idx="2">
                  <c:v>9</c:v>
                </c:pt>
              </c:numCache>
            </c:numRef>
          </c:val>
        </c:ser>
        <c:dLbls>
          <c:txPr>
            <a:bodyPr/>
            <a:lstStyle/>
            <a:p>
              <a:pPr>
                <a:defRPr sz="1100">
                  <a:latin typeface="Arial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100">
                <a:latin typeface="Arial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>
          <c:spPr>
            <a:ln>
              <a:solidFill>
                <a:srgbClr val="D7E0EA"/>
              </a:solidFill>
            </a:ln>
          </c:spPr>
        </c:majorGridlines>
        <c:majorTickMark val="out"/>
        <c:minorTickMark val="none"/>
        <c:tickLblPos val="nextTo"/>
        <c:txPr>
          <a:bodyPr/>
          <a:lstStyle/>
          <a:p>
            <a:pPr>
              <a:defRPr sz="1000">
                <a:latin typeface="Arial"/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Context completeness</c:v>
                </c:pt>
              </c:strCache>
            </c:strRef>
          </c:tx>
          <c:dPt>
            <c:idx val="0"/>
            <c:spPr>
              <a:solidFill>
                <a:srgbClr val="1F6FEB"/>
              </a:solidFill>
              <a:ln>
                <a:noFill/>
              </a:ln>
            </c:spPr>
          </c:dPt>
          <c:dPt>
            <c:idx val="1"/>
            <c:spPr>
              <a:solidFill>
                <a:srgbClr val="724CD6"/>
              </a:solidFill>
              <a:ln>
                <a:noFill/>
              </a:ln>
            </c:spPr>
          </c:dPt>
          <c:dPt>
            <c:idx val="2"/>
            <c:spPr>
              <a:solidFill>
                <a:srgbClr val="10988A"/>
              </a:solidFill>
              <a:ln>
                <a:noFill/>
              </a:ln>
            </c:spPr>
          </c:dPt>
          <c:cat>
            <c:strRef>
              <c:f>Sheet1!$A$2:$A$4</c:f>
              <c:strCache>
                <c:ptCount val="3"/>
                <c:pt idx="0">
                  <c:v>Screenshot</c:v>
                </c:pt>
                <c:pt idx="1">
                  <c:v>Prototype</c:v>
                </c:pt>
                <c:pt idx="2">
                  <c:v>System + states + criteria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28</c:v>
                </c:pt>
                <c:pt idx="1">
                  <c:v>62</c:v>
                </c:pt>
                <c:pt idx="2">
                  <c:v>94</c:v>
                </c:pt>
              </c:numCache>
            </c:numRef>
          </c:val>
        </c:ser>
        <c:dLbls>
          <c:txPr>
            <a:bodyPr/>
            <a:lstStyle/>
            <a:p>
              <a:pPr>
                <a:defRPr sz="1100">
                  <a:latin typeface="Arial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100">
                <a:latin typeface="Arial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>
          <c:spPr>
            <a:ln>
              <a:solidFill>
                <a:srgbClr val="D7E0EA"/>
              </a:solidFill>
            </a:ln>
          </c:spPr>
        </c:majorGridlines>
        <c:majorTickMark val="out"/>
        <c:minorTickMark val="none"/>
        <c:tickLblPos val="nextTo"/>
        <c:txPr>
          <a:bodyPr/>
          <a:lstStyle/>
          <a:p>
            <a:pPr>
              <a:defRPr sz="1000">
                <a:latin typeface="Arial"/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2.xml"/></Relationships>
</file>

<file path=ppt/slides/_rels/slide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3.xml"/></Relationships>
</file>

<file path=ppt/slides/_rels/slide1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4.xml"/></Relationships>
</file>

<file path=ppt/slides/_rels/slide1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www.figma.com/resource-library/ui-design-principles/" TargetMode="External"/><Relationship Id="rId3" Type="http://schemas.openxmlformats.org/officeDocument/2006/relationships/hyperlink" Target="https://learn.microsoft.com/en-us/dynamics365/guidance/develop/ui-ux-design-principles" TargetMode="External"/><Relationship Id="rId4" Type="http://schemas.openxmlformats.org/officeDocument/2006/relationships/hyperlink" Target="https://www.uxpin.com/studio/blog/ui-design-principles/" TargetMode="External"/><Relationship Id="rId5" Type="http://schemas.openxmlformats.org/officeDocument/2006/relationships/hyperlink" Target="https://contentsquare.com/guides/ui-design/principles/" TargetMode="External"/><Relationship Id="rId6" Type="http://schemas.openxmlformats.org/officeDocument/2006/relationships/hyperlink" Target="https://mockflow.com/resources/ui-design-principles" TargetMode="External"/><Relationship Id="rId7" Type="http://schemas.openxmlformats.org/officeDocument/2006/relationships/hyperlink" Target="https://mockflow.com/blog/ui-design-principles" TargetMode="External"/><Relationship Id="rId8" Type="http://schemas.openxmlformats.org/officeDocument/2006/relationships/hyperlink" Target="https://www.weweb.io/blog/ui-design-principles" TargetMode="External"/><Relationship Id="rId9" Type="http://schemas.openxmlformats.org/officeDocument/2006/relationships/hyperlink" Target="https://www.visily.ai/blog/visual-design-principles" TargetMode="External"/></Relationships>
</file>

<file path=ppt/slides/_rels/slide1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dribbble.com/resources/education/ui-design-principles" TargetMode="External"/><Relationship Id="rId3" Type="http://schemas.openxmlformats.org/officeDocument/2006/relationships/hyperlink" Target="https://maze.co/collections/ux-ui-design/ui-design-principles/" TargetMode="External"/><Relationship Id="rId4" Type="http://schemas.openxmlformats.org/officeDocument/2006/relationships/hyperlink" Target="https://www.geeksforgeeks.org/techtips/principles-of-ui-ux-design/" TargetMode="External"/><Relationship Id="rId5" Type="http://schemas.openxmlformats.org/officeDocument/2006/relationships/hyperlink" Target="https://duck.design/key-ui-design-principles/" TargetMode="External"/><Relationship Id="rId6" Type="http://schemas.openxmlformats.org/officeDocument/2006/relationships/hyperlink" Target="https://www.anthropic.com/news/claude-design-anthropic-labs" TargetMode="External"/><Relationship Id="rId7" Type="http://schemas.openxmlformats.org/officeDocument/2006/relationships/hyperlink" Target="https://support.claude.com/en/articles/14604416-get-started-with-claude-design" TargetMode="External"/><Relationship Id="rId8" Type="http://schemas.openxmlformats.org/officeDocument/2006/relationships/hyperlink" Target="https://www.developersdigest.tech/blog/claude-design-developer-guide" TargetMode="External"/><Relationship Id="rId9" Type="http://schemas.openxmlformats.org/officeDocument/2006/relationships/hyperlink" Target="https://github.com/Dammyjay93/interface-design" TargetMode="External"/></Relationships>
</file>

<file path=ppt/slides/_rels/slide1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www.tertiarycourses.com.sg/casl-ui-design-with-ai.html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hero-ai-ui-design.png"/>
          <p:cNvPicPr>
            <a:picLocks noChangeAspect="1"/>
          </p:cNvPicPr>
          <p:nvPr/>
        </p:nvPicPr>
        <p:blipFill>
          <a:blip r:embed="rId2"/>
          <a:srcRect l="24561" r="24561"/>
          <a:stretch>
            <a:fillRect/>
          </a:stretch>
        </p:blipFill>
        <p:spPr>
          <a:xfrm>
            <a:off x="5989320" y="0"/>
            <a:ext cx="6199632" cy="685800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5650992" y="0"/>
            <a:ext cx="82296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724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tertiary-infotech-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502920"/>
            <a:ext cx="658368" cy="658368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85800" y="1417320"/>
            <a:ext cx="5120640" cy="3200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724CD6"/>
                </a:solidFill>
                <a:latin typeface="Arial"/>
              </a:rPr>
              <a:t>NON-WSQ COURSE SLIDES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1874519"/>
            <a:ext cx="5120640" cy="1325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3900" b="1" i="0">
                <a:solidFill>
                  <a:srgbClr val="161B26"/>
                </a:solidFill>
                <a:latin typeface="Arial"/>
              </a:rPr>
              <a:t>Claude Design for UX/UI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04088" y="3401568"/>
            <a:ext cx="4892040" cy="7772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0" i="0">
                <a:solidFill>
                  <a:srgbClr val="5B6372"/>
                </a:solidFill>
                <a:latin typeface="Arial"/>
              </a:rPr>
              <a:t>Design clear, accessible and testable interfaces with Claude Design</a:t>
            </a:r>
          </a:p>
        </p:txBody>
      </p:sp>
      <p:sp>
        <p:nvSpPr>
          <p:cNvPr id="10" name="Rectangle 9"/>
          <p:cNvSpPr/>
          <p:nvPr/>
        </p:nvSpPr>
        <p:spPr>
          <a:xfrm>
            <a:off x="694944" y="4443984"/>
            <a:ext cx="1554480" cy="54864"/>
          </a:xfrm>
          <a:prstGeom prst="rect">
            <a:avLst/>
          </a:prstGeom>
          <a:solidFill>
            <a:srgbClr val="1098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4718304"/>
            <a:ext cx="5074920" cy="7772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5B6372"/>
                </a:solidFill>
                <a:latin typeface="Arial"/>
              </a:rPr>
              <a:t>Course Code: C744</a:t>
            </a:r>
          </a:p>
          <a:p>
            <a:r>
              <a:rPr sz="1300" b="0">
                <a:latin typeface="Arial"/>
              </a:rPr>
              <a:t/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5715000"/>
            <a:ext cx="5074920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 i="0">
                <a:solidFill>
                  <a:srgbClr val="5B6372"/>
                </a:solidFill>
                <a:latin typeface="Arial"/>
              </a:rPr>
              <a:t>Version v2.0 · 23 August 2026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" y="6126480"/>
            <a:ext cx="5074920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0" i="0">
                <a:solidFill>
                  <a:srgbClr val="5B6372"/>
                </a:solidFill>
                <a:latin typeface="Arial"/>
              </a:rPr>
              <a:t>Tertiary Infotech Academy Pte Ltd · UEN 201200696W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5B63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5B6372"/>
                </a:solidFill>
                <a:latin typeface="Arial"/>
              </a:rPr>
              <a:t>COURSE ADMINISTRATION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21792"/>
            <a:ext cx="10835640" cy="6583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 i="0">
                <a:solidFill>
                  <a:srgbClr val="161B26"/>
                </a:solidFill>
                <a:latin typeface="Arial"/>
              </a:rPr>
              <a:t>About the Trainer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6419088"/>
            <a:ext cx="4663440" cy="2194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 i="0">
                <a:solidFill>
                  <a:srgbClr val="5B6372"/>
                </a:solidFill>
                <a:latin typeface="Arial"/>
              </a:rPr>
              <a:t>Claude Design for UX/UI · C744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89120" y="6419088"/>
            <a:ext cx="3657600" cy="2194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0" i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44200" y="6419088"/>
            <a:ext cx="731520" cy="2194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 i="0">
                <a:solidFill>
                  <a:srgbClr val="5B6372"/>
                </a:solidFill>
                <a:latin typeface="Arial"/>
              </a:rPr>
              <a:t>2</a:t>
            </a:r>
          </a:p>
        </p:txBody>
      </p:sp>
      <p:sp>
        <p:nvSpPr>
          <p:cNvPr id="10" name="Rectangle 9"/>
          <p:cNvSpPr/>
          <p:nvPr/>
        </p:nvSpPr>
        <p:spPr>
          <a:xfrm>
            <a:off x="658368" y="1719072"/>
            <a:ext cx="3383280" cy="437083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58368" y="1719072"/>
            <a:ext cx="91440" cy="4370832"/>
          </a:xfrm>
          <a:prstGeom prst="rect">
            <a:avLst/>
          </a:prstGeom>
          <a:solidFill>
            <a:srgbClr val="5B63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673352" y="2139696"/>
            <a:ext cx="1371600" cy="1371600"/>
          </a:xfrm>
          <a:prstGeom prst="ellipse">
            <a:avLst/>
          </a:prstGeom>
          <a:solidFill>
            <a:srgbClr val="5B63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673352" y="2139696"/>
            <a:ext cx="1371600" cy="137160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3800" b="1" i="0">
                <a:solidFill>
                  <a:srgbClr val="FFFFFF"/>
                </a:solidFill>
                <a:latin typeface="Arial"/>
              </a:rPr>
              <a:t>?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60120" y="3822191"/>
            <a:ext cx="2770632" cy="4114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900" b="1" i="0">
                <a:solidFill>
                  <a:srgbClr val="161B26"/>
                </a:solidFill>
                <a:latin typeface="Arial"/>
              </a:rPr>
              <a:t>General Trainer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0120" y="4315968"/>
            <a:ext cx="2770632" cy="6400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0" i="0">
                <a:solidFill>
                  <a:srgbClr val="5B6372"/>
                </a:solidFill>
                <a:latin typeface="Arial"/>
              </a:rPr>
              <a:t>Complete this template before class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343400" y="1719072"/>
            <a:ext cx="7150608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343400" y="1719072"/>
            <a:ext cx="82296" cy="59436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645152" y="1801368"/>
            <a:ext cx="169164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1" i="0">
                <a:solidFill>
                  <a:srgbClr val="1F6FEB"/>
                </a:solidFill>
                <a:latin typeface="Arial"/>
              </a:rPr>
              <a:t>NAME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55080" y="1801368"/>
            <a:ext cx="4709160" cy="32918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 i="0">
                <a:solidFill>
                  <a:srgbClr val="949DA9"/>
                </a:solidFill>
                <a:latin typeface="Arial"/>
              </a:rPr>
              <a:t>________________________________________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343400" y="2450591"/>
            <a:ext cx="7150608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4343400" y="2450591"/>
            <a:ext cx="82296" cy="594360"/>
          </a:xfrm>
          <a:prstGeom prst="rect">
            <a:avLst/>
          </a:prstGeom>
          <a:solidFill>
            <a:srgbClr val="724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645152" y="2532887"/>
            <a:ext cx="169164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1" i="0">
                <a:solidFill>
                  <a:srgbClr val="724CD6"/>
                </a:solidFill>
                <a:latin typeface="Arial"/>
              </a:rPr>
              <a:t>TITLE / DESIGNATION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55080" y="2532887"/>
            <a:ext cx="4709160" cy="32918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 i="0">
                <a:solidFill>
                  <a:srgbClr val="949DA9"/>
                </a:solidFill>
                <a:latin typeface="Arial"/>
              </a:rPr>
              <a:t>________________________________________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343400" y="3182111"/>
            <a:ext cx="7150608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4343400" y="3182111"/>
            <a:ext cx="82296" cy="594360"/>
          </a:xfrm>
          <a:prstGeom prst="rect">
            <a:avLst/>
          </a:prstGeom>
          <a:solidFill>
            <a:srgbClr val="1098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645152" y="3264407"/>
            <a:ext cx="169164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1" i="0">
                <a:solidFill>
                  <a:srgbClr val="10988A"/>
                </a:solidFill>
                <a:latin typeface="Arial"/>
              </a:rPr>
              <a:t>QUALIFICATIONS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355080" y="3264407"/>
            <a:ext cx="4709160" cy="32918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 i="0">
                <a:solidFill>
                  <a:srgbClr val="949DA9"/>
                </a:solidFill>
                <a:latin typeface="Arial"/>
              </a:rPr>
              <a:t>________________________________________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343400" y="3913631"/>
            <a:ext cx="7150608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4343400" y="3913631"/>
            <a:ext cx="82296" cy="594360"/>
          </a:xfrm>
          <a:prstGeom prst="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645152" y="3995927"/>
            <a:ext cx="169164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1" i="0">
                <a:solidFill>
                  <a:srgbClr val="16845B"/>
                </a:solidFill>
                <a:latin typeface="Arial"/>
              </a:rPr>
              <a:t>AREAS OF EXPERTISE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355080" y="3995927"/>
            <a:ext cx="4709160" cy="32918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 i="0">
                <a:solidFill>
                  <a:srgbClr val="949DA9"/>
                </a:solidFill>
                <a:latin typeface="Arial"/>
              </a:rPr>
              <a:t>________________________________________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343400" y="4645151"/>
            <a:ext cx="7150608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4343400" y="4645151"/>
            <a:ext cx="82296" cy="594360"/>
          </a:xfrm>
          <a:prstGeom prst="rect">
            <a:avLst/>
          </a:prstGeom>
          <a:solidFill>
            <a:srgbClr val="C77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645152" y="4727447"/>
            <a:ext cx="169164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1" i="0">
                <a:solidFill>
                  <a:srgbClr val="C77600"/>
                </a:solidFill>
                <a:latin typeface="Arial"/>
              </a:rPr>
              <a:t>TRAINING EXPERIENCE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355080" y="4727447"/>
            <a:ext cx="4709160" cy="32918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 i="0">
                <a:solidFill>
                  <a:srgbClr val="949DA9"/>
                </a:solidFill>
                <a:latin typeface="Arial"/>
              </a:rPr>
              <a:t>________________________________________</a:t>
            </a:r>
          </a:p>
        </p:txBody>
      </p:sp>
      <p:sp>
        <p:nvSpPr>
          <p:cNvPr id="36" name="Rectangle 35"/>
          <p:cNvSpPr/>
          <p:nvPr/>
        </p:nvSpPr>
        <p:spPr>
          <a:xfrm>
            <a:off x="4343400" y="5376671"/>
            <a:ext cx="7150608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4343400" y="5376671"/>
            <a:ext cx="82296" cy="594360"/>
          </a:xfrm>
          <a:prstGeom prst="rect">
            <a:avLst/>
          </a:prstGeom>
          <a:solidFill>
            <a:srgbClr val="F06F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645152" y="5458967"/>
            <a:ext cx="169164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1" i="0">
                <a:solidFill>
                  <a:srgbClr val="F06F61"/>
                </a:solidFill>
                <a:latin typeface="Arial"/>
              </a:rPr>
              <a:t>CONTACT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355080" y="5458967"/>
            <a:ext cx="4709160" cy="32918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 i="0">
                <a:solidFill>
                  <a:srgbClr val="949DA9"/>
                </a:solidFill>
                <a:latin typeface="Arial"/>
              </a:rPr>
              <a:t>________________________________________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724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724CD6"/>
                </a:solidFill>
                <a:latin typeface="Arial"/>
              </a:rPr>
              <a:t>COURSE ADMINISTRATION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21792"/>
            <a:ext cx="10835640" cy="6583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 i="0">
                <a:solidFill>
                  <a:srgbClr val="161B26"/>
                </a:solidFill>
                <a:latin typeface="Arial"/>
              </a:rPr>
              <a:t>About the Trainer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6419088"/>
            <a:ext cx="4663440" cy="2194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 i="0">
                <a:solidFill>
                  <a:srgbClr val="5B6372"/>
                </a:solidFill>
                <a:latin typeface="Arial"/>
              </a:rPr>
              <a:t>Claude Design for UX/UI · C744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89120" y="6419088"/>
            <a:ext cx="3657600" cy="2194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0" i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44200" y="6419088"/>
            <a:ext cx="731520" cy="2194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 i="0">
                <a:solidFill>
                  <a:srgbClr val="5B6372"/>
                </a:solidFill>
                <a:latin typeface="Arial"/>
              </a:rPr>
              <a:t>3</a:t>
            </a:r>
          </a:p>
        </p:txBody>
      </p:sp>
      <p:sp>
        <p:nvSpPr>
          <p:cNvPr id="10" name="Rectangle 9"/>
          <p:cNvSpPr/>
          <p:nvPr/>
        </p:nvSpPr>
        <p:spPr>
          <a:xfrm>
            <a:off x="658368" y="1719072"/>
            <a:ext cx="3383280" cy="437083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58368" y="1719072"/>
            <a:ext cx="91440" cy="4370832"/>
          </a:xfrm>
          <a:prstGeom prst="rect">
            <a:avLst/>
          </a:prstGeom>
          <a:solidFill>
            <a:srgbClr val="724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673352" y="2139696"/>
            <a:ext cx="1371600" cy="1371600"/>
          </a:xfrm>
          <a:prstGeom prst="ellipse">
            <a:avLst/>
          </a:prstGeom>
          <a:solidFill>
            <a:srgbClr val="724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673352" y="2139696"/>
            <a:ext cx="1371600" cy="137160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3800" b="1" i="0">
                <a:solidFill>
                  <a:srgbClr val="FFFFFF"/>
                </a:solidFill>
                <a:latin typeface="Arial"/>
              </a:rPr>
              <a:t>AA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60120" y="3822191"/>
            <a:ext cx="2770632" cy="4114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900" b="1" i="0">
                <a:solidFill>
                  <a:srgbClr val="161B26"/>
                </a:solidFill>
                <a:latin typeface="Arial"/>
              </a:rPr>
              <a:t>Dr Alfred Ang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0120" y="4315968"/>
            <a:ext cx="2770632" cy="6400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0" i="0">
                <a:solidFill>
                  <a:srgbClr val="5B6372"/>
                </a:solidFill>
                <a:latin typeface="Arial"/>
              </a:rPr>
              <a:t>Principal Trainer · Tertiary Infotech Academy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343400" y="1719072"/>
            <a:ext cx="7150608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343400" y="1719072"/>
            <a:ext cx="82296" cy="59436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645152" y="1801368"/>
            <a:ext cx="169164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1" i="0">
                <a:solidFill>
                  <a:srgbClr val="1F6FEB"/>
                </a:solidFill>
                <a:latin typeface="Arial"/>
              </a:rPr>
              <a:t>ROLE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55080" y="1801368"/>
            <a:ext cx="4709160" cy="32918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 i="0">
                <a:solidFill>
                  <a:srgbClr val="161B26"/>
                </a:solidFill>
                <a:latin typeface="Arial"/>
              </a:rPr>
              <a:t>Principal Trainer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343400" y="2450591"/>
            <a:ext cx="7150608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4343400" y="2450591"/>
            <a:ext cx="82296" cy="594360"/>
          </a:xfrm>
          <a:prstGeom prst="rect">
            <a:avLst/>
          </a:prstGeom>
          <a:solidFill>
            <a:srgbClr val="724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645152" y="2532887"/>
            <a:ext cx="169164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1" i="0">
                <a:solidFill>
                  <a:srgbClr val="724CD6"/>
                </a:solidFill>
                <a:latin typeface="Arial"/>
              </a:rPr>
              <a:t>CERTIFICATION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55080" y="2532887"/>
            <a:ext cx="4709160" cy="32918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 i="0">
                <a:solidFill>
                  <a:srgbClr val="161B26"/>
                </a:solidFill>
                <a:latin typeface="Arial"/>
              </a:rPr>
              <a:t>Digital design, AI and technology education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343400" y="3182111"/>
            <a:ext cx="7150608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4343400" y="3182111"/>
            <a:ext cx="82296" cy="594360"/>
          </a:xfrm>
          <a:prstGeom prst="rect">
            <a:avLst/>
          </a:prstGeom>
          <a:solidFill>
            <a:srgbClr val="1098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645152" y="3264407"/>
            <a:ext cx="169164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1" i="0">
                <a:solidFill>
                  <a:srgbClr val="10988A"/>
                </a:solidFill>
                <a:latin typeface="Arial"/>
              </a:rPr>
              <a:t>DELIVERS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355080" y="3264407"/>
            <a:ext cx="4709160" cy="32918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 i="0">
                <a:solidFill>
                  <a:srgbClr val="161B26"/>
                </a:solidFill>
                <a:latin typeface="Arial"/>
              </a:rPr>
              <a:t>UI/UX and AI courses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343400" y="3913631"/>
            <a:ext cx="7150608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4343400" y="3913631"/>
            <a:ext cx="82296" cy="594360"/>
          </a:xfrm>
          <a:prstGeom prst="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645152" y="3995927"/>
            <a:ext cx="169164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1" i="0">
                <a:solidFill>
                  <a:srgbClr val="16845B"/>
                </a:solidFill>
                <a:latin typeface="Arial"/>
              </a:rPr>
              <a:t>FOUNDER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355080" y="3995927"/>
            <a:ext cx="4709160" cy="32918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 i="0">
                <a:solidFill>
                  <a:srgbClr val="161B26"/>
                </a:solidFill>
                <a:latin typeface="Arial"/>
              </a:rPr>
              <a:t>Tertiary Infotech / Tertiary Courses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343400" y="4645151"/>
            <a:ext cx="7150608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4343400" y="4645151"/>
            <a:ext cx="82296" cy="594360"/>
          </a:xfrm>
          <a:prstGeom prst="rect">
            <a:avLst/>
          </a:prstGeom>
          <a:solidFill>
            <a:srgbClr val="C77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645152" y="4727447"/>
            <a:ext cx="169164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1" i="0">
                <a:solidFill>
                  <a:srgbClr val="C77600"/>
                </a:solidFill>
                <a:latin typeface="Arial"/>
              </a:rPr>
              <a:t>INDUSTRY FOCUS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355080" y="4727447"/>
            <a:ext cx="4709160" cy="32918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 i="0">
                <a:solidFill>
                  <a:srgbClr val="161B26"/>
                </a:solidFill>
                <a:latin typeface="Arial"/>
              </a:rPr>
              <a:t>Applied AI, software and digital learning</a:t>
            </a:r>
          </a:p>
        </p:txBody>
      </p:sp>
      <p:sp>
        <p:nvSpPr>
          <p:cNvPr id="36" name="Rectangle 35"/>
          <p:cNvSpPr/>
          <p:nvPr/>
        </p:nvSpPr>
        <p:spPr>
          <a:xfrm>
            <a:off x="4343400" y="5376671"/>
            <a:ext cx="7150608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4343400" y="5376671"/>
            <a:ext cx="82296" cy="594360"/>
          </a:xfrm>
          <a:prstGeom prst="rect">
            <a:avLst/>
          </a:prstGeom>
          <a:solidFill>
            <a:srgbClr val="F06F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645152" y="5458967"/>
            <a:ext cx="169164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1" i="0">
                <a:solidFill>
                  <a:srgbClr val="F06F61"/>
                </a:solidFill>
                <a:latin typeface="Arial"/>
              </a:rPr>
              <a:t>CONTACT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355080" y="5458967"/>
            <a:ext cx="4709160" cy="32918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 i="0">
                <a:solidFill>
                  <a:srgbClr val="161B26"/>
                </a:solidFill>
                <a:latin typeface="Arial"/>
              </a:rPr>
              <a:t>tertiarycourses.com.sg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724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724CD6"/>
                </a:solidFill>
                <a:latin typeface="Arial"/>
              </a:rPr>
              <a:t>COURSE ADMINISTRATION · LEARNER INTRODUCTION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21792"/>
            <a:ext cx="10835640" cy="6583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 i="0">
                <a:solidFill>
                  <a:srgbClr val="161B26"/>
                </a:solidFill>
                <a:latin typeface="Arial"/>
              </a:rPr>
              <a:t>Let's know each other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6419088"/>
            <a:ext cx="4663440" cy="2194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 i="0">
                <a:solidFill>
                  <a:srgbClr val="5B6372"/>
                </a:solidFill>
                <a:latin typeface="Arial"/>
              </a:rPr>
              <a:t>Claude Design for UX/UI · C744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89120" y="6419088"/>
            <a:ext cx="3657600" cy="2194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0" i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44200" y="6419088"/>
            <a:ext cx="731520" cy="2194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 i="0">
                <a:solidFill>
                  <a:srgbClr val="5B6372"/>
                </a:solidFill>
                <a:latin typeface="Arial"/>
              </a:rPr>
              <a:t>4</a:t>
            </a:r>
          </a:p>
        </p:txBody>
      </p:sp>
      <p:sp>
        <p:nvSpPr>
          <p:cNvPr id="10" name="Rectangle 9"/>
          <p:cNvSpPr/>
          <p:nvPr/>
        </p:nvSpPr>
        <p:spPr>
          <a:xfrm>
            <a:off x="658368" y="1691640"/>
            <a:ext cx="2487168" cy="233172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58368" y="1691640"/>
            <a:ext cx="82296" cy="23317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877824" y="1874520"/>
            <a:ext cx="420624" cy="420624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77824" y="1874520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08176" y="1819656"/>
            <a:ext cx="1508760" cy="43891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320" b="1" i="0">
                <a:solidFill>
                  <a:srgbClr val="161B26"/>
                </a:solidFill>
                <a:latin typeface="Arial"/>
              </a:rPr>
              <a:t>Name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2386584"/>
            <a:ext cx="1965960" cy="133502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070" b="0" i="0">
                <a:solidFill>
                  <a:srgbClr val="5B6372"/>
                </a:solidFill>
                <a:latin typeface="Arial"/>
              </a:rPr>
              <a:t>Your name, organisation and current role.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14400" y="3703320"/>
            <a:ext cx="1078992" cy="25603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4400" y="3703320"/>
            <a:ext cx="1078992" cy="25603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1" i="0">
                <a:solidFill>
                  <a:srgbClr val="FFFFFF"/>
                </a:solidFill>
                <a:latin typeface="Arial"/>
              </a:rPr>
              <a:t>DESIGN LENS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401568" y="1691640"/>
            <a:ext cx="2487168" cy="233172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3401568" y="1691640"/>
            <a:ext cx="82296" cy="2331720"/>
          </a:xfrm>
          <a:prstGeom prst="rect">
            <a:avLst/>
          </a:prstGeom>
          <a:solidFill>
            <a:srgbClr val="724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3621024" y="1874520"/>
            <a:ext cx="420624" cy="420624"/>
          </a:xfrm>
          <a:prstGeom prst="ellipse">
            <a:avLst/>
          </a:prstGeom>
          <a:solidFill>
            <a:srgbClr val="724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621024" y="1874520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151376" y="1819656"/>
            <a:ext cx="1508760" cy="43891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320" b="1" i="0">
                <a:solidFill>
                  <a:srgbClr val="161B26"/>
                </a:solidFill>
                <a:latin typeface="Arial"/>
              </a:rPr>
              <a:t>Experience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657600" y="2386584"/>
            <a:ext cx="1965960" cy="133502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070" b="0" i="0">
                <a:solidFill>
                  <a:srgbClr val="5B6372"/>
                </a:solidFill>
                <a:latin typeface="Arial"/>
              </a:rPr>
              <a:t>Tools or design work you have already tried.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657600" y="3703320"/>
            <a:ext cx="1078992" cy="256032"/>
          </a:xfrm>
          <a:prstGeom prst="rect">
            <a:avLst/>
          </a:prstGeom>
          <a:solidFill>
            <a:srgbClr val="724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657600" y="3703320"/>
            <a:ext cx="1078992" cy="25603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1" i="0">
                <a:solidFill>
                  <a:srgbClr val="FFFFFF"/>
                </a:solidFill>
                <a:latin typeface="Arial"/>
              </a:rPr>
              <a:t>DESIGN LENS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144768" y="1691640"/>
            <a:ext cx="2487168" cy="233172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144768" y="1691640"/>
            <a:ext cx="82296" cy="2331720"/>
          </a:xfrm>
          <a:prstGeom prst="rect">
            <a:avLst/>
          </a:prstGeom>
          <a:solidFill>
            <a:srgbClr val="1098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6364224" y="1874520"/>
            <a:ext cx="420624" cy="420624"/>
          </a:xfrm>
          <a:prstGeom prst="ellipse">
            <a:avLst/>
          </a:prstGeom>
          <a:solidFill>
            <a:srgbClr val="1098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364224" y="1874520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894576" y="1819656"/>
            <a:ext cx="1508760" cy="43891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320" b="1" i="0">
                <a:solidFill>
                  <a:srgbClr val="161B26"/>
                </a:solidFill>
                <a:latin typeface="Arial"/>
              </a:rPr>
              <a:t>Product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00800" y="2386584"/>
            <a:ext cx="1965960" cy="133502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070" b="0" i="0">
                <a:solidFill>
                  <a:srgbClr val="5B6372"/>
                </a:solidFill>
                <a:latin typeface="Arial"/>
              </a:rPr>
              <a:t>An interface you use often and why it works.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400800" y="3703320"/>
            <a:ext cx="1078992" cy="256032"/>
          </a:xfrm>
          <a:prstGeom prst="rect">
            <a:avLst/>
          </a:prstGeom>
          <a:solidFill>
            <a:srgbClr val="1098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400800" y="3703320"/>
            <a:ext cx="1078992" cy="25603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1" i="0">
                <a:solidFill>
                  <a:srgbClr val="FFFFFF"/>
                </a:solidFill>
                <a:latin typeface="Arial"/>
              </a:rPr>
              <a:t>DESIGN LENS</a:t>
            </a:r>
          </a:p>
        </p:txBody>
      </p:sp>
      <p:sp>
        <p:nvSpPr>
          <p:cNvPr id="34" name="Rectangle 33"/>
          <p:cNvSpPr/>
          <p:nvPr/>
        </p:nvSpPr>
        <p:spPr>
          <a:xfrm>
            <a:off x="8887968" y="1691640"/>
            <a:ext cx="2487168" cy="233172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8887968" y="1691640"/>
            <a:ext cx="82296" cy="2331720"/>
          </a:xfrm>
          <a:prstGeom prst="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9107424" y="1874520"/>
            <a:ext cx="420624" cy="420624"/>
          </a:xfrm>
          <a:prstGeom prst="ellipse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107424" y="1874520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637776" y="1819656"/>
            <a:ext cx="1508760" cy="43891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320" b="1" i="0">
                <a:solidFill>
                  <a:srgbClr val="161B26"/>
                </a:solidFill>
                <a:latin typeface="Arial"/>
              </a:rPr>
              <a:t>Goal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144000" y="2386584"/>
            <a:ext cx="1965960" cy="133502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070" b="0" i="0">
                <a:solidFill>
                  <a:srgbClr val="5B6372"/>
                </a:solidFill>
                <a:latin typeface="Arial"/>
              </a:rPr>
              <a:t>What you want to create or improve today.</a:t>
            </a:r>
          </a:p>
        </p:txBody>
      </p:sp>
      <p:sp>
        <p:nvSpPr>
          <p:cNvPr id="40" name="Rectangle 39"/>
          <p:cNvSpPr/>
          <p:nvPr/>
        </p:nvSpPr>
        <p:spPr>
          <a:xfrm>
            <a:off x="9144000" y="3703320"/>
            <a:ext cx="1078992" cy="256032"/>
          </a:xfrm>
          <a:prstGeom prst="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9144000" y="3703320"/>
            <a:ext cx="1078992" cy="25603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1" i="0">
                <a:solidFill>
                  <a:srgbClr val="FFFFFF"/>
                </a:solidFill>
                <a:latin typeface="Arial"/>
              </a:rPr>
              <a:t>DESIGN LENS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58368" y="4315968"/>
            <a:ext cx="10835640" cy="13258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914400" y="4480560"/>
            <a:ext cx="1828800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 i="0">
                <a:solidFill>
                  <a:srgbClr val="724CD6"/>
                </a:solidFill>
                <a:latin typeface="Arial"/>
              </a:rPr>
              <a:t>SYNTHESIS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14400" y="4846320"/>
            <a:ext cx="10195560" cy="56692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 i="0">
                <a:solidFill>
                  <a:srgbClr val="161B26"/>
                </a:solidFill>
                <a:latin typeface="Arial"/>
              </a:rPr>
              <a:t>Your name, organisation and current role; what you want to create or improve today.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098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10988A"/>
                </a:solidFill>
                <a:latin typeface="Arial"/>
              </a:rPr>
              <a:t>COURSE ADMINISTRATION · LEARNING ENVIRONMENT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21792"/>
            <a:ext cx="10835640" cy="6583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 i="0">
                <a:solidFill>
                  <a:srgbClr val="161B26"/>
                </a:solidFill>
                <a:latin typeface="Arial"/>
              </a:rPr>
              <a:t>Ground rules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6419088"/>
            <a:ext cx="4663440" cy="2194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 i="0">
                <a:solidFill>
                  <a:srgbClr val="5B6372"/>
                </a:solidFill>
                <a:latin typeface="Arial"/>
              </a:rPr>
              <a:t>Claude Design for UX/UI · C744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89120" y="6419088"/>
            <a:ext cx="3657600" cy="2194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0" i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44200" y="6419088"/>
            <a:ext cx="731520" cy="2194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 i="0">
                <a:solidFill>
                  <a:srgbClr val="5B6372"/>
                </a:solidFill>
                <a:latin typeface="Arial"/>
              </a:rPr>
              <a:t>5</a:t>
            </a:r>
          </a:p>
        </p:txBody>
      </p:sp>
      <p:sp>
        <p:nvSpPr>
          <p:cNvPr id="10" name="Rectangle 9"/>
          <p:cNvSpPr/>
          <p:nvPr/>
        </p:nvSpPr>
        <p:spPr>
          <a:xfrm>
            <a:off x="658368" y="1691640"/>
            <a:ext cx="2487168" cy="233172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58368" y="1691640"/>
            <a:ext cx="82296" cy="23317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877824" y="1874520"/>
            <a:ext cx="420624" cy="420624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77824" y="1874520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08176" y="1819656"/>
            <a:ext cx="1508760" cy="43891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320" b="1" i="0">
                <a:solidFill>
                  <a:srgbClr val="161B26"/>
                </a:solidFill>
                <a:latin typeface="Arial"/>
              </a:rPr>
              <a:t>Participate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2386584"/>
            <a:ext cx="1965960" cy="133502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070" b="0" i="0">
                <a:solidFill>
                  <a:srgbClr val="5B6372"/>
                </a:solidFill>
                <a:latin typeface="Arial"/>
              </a:rPr>
              <a:t>Ask questions, test assumptions and share observations.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14400" y="3703320"/>
            <a:ext cx="1078992" cy="25603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4400" y="3703320"/>
            <a:ext cx="1078992" cy="25603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1" i="0">
                <a:solidFill>
                  <a:srgbClr val="FFFFFF"/>
                </a:solidFill>
                <a:latin typeface="Arial"/>
              </a:rPr>
              <a:t>DESIGN LENS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401568" y="1691640"/>
            <a:ext cx="2487168" cy="233172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3401568" y="1691640"/>
            <a:ext cx="82296" cy="2331720"/>
          </a:xfrm>
          <a:prstGeom prst="rect">
            <a:avLst/>
          </a:prstGeom>
          <a:solidFill>
            <a:srgbClr val="724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3621024" y="1874520"/>
            <a:ext cx="420624" cy="420624"/>
          </a:xfrm>
          <a:prstGeom prst="ellipse">
            <a:avLst/>
          </a:prstGeom>
          <a:solidFill>
            <a:srgbClr val="724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621024" y="1874520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151376" y="1819656"/>
            <a:ext cx="1508760" cy="43891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320" b="1" i="0">
                <a:solidFill>
                  <a:srgbClr val="161B26"/>
                </a:solidFill>
                <a:latin typeface="Arial"/>
              </a:rPr>
              <a:t>Respect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657600" y="2386584"/>
            <a:ext cx="1965960" cy="133502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070" b="0" i="0">
                <a:solidFill>
                  <a:srgbClr val="5B6372"/>
                </a:solidFill>
                <a:latin typeface="Arial"/>
              </a:rPr>
              <a:t>One conversation at a time; critique the work, not the person.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657600" y="3703320"/>
            <a:ext cx="1078992" cy="256032"/>
          </a:xfrm>
          <a:prstGeom prst="rect">
            <a:avLst/>
          </a:prstGeom>
          <a:solidFill>
            <a:srgbClr val="724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657600" y="3703320"/>
            <a:ext cx="1078992" cy="25603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1" i="0">
                <a:solidFill>
                  <a:srgbClr val="FFFFFF"/>
                </a:solidFill>
                <a:latin typeface="Arial"/>
              </a:rPr>
              <a:t>DESIGN LENS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144768" y="1691640"/>
            <a:ext cx="2487168" cy="233172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144768" y="1691640"/>
            <a:ext cx="82296" cy="2331720"/>
          </a:xfrm>
          <a:prstGeom prst="rect">
            <a:avLst/>
          </a:prstGeom>
          <a:solidFill>
            <a:srgbClr val="1098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6364224" y="1874520"/>
            <a:ext cx="420624" cy="420624"/>
          </a:xfrm>
          <a:prstGeom prst="ellipse">
            <a:avLst/>
          </a:prstGeom>
          <a:solidFill>
            <a:srgbClr val="1098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364224" y="1874520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894576" y="1819656"/>
            <a:ext cx="1508760" cy="43891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320" b="1" i="0">
                <a:solidFill>
                  <a:srgbClr val="161B26"/>
                </a:solidFill>
                <a:latin typeface="Arial"/>
              </a:rPr>
              <a:t>Focus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00800" y="2386584"/>
            <a:ext cx="1965960" cy="133502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070" b="0" i="0">
                <a:solidFill>
                  <a:srgbClr val="5B6372"/>
                </a:solidFill>
                <a:latin typeface="Arial"/>
              </a:rPr>
              <a:t>Phones silent; keep sensitive data out of design prompts.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400800" y="3703320"/>
            <a:ext cx="1078992" cy="256032"/>
          </a:xfrm>
          <a:prstGeom prst="rect">
            <a:avLst/>
          </a:prstGeom>
          <a:solidFill>
            <a:srgbClr val="1098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400800" y="3703320"/>
            <a:ext cx="1078992" cy="25603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1" i="0">
                <a:solidFill>
                  <a:srgbClr val="FFFFFF"/>
                </a:solidFill>
                <a:latin typeface="Arial"/>
              </a:rPr>
              <a:t>DESIGN LENS</a:t>
            </a:r>
          </a:p>
        </p:txBody>
      </p:sp>
      <p:sp>
        <p:nvSpPr>
          <p:cNvPr id="34" name="Rectangle 33"/>
          <p:cNvSpPr/>
          <p:nvPr/>
        </p:nvSpPr>
        <p:spPr>
          <a:xfrm>
            <a:off x="8887968" y="1691640"/>
            <a:ext cx="2487168" cy="233172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8887968" y="1691640"/>
            <a:ext cx="82296" cy="2331720"/>
          </a:xfrm>
          <a:prstGeom prst="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9107424" y="1874520"/>
            <a:ext cx="420624" cy="420624"/>
          </a:xfrm>
          <a:prstGeom prst="ellipse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107424" y="1874520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637776" y="1819656"/>
            <a:ext cx="1508760" cy="43891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320" b="1" i="0">
                <a:solidFill>
                  <a:srgbClr val="161B26"/>
                </a:solidFill>
                <a:latin typeface="Arial"/>
              </a:rPr>
              <a:t>Punctuality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144000" y="2386584"/>
            <a:ext cx="1965960" cy="133502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070" b="0" i="0">
                <a:solidFill>
                  <a:srgbClr val="5B6372"/>
                </a:solidFill>
                <a:latin typeface="Arial"/>
              </a:rPr>
              <a:t>Return from breaks on time.</a:t>
            </a:r>
          </a:p>
        </p:txBody>
      </p:sp>
      <p:sp>
        <p:nvSpPr>
          <p:cNvPr id="40" name="Rectangle 39"/>
          <p:cNvSpPr/>
          <p:nvPr/>
        </p:nvSpPr>
        <p:spPr>
          <a:xfrm>
            <a:off x="9144000" y="3703320"/>
            <a:ext cx="1078992" cy="256032"/>
          </a:xfrm>
          <a:prstGeom prst="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9144000" y="3703320"/>
            <a:ext cx="1078992" cy="25603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1" i="0">
                <a:solidFill>
                  <a:srgbClr val="FFFFFF"/>
                </a:solidFill>
                <a:latin typeface="Arial"/>
              </a:rPr>
              <a:t>DESIGN LENS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58368" y="4315968"/>
            <a:ext cx="10835640" cy="13258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914400" y="4480560"/>
            <a:ext cx="1828800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 i="0">
                <a:solidFill>
                  <a:srgbClr val="10988A"/>
                </a:solidFill>
                <a:latin typeface="Arial"/>
              </a:rPr>
              <a:t>SYNTHESIS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14400" y="4846320"/>
            <a:ext cx="10195560" cy="56692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 i="0">
                <a:solidFill>
                  <a:srgbClr val="161B26"/>
                </a:solidFill>
                <a:latin typeface="Arial"/>
              </a:rPr>
              <a:t>Ask questions, test assumptions and share observations; return from breaks on time.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724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724CD6"/>
                </a:solidFill>
                <a:latin typeface="Arial"/>
              </a:rPr>
              <a:t>COURSE UPDATE · CURRENT TOOLCHAIN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21792"/>
            <a:ext cx="10835640" cy="6583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 i="0">
                <a:solidFill>
                  <a:srgbClr val="161B26"/>
                </a:solidFill>
                <a:latin typeface="Arial"/>
              </a:rPr>
              <a:t>From Adobe XD to Claude Design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6419088"/>
            <a:ext cx="4663440" cy="2194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 i="0">
                <a:solidFill>
                  <a:srgbClr val="5B6372"/>
                </a:solidFill>
                <a:latin typeface="Arial"/>
              </a:rPr>
              <a:t>Claude Design for UX/UI · C744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89120" y="6419088"/>
            <a:ext cx="3657600" cy="2194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0" i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26679" y="6419088"/>
            <a:ext cx="2834640" cy="2194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730" b="0" i="1">
                <a:solidFill>
                  <a:srgbClr val="949DA9"/>
                </a:solidFill>
                <a:latin typeface="Arial"/>
              </a:rPr>
              <a:t>Anthropic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44200" y="6419088"/>
            <a:ext cx="731520" cy="2194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 i="0">
                <a:solidFill>
                  <a:srgbClr val="5B6372"/>
                </a:solidFill>
                <a:latin typeface="Arial"/>
              </a:rPr>
              <a:t>6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49808" y="1938528"/>
            <a:ext cx="2475738" cy="2423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49808" y="1938528"/>
            <a:ext cx="2475738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667637" y="2240280"/>
            <a:ext cx="640080" cy="64008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667637" y="2240280"/>
            <a:ext cx="640080" cy="6400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300" b="1" i="0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86968" y="3017520"/>
            <a:ext cx="2201418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 i="0">
                <a:solidFill>
                  <a:srgbClr val="1F6FEB"/>
                </a:solidFill>
                <a:latin typeface="Arial"/>
              </a:rPr>
              <a:t>Legacy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96112" y="3474720"/>
            <a:ext cx="2183130" cy="6126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0" i="0">
                <a:solidFill>
                  <a:srgbClr val="5B6372"/>
                </a:solidFill>
                <a:latin typeface="Arial"/>
              </a:rPr>
              <a:t>Manual artboards and tool-specific prototype files.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3225546" y="3150108"/>
            <a:ext cx="274319" cy="0"/>
          </a:xfrm>
          <a:prstGeom prst="line">
            <a:avLst/>
          </a:prstGeom>
          <a:ln w="25400">
            <a:solidFill>
              <a:srgbClr val="724CD6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3499865" y="1938528"/>
            <a:ext cx="2475738" cy="2423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3499865" y="1938528"/>
            <a:ext cx="2475738" cy="91440"/>
          </a:xfrm>
          <a:prstGeom prst="rect">
            <a:avLst/>
          </a:prstGeom>
          <a:solidFill>
            <a:srgbClr val="724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4417695" y="2240280"/>
            <a:ext cx="640080" cy="640080"/>
          </a:xfrm>
          <a:prstGeom prst="ellipse">
            <a:avLst/>
          </a:prstGeom>
          <a:solidFill>
            <a:srgbClr val="724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417695" y="2240280"/>
            <a:ext cx="640080" cy="6400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300" b="1" i="0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637025" y="3017520"/>
            <a:ext cx="2201418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 i="0">
                <a:solidFill>
                  <a:srgbClr val="724CD6"/>
                </a:solidFill>
                <a:latin typeface="Arial"/>
              </a:rPr>
              <a:t>New surface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646170" y="3474720"/>
            <a:ext cx="2183130" cy="6126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0" i="0">
                <a:solidFill>
                  <a:srgbClr val="5B6372"/>
                </a:solidFill>
                <a:latin typeface="Arial"/>
              </a:rPr>
              <a:t>Conversation plus a live canvas for generation and refinement.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5975604" y="3150108"/>
            <a:ext cx="274320" cy="0"/>
          </a:xfrm>
          <a:prstGeom prst="line">
            <a:avLst/>
          </a:prstGeom>
          <a:ln w="25400">
            <a:solidFill>
              <a:srgbClr val="724CD6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ounded Rectangle 24"/>
          <p:cNvSpPr/>
          <p:nvPr/>
        </p:nvSpPr>
        <p:spPr>
          <a:xfrm>
            <a:off x="6249924" y="1938528"/>
            <a:ext cx="2475738" cy="2423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249924" y="1938528"/>
            <a:ext cx="2475738" cy="91440"/>
          </a:xfrm>
          <a:prstGeom prst="rect">
            <a:avLst/>
          </a:prstGeom>
          <a:solidFill>
            <a:srgbClr val="1098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7167753" y="2240280"/>
            <a:ext cx="640080" cy="640080"/>
          </a:xfrm>
          <a:prstGeom prst="ellipse">
            <a:avLst/>
          </a:prstGeom>
          <a:solidFill>
            <a:srgbClr val="1098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167753" y="2240280"/>
            <a:ext cx="640080" cy="6400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300" b="1" i="0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387084" y="3017520"/>
            <a:ext cx="2201418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 i="0">
                <a:solidFill>
                  <a:srgbClr val="10988A"/>
                </a:solidFill>
                <a:latin typeface="Arial"/>
              </a:rPr>
              <a:t>System context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396228" y="3474720"/>
            <a:ext cx="2183130" cy="6126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0" i="0">
                <a:solidFill>
                  <a:srgbClr val="5B6372"/>
                </a:solidFill>
                <a:latin typeface="Arial"/>
              </a:rPr>
              <a:t>Import tokens, components, files and codebase context.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8725662" y="3150108"/>
            <a:ext cx="274320" cy="0"/>
          </a:xfrm>
          <a:prstGeom prst="line">
            <a:avLst/>
          </a:prstGeom>
          <a:ln w="25400">
            <a:solidFill>
              <a:srgbClr val="724CD6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Rounded Rectangle 31"/>
          <p:cNvSpPr/>
          <p:nvPr/>
        </p:nvSpPr>
        <p:spPr>
          <a:xfrm>
            <a:off x="8999982" y="1938528"/>
            <a:ext cx="2475738" cy="2423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8999982" y="1938528"/>
            <a:ext cx="2475738" cy="91440"/>
          </a:xfrm>
          <a:prstGeom prst="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9917811" y="2240280"/>
            <a:ext cx="640080" cy="640080"/>
          </a:xfrm>
          <a:prstGeom prst="ellipse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917811" y="2240280"/>
            <a:ext cx="640080" cy="6400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300" b="1" i="0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137142" y="3017520"/>
            <a:ext cx="2201418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 i="0">
                <a:solidFill>
                  <a:srgbClr val="16845B"/>
                </a:solidFill>
                <a:latin typeface="Arial"/>
              </a:rPr>
              <a:t>Handoff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146286" y="3474720"/>
            <a:ext cx="2183130" cy="6126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0" i="0">
                <a:solidFill>
                  <a:srgbClr val="5B6372"/>
                </a:solidFill>
                <a:latin typeface="Arial"/>
              </a:rPr>
              <a:t>Export HTML, PDF, PPTX or pass work to Claude Code.</a:t>
            </a:r>
          </a:p>
        </p:txBody>
      </p:sp>
      <p:sp>
        <p:nvSpPr>
          <p:cNvPr id="38" name="Rectangle 37"/>
          <p:cNvSpPr/>
          <p:nvPr/>
        </p:nvSpPr>
        <p:spPr>
          <a:xfrm>
            <a:off x="749808" y="4754880"/>
            <a:ext cx="10725912" cy="80467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960120" y="4919472"/>
            <a:ext cx="182880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 i="0">
                <a:solidFill>
                  <a:srgbClr val="724CD6"/>
                </a:solidFill>
                <a:latin typeface="Arial"/>
              </a:rPr>
              <a:t>THE POINT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2331720" y="4855464"/>
            <a:ext cx="8778240" cy="39319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20" b="1" i="0">
                <a:solidFill>
                  <a:srgbClr val="161B26"/>
                </a:solidFill>
                <a:latin typeface="Arial"/>
              </a:rPr>
              <a:t>The course retains UI design fundamentals while replacing obsolete Adobe XD procedures.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1F6FEB"/>
                </a:solidFill>
                <a:latin typeface="Arial"/>
              </a:rPr>
              <a:t>COURSE ADMINISTRATION · FOUR CONNECTED MODULES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21792"/>
            <a:ext cx="10835640" cy="6583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 i="0">
                <a:solidFill>
                  <a:srgbClr val="161B26"/>
                </a:solidFill>
                <a:latin typeface="Arial"/>
              </a:rPr>
              <a:t>Course roadmap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6419088"/>
            <a:ext cx="4663440" cy="2194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 i="0">
                <a:solidFill>
                  <a:srgbClr val="5B6372"/>
                </a:solidFill>
                <a:latin typeface="Arial"/>
              </a:rPr>
              <a:t>Claude Design for UX/UI · C744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89120" y="6419088"/>
            <a:ext cx="3657600" cy="2194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0" i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44200" y="6419088"/>
            <a:ext cx="731520" cy="2194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 i="0">
                <a:solidFill>
                  <a:srgbClr val="5B6372"/>
                </a:solidFill>
                <a:latin typeface="Arial"/>
              </a:rPr>
              <a:t>7</a:t>
            </a:r>
          </a:p>
        </p:txBody>
      </p:sp>
      <p:sp>
        <p:nvSpPr>
          <p:cNvPr id="10" name="Rectangle 9"/>
          <p:cNvSpPr/>
          <p:nvPr/>
        </p:nvSpPr>
        <p:spPr>
          <a:xfrm>
            <a:off x="658368" y="1691640"/>
            <a:ext cx="2487168" cy="233172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58368" y="1691640"/>
            <a:ext cx="82296" cy="23317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877824" y="1874520"/>
            <a:ext cx="420624" cy="420624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77824" y="1874520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08176" y="1819656"/>
            <a:ext cx="1508760" cy="43891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320" b="1" i="0">
                <a:solidFill>
                  <a:srgbClr val="161B26"/>
                </a:solidFill>
                <a:latin typeface="Arial"/>
              </a:rPr>
              <a:t>Module 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2386584"/>
            <a:ext cx="1965960" cy="133502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070" b="0" i="0">
                <a:solidFill>
                  <a:srgbClr val="5B6372"/>
                </a:solidFill>
                <a:latin typeface="Arial"/>
              </a:rPr>
              <a:t>Requirements and Principle-Led UI Design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14400" y="3703320"/>
            <a:ext cx="1078992" cy="25603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4400" y="3703320"/>
            <a:ext cx="1078992" cy="25603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1" i="0">
                <a:solidFill>
                  <a:srgbClr val="FFFFFF"/>
                </a:solidFill>
                <a:latin typeface="Arial"/>
              </a:rPr>
              <a:t>DESIGN LENS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401568" y="1691640"/>
            <a:ext cx="2487168" cy="233172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3401568" y="1691640"/>
            <a:ext cx="82296" cy="2331720"/>
          </a:xfrm>
          <a:prstGeom prst="rect">
            <a:avLst/>
          </a:prstGeom>
          <a:solidFill>
            <a:srgbClr val="724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3621024" y="1874520"/>
            <a:ext cx="420624" cy="420624"/>
          </a:xfrm>
          <a:prstGeom prst="ellipse">
            <a:avLst/>
          </a:prstGeom>
          <a:solidFill>
            <a:srgbClr val="724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621024" y="1874520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151376" y="1819656"/>
            <a:ext cx="1508760" cy="43891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320" b="1" i="0">
                <a:solidFill>
                  <a:srgbClr val="161B26"/>
                </a:solidFill>
                <a:latin typeface="Arial"/>
              </a:rPr>
              <a:t>Module 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657600" y="2386584"/>
            <a:ext cx="1965960" cy="133502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070" b="0" i="0">
                <a:solidFill>
                  <a:srgbClr val="5B6372"/>
                </a:solidFill>
                <a:latin typeface="Arial"/>
              </a:rPr>
              <a:t>Claude Design Workflow and Design Systems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657600" y="3703320"/>
            <a:ext cx="1078992" cy="256032"/>
          </a:xfrm>
          <a:prstGeom prst="rect">
            <a:avLst/>
          </a:prstGeom>
          <a:solidFill>
            <a:srgbClr val="724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657600" y="3703320"/>
            <a:ext cx="1078992" cy="25603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1" i="0">
                <a:solidFill>
                  <a:srgbClr val="FFFFFF"/>
                </a:solidFill>
                <a:latin typeface="Arial"/>
              </a:rPr>
              <a:t>DESIGN LENS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144768" y="1691640"/>
            <a:ext cx="2487168" cy="233172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144768" y="1691640"/>
            <a:ext cx="82296" cy="2331720"/>
          </a:xfrm>
          <a:prstGeom prst="rect">
            <a:avLst/>
          </a:prstGeom>
          <a:solidFill>
            <a:srgbClr val="1098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6364224" y="1874520"/>
            <a:ext cx="420624" cy="420624"/>
          </a:xfrm>
          <a:prstGeom prst="ellipse">
            <a:avLst/>
          </a:prstGeom>
          <a:solidFill>
            <a:srgbClr val="1098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364224" y="1874520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894576" y="1819656"/>
            <a:ext cx="1508760" cy="43891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320" b="1" i="0">
                <a:solidFill>
                  <a:srgbClr val="161B26"/>
                </a:solidFill>
                <a:latin typeface="Arial"/>
              </a:rPr>
              <a:t>Module 3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00800" y="2386584"/>
            <a:ext cx="1965960" cy="133502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070" b="0" i="0">
                <a:solidFill>
                  <a:srgbClr val="5B6372"/>
                </a:solidFill>
                <a:latin typeface="Arial"/>
              </a:rPr>
              <a:t>Components, Prototypes and Evidence-Based Evaluation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400800" y="3703320"/>
            <a:ext cx="1078992" cy="256032"/>
          </a:xfrm>
          <a:prstGeom prst="rect">
            <a:avLst/>
          </a:prstGeom>
          <a:solidFill>
            <a:srgbClr val="1098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400800" y="3703320"/>
            <a:ext cx="1078992" cy="25603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1" i="0">
                <a:solidFill>
                  <a:srgbClr val="FFFFFF"/>
                </a:solidFill>
                <a:latin typeface="Arial"/>
              </a:rPr>
              <a:t>DESIGN LENS</a:t>
            </a:r>
          </a:p>
        </p:txBody>
      </p:sp>
      <p:sp>
        <p:nvSpPr>
          <p:cNvPr id="34" name="Rectangle 33"/>
          <p:cNvSpPr/>
          <p:nvPr/>
        </p:nvSpPr>
        <p:spPr>
          <a:xfrm>
            <a:off x="8887968" y="1691640"/>
            <a:ext cx="2487168" cy="233172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8887968" y="1691640"/>
            <a:ext cx="82296" cy="2331720"/>
          </a:xfrm>
          <a:prstGeom prst="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9107424" y="1874520"/>
            <a:ext cx="420624" cy="420624"/>
          </a:xfrm>
          <a:prstGeom prst="ellipse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107424" y="1874520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637776" y="1819656"/>
            <a:ext cx="1508760" cy="43891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320" b="1" i="0">
                <a:solidFill>
                  <a:srgbClr val="161B26"/>
                </a:solidFill>
                <a:latin typeface="Arial"/>
              </a:rPr>
              <a:t>Module 4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144000" y="2386584"/>
            <a:ext cx="1965960" cy="133502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070" b="0" i="0">
                <a:solidFill>
                  <a:srgbClr val="5B6372"/>
                </a:solidFill>
                <a:latin typeface="Arial"/>
              </a:rPr>
              <a:t>Documentation, Collaboration and Handoff</a:t>
            </a:r>
          </a:p>
        </p:txBody>
      </p:sp>
      <p:sp>
        <p:nvSpPr>
          <p:cNvPr id="40" name="Rectangle 39"/>
          <p:cNvSpPr/>
          <p:nvPr/>
        </p:nvSpPr>
        <p:spPr>
          <a:xfrm>
            <a:off x="9144000" y="3703320"/>
            <a:ext cx="1078992" cy="256032"/>
          </a:xfrm>
          <a:prstGeom prst="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9144000" y="3703320"/>
            <a:ext cx="1078992" cy="25603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1" i="0">
                <a:solidFill>
                  <a:srgbClr val="FFFFFF"/>
                </a:solidFill>
                <a:latin typeface="Arial"/>
              </a:rPr>
              <a:t>DESIGN LENS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58368" y="4315968"/>
            <a:ext cx="10835640" cy="13258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914400" y="4480560"/>
            <a:ext cx="1828800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 i="0">
                <a:solidFill>
                  <a:srgbClr val="1F6FEB"/>
                </a:solidFill>
                <a:latin typeface="Arial"/>
              </a:rPr>
              <a:t>SYNTHESIS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14400" y="4846320"/>
            <a:ext cx="10195560" cy="56692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 i="0">
                <a:solidFill>
                  <a:srgbClr val="161B26"/>
                </a:solidFill>
                <a:latin typeface="Arial"/>
              </a:rPr>
              <a:t>Requirements and Principle-Led UI Design; documentation, collaboration and handoff.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1F6FEB"/>
                </a:solidFill>
                <a:latin typeface="Arial"/>
              </a:rPr>
              <a:t>COURSE ADMINISTRATION · 9:30 AM–5:30 PM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21792"/>
            <a:ext cx="10835640" cy="6583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 i="0">
                <a:solidFill>
                  <a:srgbClr val="161B26"/>
                </a:solidFill>
                <a:latin typeface="Arial"/>
              </a:rPr>
              <a:t>Lesson Plan · One Day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6419088"/>
            <a:ext cx="4663440" cy="2194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 i="0">
                <a:solidFill>
                  <a:srgbClr val="5B6372"/>
                </a:solidFill>
                <a:latin typeface="Arial"/>
              </a:rPr>
              <a:t>Claude Design for UX/UI · C744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89120" y="6419088"/>
            <a:ext cx="3657600" cy="2194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0" i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44200" y="6419088"/>
            <a:ext cx="731520" cy="2194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 i="0">
                <a:solidFill>
                  <a:srgbClr val="5B6372"/>
                </a:solidFill>
                <a:latin typeface="Arial"/>
              </a:rPr>
              <a:t>8</a:t>
            </a:r>
          </a:p>
        </p:txBody>
      </p:sp>
      <p:sp>
        <p:nvSpPr>
          <p:cNvPr id="10" name="Rectangle 9"/>
          <p:cNvSpPr/>
          <p:nvPr/>
        </p:nvSpPr>
        <p:spPr>
          <a:xfrm>
            <a:off x="658368" y="1627632"/>
            <a:ext cx="1353312" cy="34747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19" y="1682496"/>
            <a:ext cx="1207008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919" b="1" i="0">
                <a:solidFill>
                  <a:srgbClr val="FFFFFF"/>
                </a:solidFill>
                <a:latin typeface="Arial"/>
              </a:rPr>
              <a:t>Time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011680" y="1627632"/>
            <a:ext cx="5925312" cy="34747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084832" y="1682496"/>
            <a:ext cx="5779008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919" b="1" i="0">
                <a:solidFill>
                  <a:srgbClr val="FFFFFF"/>
                </a:solidFill>
                <a:latin typeface="Arial"/>
              </a:rPr>
              <a:t>Topic / Activity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936992" y="1627632"/>
            <a:ext cx="1444752" cy="34747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010144" y="1682496"/>
            <a:ext cx="1298448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919" b="1" i="0">
                <a:solidFill>
                  <a:srgbClr val="FFFFFF"/>
                </a:solidFill>
                <a:latin typeface="Arial"/>
              </a:rPr>
              <a:t>Method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381744" y="1627632"/>
            <a:ext cx="2112264" cy="34747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454896" y="1682496"/>
            <a:ext cx="196596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919" b="1" i="0">
                <a:solidFill>
                  <a:srgbClr val="FFFFFF"/>
                </a:solidFill>
                <a:latin typeface="Arial"/>
              </a:rPr>
              <a:t>Slides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58368" y="1975104"/>
            <a:ext cx="1353312" cy="329184"/>
          </a:xfrm>
          <a:prstGeom prst="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13232" y="2011680"/>
            <a:ext cx="1243584" cy="26517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0" i="0">
                <a:solidFill>
                  <a:srgbClr val="161B26"/>
                </a:solidFill>
                <a:latin typeface="Arial"/>
              </a:rPr>
              <a:t>09:30–10:30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011680" y="1975104"/>
            <a:ext cx="5925312" cy="329184"/>
          </a:xfrm>
          <a:prstGeom prst="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066544" y="2011680"/>
            <a:ext cx="5815584" cy="26517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19" b="0" i="0">
                <a:solidFill>
                  <a:srgbClr val="161B26"/>
                </a:solidFill>
                <a:latin typeface="Arial"/>
              </a:rPr>
              <a:t>Welcome, outcomes; Module 1 — requirements, research and information flow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936992" y="1975104"/>
            <a:ext cx="1444752" cy="329184"/>
          </a:xfrm>
          <a:prstGeom prst="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991856" y="2011680"/>
            <a:ext cx="1335024" cy="26517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0" i="0">
                <a:solidFill>
                  <a:srgbClr val="161B26"/>
                </a:solidFill>
                <a:latin typeface="Arial"/>
              </a:rPr>
              <a:t>Admin + concept</a:t>
            </a:r>
          </a:p>
        </p:txBody>
      </p:sp>
      <p:sp>
        <p:nvSpPr>
          <p:cNvPr id="24" name="Rectangle 23"/>
          <p:cNvSpPr/>
          <p:nvPr/>
        </p:nvSpPr>
        <p:spPr>
          <a:xfrm>
            <a:off x="9381744" y="1975104"/>
            <a:ext cx="2112264" cy="329184"/>
          </a:xfrm>
          <a:prstGeom prst="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436608" y="2011680"/>
            <a:ext cx="2002536" cy="26517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0" i="0">
                <a:solidFill>
                  <a:srgbClr val="161B26"/>
                </a:solidFill>
                <a:latin typeface="Arial"/>
              </a:rPr>
              <a:t>10–44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58368" y="2304288"/>
            <a:ext cx="1353312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13232" y="2340864"/>
            <a:ext cx="1243584" cy="26517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0" i="0">
                <a:solidFill>
                  <a:srgbClr val="161B26"/>
                </a:solidFill>
                <a:latin typeface="Arial"/>
              </a:rPr>
              <a:t>10:30–11:20</a:t>
            </a:r>
          </a:p>
        </p:txBody>
      </p:sp>
      <p:sp>
        <p:nvSpPr>
          <p:cNvPr id="28" name="Rectangle 27"/>
          <p:cNvSpPr/>
          <p:nvPr/>
        </p:nvSpPr>
        <p:spPr>
          <a:xfrm>
            <a:off x="2011680" y="2304288"/>
            <a:ext cx="5925312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2066544" y="2340864"/>
            <a:ext cx="5815584" cy="26517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19" b="0" i="0">
                <a:solidFill>
                  <a:srgbClr val="161B26"/>
                </a:solidFill>
                <a:latin typeface="Arial"/>
              </a:rPr>
              <a:t>Labs 1–2 — Research Brief; Information Flow and Principle Audit</a:t>
            </a:r>
          </a:p>
        </p:txBody>
      </p:sp>
      <p:sp>
        <p:nvSpPr>
          <p:cNvPr id="30" name="Rectangle 29"/>
          <p:cNvSpPr/>
          <p:nvPr/>
        </p:nvSpPr>
        <p:spPr>
          <a:xfrm>
            <a:off x="7936992" y="2304288"/>
            <a:ext cx="1444752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991856" y="2340864"/>
            <a:ext cx="1335024" cy="26517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0" i="0">
                <a:solidFill>
                  <a:srgbClr val="161B26"/>
                </a:solidFill>
                <a:latin typeface="Arial"/>
              </a:rPr>
              <a:t>Hands-on</a:t>
            </a:r>
          </a:p>
        </p:txBody>
      </p:sp>
      <p:sp>
        <p:nvSpPr>
          <p:cNvPr id="32" name="Rectangle 31"/>
          <p:cNvSpPr/>
          <p:nvPr/>
        </p:nvSpPr>
        <p:spPr>
          <a:xfrm>
            <a:off x="9381744" y="2304288"/>
            <a:ext cx="2112264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436608" y="2340864"/>
            <a:ext cx="2002536" cy="26517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0" i="0">
                <a:solidFill>
                  <a:srgbClr val="161B26"/>
                </a:solidFill>
                <a:latin typeface="Arial"/>
              </a:rPr>
              <a:t>37–42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58368" y="2633472"/>
            <a:ext cx="1353312" cy="329184"/>
          </a:xfrm>
          <a:prstGeom prst="rect">
            <a:avLst/>
          </a:prstGeom>
          <a:solidFill>
            <a:srgbClr val="FFF4E5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13232" y="2670048"/>
            <a:ext cx="1243584" cy="26517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0" i="0">
                <a:solidFill>
                  <a:srgbClr val="161B26"/>
                </a:solidFill>
                <a:latin typeface="Arial"/>
              </a:rPr>
              <a:t>11:20–12:15</a:t>
            </a:r>
          </a:p>
        </p:txBody>
      </p:sp>
      <p:sp>
        <p:nvSpPr>
          <p:cNvPr id="36" name="Rectangle 35"/>
          <p:cNvSpPr/>
          <p:nvPr/>
        </p:nvSpPr>
        <p:spPr>
          <a:xfrm>
            <a:off x="2011680" y="2633472"/>
            <a:ext cx="5925312" cy="329184"/>
          </a:xfrm>
          <a:prstGeom prst="rect">
            <a:avLst/>
          </a:prstGeom>
          <a:solidFill>
            <a:srgbClr val="FFF4E5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2066544" y="2670048"/>
            <a:ext cx="5815584" cy="26517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19" b="0" i="0">
                <a:solidFill>
                  <a:srgbClr val="161B26"/>
                </a:solidFill>
                <a:latin typeface="Arial"/>
              </a:rPr>
              <a:t>Module 2 — Claude Design workflow and design systems</a:t>
            </a:r>
          </a:p>
        </p:txBody>
      </p:sp>
      <p:sp>
        <p:nvSpPr>
          <p:cNvPr id="38" name="Rectangle 37"/>
          <p:cNvSpPr/>
          <p:nvPr/>
        </p:nvSpPr>
        <p:spPr>
          <a:xfrm>
            <a:off x="7936992" y="2633472"/>
            <a:ext cx="1444752" cy="329184"/>
          </a:xfrm>
          <a:prstGeom prst="rect">
            <a:avLst/>
          </a:prstGeom>
          <a:solidFill>
            <a:srgbClr val="FFF4E5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991856" y="2670048"/>
            <a:ext cx="1335024" cy="26517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0" i="0">
                <a:solidFill>
                  <a:srgbClr val="161B26"/>
                </a:solidFill>
                <a:latin typeface="Arial"/>
              </a:rPr>
              <a:t>Concept + demo</a:t>
            </a:r>
          </a:p>
        </p:txBody>
      </p:sp>
      <p:sp>
        <p:nvSpPr>
          <p:cNvPr id="40" name="Rectangle 39"/>
          <p:cNvSpPr/>
          <p:nvPr/>
        </p:nvSpPr>
        <p:spPr>
          <a:xfrm>
            <a:off x="9381744" y="2633472"/>
            <a:ext cx="2112264" cy="329184"/>
          </a:xfrm>
          <a:prstGeom prst="rect">
            <a:avLst/>
          </a:prstGeom>
          <a:solidFill>
            <a:srgbClr val="FFF4E5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9436608" y="2670048"/>
            <a:ext cx="2002536" cy="26517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0" i="0">
                <a:solidFill>
                  <a:srgbClr val="161B26"/>
                </a:solidFill>
                <a:latin typeface="Arial"/>
              </a:rPr>
              <a:t>45–77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58368" y="2962656"/>
            <a:ext cx="1353312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713232" y="2999232"/>
            <a:ext cx="1243584" cy="26517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0" i="0">
                <a:solidFill>
                  <a:srgbClr val="161B26"/>
                </a:solidFill>
                <a:latin typeface="Arial"/>
              </a:rPr>
              <a:t>12:15–13:05</a:t>
            </a:r>
          </a:p>
        </p:txBody>
      </p:sp>
      <p:sp>
        <p:nvSpPr>
          <p:cNvPr id="44" name="Rectangle 43"/>
          <p:cNvSpPr/>
          <p:nvPr/>
        </p:nvSpPr>
        <p:spPr>
          <a:xfrm>
            <a:off x="2011680" y="2962656"/>
            <a:ext cx="5925312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2066544" y="2999232"/>
            <a:ext cx="5815584" cy="26517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19" b="1" i="0">
                <a:solidFill>
                  <a:srgbClr val="161B26"/>
                </a:solidFill>
                <a:latin typeface="Arial"/>
              </a:rPr>
              <a:t>Labs 3–4 — Design System Project; Prompted Wireframes and Variants</a:t>
            </a:r>
          </a:p>
        </p:txBody>
      </p:sp>
      <p:sp>
        <p:nvSpPr>
          <p:cNvPr id="46" name="Rectangle 45"/>
          <p:cNvSpPr/>
          <p:nvPr/>
        </p:nvSpPr>
        <p:spPr>
          <a:xfrm>
            <a:off x="7936992" y="2962656"/>
            <a:ext cx="1444752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7991856" y="2999232"/>
            <a:ext cx="1335024" cy="26517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0" i="0">
                <a:solidFill>
                  <a:srgbClr val="161B26"/>
                </a:solidFill>
                <a:latin typeface="Arial"/>
              </a:rPr>
              <a:t>Hands-on</a:t>
            </a:r>
          </a:p>
        </p:txBody>
      </p:sp>
      <p:sp>
        <p:nvSpPr>
          <p:cNvPr id="48" name="Rectangle 47"/>
          <p:cNvSpPr/>
          <p:nvPr/>
        </p:nvSpPr>
        <p:spPr>
          <a:xfrm>
            <a:off x="9381744" y="2962656"/>
            <a:ext cx="2112264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9436608" y="2999232"/>
            <a:ext cx="2002536" cy="26517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0" i="0">
                <a:solidFill>
                  <a:srgbClr val="161B26"/>
                </a:solidFill>
                <a:latin typeface="Arial"/>
              </a:rPr>
              <a:t>70–75</a:t>
            </a:r>
          </a:p>
        </p:txBody>
      </p:sp>
      <p:sp>
        <p:nvSpPr>
          <p:cNvPr id="50" name="Rectangle 49"/>
          <p:cNvSpPr/>
          <p:nvPr/>
        </p:nvSpPr>
        <p:spPr>
          <a:xfrm>
            <a:off x="658368" y="3291840"/>
            <a:ext cx="1353312" cy="329184"/>
          </a:xfrm>
          <a:prstGeom prst="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713232" y="3328416"/>
            <a:ext cx="1243584" cy="26517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0" i="0">
                <a:solidFill>
                  <a:srgbClr val="161B26"/>
                </a:solidFill>
                <a:latin typeface="Arial"/>
              </a:rPr>
              <a:t>13:05–13:35</a:t>
            </a:r>
          </a:p>
        </p:txBody>
      </p:sp>
      <p:sp>
        <p:nvSpPr>
          <p:cNvPr id="52" name="Rectangle 51"/>
          <p:cNvSpPr/>
          <p:nvPr/>
        </p:nvSpPr>
        <p:spPr>
          <a:xfrm>
            <a:off x="2011680" y="3291840"/>
            <a:ext cx="5925312" cy="329184"/>
          </a:xfrm>
          <a:prstGeom prst="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2066544" y="3328416"/>
            <a:ext cx="5815584" cy="26517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19" b="0" i="0">
                <a:solidFill>
                  <a:srgbClr val="161B26"/>
                </a:solidFill>
                <a:latin typeface="Arial"/>
              </a:rPr>
              <a:t>Lunch</a:t>
            </a:r>
          </a:p>
        </p:txBody>
      </p:sp>
      <p:sp>
        <p:nvSpPr>
          <p:cNvPr id="54" name="Rectangle 53"/>
          <p:cNvSpPr/>
          <p:nvPr/>
        </p:nvSpPr>
        <p:spPr>
          <a:xfrm>
            <a:off x="7936992" y="3291840"/>
            <a:ext cx="1444752" cy="329184"/>
          </a:xfrm>
          <a:prstGeom prst="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7991856" y="3328416"/>
            <a:ext cx="1335024" cy="26517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0" i="0">
                <a:solidFill>
                  <a:srgbClr val="161B26"/>
                </a:solidFill>
                <a:latin typeface="Arial"/>
              </a:rPr>
              <a:t>Break</a:t>
            </a:r>
          </a:p>
        </p:txBody>
      </p:sp>
      <p:sp>
        <p:nvSpPr>
          <p:cNvPr id="56" name="Rectangle 55"/>
          <p:cNvSpPr/>
          <p:nvPr/>
        </p:nvSpPr>
        <p:spPr>
          <a:xfrm>
            <a:off x="9381744" y="3291840"/>
            <a:ext cx="2112264" cy="329184"/>
          </a:xfrm>
          <a:prstGeom prst="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9436608" y="3328416"/>
            <a:ext cx="2002536" cy="26517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0" i="0">
                <a:solidFill>
                  <a:srgbClr val="161B26"/>
                </a:solidFill>
                <a:latin typeface="Arial"/>
              </a:rPr>
              <a:t>—</a:t>
            </a:r>
          </a:p>
        </p:txBody>
      </p:sp>
      <p:sp>
        <p:nvSpPr>
          <p:cNvPr id="58" name="Rectangle 57"/>
          <p:cNvSpPr/>
          <p:nvPr/>
        </p:nvSpPr>
        <p:spPr>
          <a:xfrm>
            <a:off x="658368" y="3621024"/>
            <a:ext cx="1353312" cy="329184"/>
          </a:xfrm>
          <a:prstGeom prst="rect">
            <a:avLst/>
          </a:prstGeom>
          <a:solidFill>
            <a:srgbClr val="FFF4E5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713232" y="3657600"/>
            <a:ext cx="1243584" cy="26517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0" i="0">
                <a:solidFill>
                  <a:srgbClr val="161B26"/>
                </a:solidFill>
                <a:latin typeface="Arial"/>
              </a:rPr>
              <a:t>13:35–14:30</a:t>
            </a:r>
          </a:p>
        </p:txBody>
      </p:sp>
      <p:sp>
        <p:nvSpPr>
          <p:cNvPr id="60" name="Rectangle 59"/>
          <p:cNvSpPr/>
          <p:nvPr/>
        </p:nvSpPr>
        <p:spPr>
          <a:xfrm>
            <a:off x="2011680" y="3621024"/>
            <a:ext cx="5925312" cy="329184"/>
          </a:xfrm>
          <a:prstGeom prst="rect">
            <a:avLst/>
          </a:prstGeom>
          <a:solidFill>
            <a:srgbClr val="FFF4E5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2066544" y="3657600"/>
            <a:ext cx="5815584" cy="26517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19" b="0" i="0">
                <a:solidFill>
                  <a:srgbClr val="161B26"/>
                </a:solidFill>
                <a:latin typeface="Arial"/>
              </a:rPr>
              <a:t>Module 3 — components, states and interaction</a:t>
            </a:r>
          </a:p>
        </p:txBody>
      </p:sp>
      <p:sp>
        <p:nvSpPr>
          <p:cNvPr id="62" name="Rectangle 61"/>
          <p:cNvSpPr/>
          <p:nvPr/>
        </p:nvSpPr>
        <p:spPr>
          <a:xfrm>
            <a:off x="7936992" y="3621024"/>
            <a:ext cx="1444752" cy="329184"/>
          </a:xfrm>
          <a:prstGeom prst="rect">
            <a:avLst/>
          </a:prstGeom>
          <a:solidFill>
            <a:srgbClr val="FFF4E5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7991856" y="3657600"/>
            <a:ext cx="1335024" cy="26517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0" i="0">
                <a:solidFill>
                  <a:srgbClr val="161B26"/>
                </a:solidFill>
                <a:latin typeface="Arial"/>
              </a:rPr>
              <a:t>Concept + cases</a:t>
            </a:r>
          </a:p>
        </p:txBody>
      </p:sp>
      <p:sp>
        <p:nvSpPr>
          <p:cNvPr id="64" name="Rectangle 63"/>
          <p:cNvSpPr/>
          <p:nvPr/>
        </p:nvSpPr>
        <p:spPr>
          <a:xfrm>
            <a:off x="9381744" y="3621024"/>
            <a:ext cx="2112264" cy="329184"/>
          </a:xfrm>
          <a:prstGeom prst="rect">
            <a:avLst/>
          </a:prstGeom>
          <a:solidFill>
            <a:srgbClr val="FFF4E5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9436608" y="3657600"/>
            <a:ext cx="2002536" cy="26517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0" i="0">
                <a:solidFill>
                  <a:srgbClr val="161B26"/>
                </a:solidFill>
                <a:latin typeface="Arial"/>
              </a:rPr>
              <a:t>78–110</a:t>
            </a:r>
          </a:p>
        </p:txBody>
      </p:sp>
      <p:sp>
        <p:nvSpPr>
          <p:cNvPr id="66" name="Rectangle 65"/>
          <p:cNvSpPr/>
          <p:nvPr/>
        </p:nvSpPr>
        <p:spPr>
          <a:xfrm>
            <a:off x="658368" y="3950208"/>
            <a:ext cx="1353312" cy="329184"/>
          </a:xfrm>
          <a:prstGeom prst="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713232" y="3986784"/>
            <a:ext cx="1243584" cy="26517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0" i="0">
                <a:solidFill>
                  <a:srgbClr val="161B26"/>
                </a:solidFill>
                <a:latin typeface="Arial"/>
              </a:rPr>
              <a:t>14:30–15:20</a:t>
            </a:r>
          </a:p>
        </p:txBody>
      </p:sp>
      <p:sp>
        <p:nvSpPr>
          <p:cNvPr id="68" name="Rectangle 67"/>
          <p:cNvSpPr/>
          <p:nvPr/>
        </p:nvSpPr>
        <p:spPr>
          <a:xfrm>
            <a:off x="2011680" y="3950208"/>
            <a:ext cx="5925312" cy="329184"/>
          </a:xfrm>
          <a:prstGeom prst="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2066544" y="3986784"/>
            <a:ext cx="5815584" cy="26517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19" b="1" i="0">
                <a:solidFill>
                  <a:srgbClr val="161B26"/>
                </a:solidFill>
                <a:latin typeface="Arial"/>
              </a:rPr>
              <a:t>Labs 5–6 — Reusable Components and States; Responsive Prototype</a:t>
            </a:r>
          </a:p>
        </p:txBody>
      </p:sp>
      <p:sp>
        <p:nvSpPr>
          <p:cNvPr id="70" name="Rectangle 69"/>
          <p:cNvSpPr/>
          <p:nvPr/>
        </p:nvSpPr>
        <p:spPr>
          <a:xfrm>
            <a:off x="7936992" y="3950208"/>
            <a:ext cx="1444752" cy="329184"/>
          </a:xfrm>
          <a:prstGeom prst="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7991856" y="3986784"/>
            <a:ext cx="1335024" cy="26517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0" i="0">
                <a:solidFill>
                  <a:srgbClr val="161B26"/>
                </a:solidFill>
                <a:latin typeface="Arial"/>
              </a:rPr>
              <a:t>Hands-on</a:t>
            </a:r>
          </a:p>
        </p:txBody>
      </p:sp>
      <p:sp>
        <p:nvSpPr>
          <p:cNvPr id="72" name="Rectangle 71"/>
          <p:cNvSpPr/>
          <p:nvPr/>
        </p:nvSpPr>
        <p:spPr>
          <a:xfrm>
            <a:off x="9381744" y="3950208"/>
            <a:ext cx="2112264" cy="329184"/>
          </a:xfrm>
          <a:prstGeom prst="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9436608" y="3986784"/>
            <a:ext cx="2002536" cy="26517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0" i="0">
                <a:solidFill>
                  <a:srgbClr val="161B26"/>
                </a:solidFill>
                <a:latin typeface="Arial"/>
              </a:rPr>
              <a:t>103–108</a:t>
            </a:r>
          </a:p>
        </p:txBody>
      </p:sp>
      <p:sp>
        <p:nvSpPr>
          <p:cNvPr id="74" name="Rectangle 73"/>
          <p:cNvSpPr/>
          <p:nvPr/>
        </p:nvSpPr>
        <p:spPr>
          <a:xfrm>
            <a:off x="658368" y="4279392"/>
            <a:ext cx="1353312" cy="329184"/>
          </a:xfrm>
          <a:prstGeom prst="rect">
            <a:avLst/>
          </a:prstGeom>
          <a:solidFill>
            <a:srgbClr val="FFF4E5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713232" y="4315968"/>
            <a:ext cx="1243584" cy="26517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0" i="0">
                <a:solidFill>
                  <a:srgbClr val="161B26"/>
                </a:solidFill>
                <a:latin typeface="Arial"/>
              </a:rPr>
              <a:t>15:20–16:20</a:t>
            </a:r>
          </a:p>
        </p:txBody>
      </p:sp>
      <p:sp>
        <p:nvSpPr>
          <p:cNvPr id="76" name="Rectangle 75"/>
          <p:cNvSpPr/>
          <p:nvPr/>
        </p:nvSpPr>
        <p:spPr>
          <a:xfrm>
            <a:off x="2011680" y="4279392"/>
            <a:ext cx="5925312" cy="329184"/>
          </a:xfrm>
          <a:prstGeom prst="rect">
            <a:avLst/>
          </a:prstGeom>
          <a:solidFill>
            <a:srgbClr val="FFF4E5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2066544" y="4315968"/>
            <a:ext cx="5815584" cy="26517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19" b="0" i="0">
                <a:solidFill>
                  <a:srgbClr val="161B26"/>
                </a:solidFill>
                <a:latin typeface="Arial"/>
              </a:rPr>
              <a:t>Module 4 — evaluation, documentation and handoff</a:t>
            </a:r>
          </a:p>
        </p:txBody>
      </p:sp>
      <p:sp>
        <p:nvSpPr>
          <p:cNvPr id="78" name="Rectangle 77"/>
          <p:cNvSpPr/>
          <p:nvPr/>
        </p:nvSpPr>
        <p:spPr>
          <a:xfrm>
            <a:off x="7936992" y="4279392"/>
            <a:ext cx="1444752" cy="329184"/>
          </a:xfrm>
          <a:prstGeom prst="rect">
            <a:avLst/>
          </a:prstGeom>
          <a:solidFill>
            <a:srgbClr val="FFF4E5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7991856" y="4315968"/>
            <a:ext cx="1335024" cy="26517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0" i="0">
                <a:solidFill>
                  <a:srgbClr val="161B26"/>
                </a:solidFill>
                <a:latin typeface="Arial"/>
              </a:rPr>
              <a:t>Concept + demo</a:t>
            </a:r>
          </a:p>
        </p:txBody>
      </p:sp>
      <p:sp>
        <p:nvSpPr>
          <p:cNvPr id="80" name="Rectangle 79"/>
          <p:cNvSpPr/>
          <p:nvPr/>
        </p:nvSpPr>
        <p:spPr>
          <a:xfrm>
            <a:off x="9381744" y="4279392"/>
            <a:ext cx="2112264" cy="329184"/>
          </a:xfrm>
          <a:prstGeom prst="rect">
            <a:avLst/>
          </a:prstGeom>
          <a:solidFill>
            <a:srgbClr val="FFF4E5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9436608" y="4315968"/>
            <a:ext cx="2002536" cy="26517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0" i="0">
                <a:solidFill>
                  <a:srgbClr val="161B26"/>
                </a:solidFill>
                <a:latin typeface="Arial"/>
              </a:rPr>
              <a:t>111–135</a:t>
            </a:r>
          </a:p>
        </p:txBody>
      </p:sp>
      <p:sp>
        <p:nvSpPr>
          <p:cNvPr id="82" name="Rectangle 81"/>
          <p:cNvSpPr/>
          <p:nvPr/>
        </p:nvSpPr>
        <p:spPr>
          <a:xfrm>
            <a:off x="658368" y="4608576"/>
            <a:ext cx="1353312" cy="329184"/>
          </a:xfrm>
          <a:prstGeom prst="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713232" y="4645152"/>
            <a:ext cx="1243584" cy="26517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0" i="0">
                <a:solidFill>
                  <a:srgbClr val="161B26"/>
                </a:solidFill>
                <a:latin typeface="Arial"/>
              </a:rPr>
              <a:t>16:20–16:45</a:t>
            </a:r>
          </a:p>
        </p:txBody>
      </p:sp>
      <p:sp>
        <p:nvSpPr>
          <p:cNvPr id="84" name="Rectangle 83"/>
          <p:cNvSpPr/>
          <p:nvPr/>
        </p:nvSpPr>
        <p:spPr>
          <a:xfrm>
            <a:off x="2011680" y="4608576"/>
            <a:ext cx="5925312" cy="329184"/>
          </a:xfrm>
          <a:prstGeom prst="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2066544" y="4645152"/>
            <a:ext cx="5815584" cy="26517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19" b="0" i="0">
                <a:solidFill>
                  <a:srgbClr val="161B26"/>
                </a:solidFill>
                <a:latin typeface="Arial"/>
              </a:rPr>
              <a:t>Lab 7 — Usability and Accessibility Evaluation</a:t>
            </a:r>
          </a:p>
        </p:txBody>
      </p:sp>
      <p:sp>
        <p:nvSpPr>
          <p:cNvPr id="86" name="Rectangle 85"/>
          <p:cNvSpPr/>
          <p:nvPr/>
        </p:nvSpPr>
        <p:spPr>
          <a:xfrm>
            <a:off x="7936992" y="4608576"/>
            <a:ext cx="1444752" cy="329184"/>
          </a:xfrm>
          <a:prstGeom prst="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TextBox 86"/>
          <p:cNvSpPr txBox="1"/>
          <p:nvPr/>
        </p:nvSpPr>
        <p:spPr>
          <a:xfrm>
            <a:off x="7991856" y="4645152"/>
            <a:ext cx="1335024" cy="26517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0" i="0">
                <a:solidFill>
                  <a:srgbClr val="161B26"/>
                </a:solidFill>
                <a:latin typeface="Arial"/>
              </a:rPr>
              <a:t>Hands-on</a:t>
            </a:r>
          </a:p>
        </p:txBody>
      </p:sp>
      <p:sp>
        <p:nvSpPr>
          <p:cNvPr id="88" name="Rectangle 87"/>
          <p:cNvSpPr/>
          <p:nvPr/>
        </p:nvSpPr>
        <p:spPr>
          <a:xfrm>
            <a:off x="9381744" y="4608576"/>
            <a:ext cx="2112264" cy="329184"/>
          </a:xfrm>
          <a:prstGeom prst="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TextBox 88"/>
          <p:cNvSpPr txBox="1"/>
          <p:nvPr/>
        </p:nvSpPr>
        <p:spPr>
          <a:xfrm>
            <a:off x="9436608" y="4645152"/>
            <a:ext cx="2002536" cy="26517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0" i="0">
                <a:solidFill>
                  <a:srgbClr val="161B26"/>
                </a:solidFill>
                <a:latin typeface="Arial"/>
              </a:rPr>
              <a:t>128–130</a:t>
            </a:r>
          </a:p>
        </p:txBody>
      </p:sp>
      <p:sp>
        <p:nvSpPr>
          <p:cNvPr id="90" name="Rectangle 89"/>
          <p:cNvSpPr/>
          <p:nvPr/>
        </p:nvSpPr>
        <p:spPr>
          <a:xfrm>
            <a:off x="658368" y="4937760"/>
            <a:ext cx="1353312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713232" y="4974336"/>
            <a:ext cx="1243584" cy="26517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0" i="0">
                <a:solidFill>
                  <a:srgbClr val="161B26"/>
                </a:solidFill>
                <a:latin typeface="Arial"/>
              </a:rPr>
              <a:t>16:45–17:10</a:t>
            </a:r>
          </a:p>
        </p:txBody>
      </p:sp>
      <p:sp>
        <p:nvSpPr>
          <p:cNvPr id="92" name="Rectangle 91"/>
          <p:cNvSpPr/>
          <p:nvPr/>
        </p:nvSpPr>
        <p:spPr>
          <a:xfrm>
            <a:off x="2011680" y="4937760"/>
            <a:ext cx="5925312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TextBox 92"/>
          <p:cNvSpPr txBox="1"/>
          <p:nvPr/>
        </p:nvSpPr>
        <p:spPr>
          <a:xfrm>
            <a:off x="2066544" y="4974336"/>
            <a:ext cx="5815584" cy="26517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19" b="1" i="0">
                <a:solidFill>
                  <a:srgbClr val="161B26"/>
                </a:solidFill>
                <a:latin typeface="Arial"/>
              </a:rPr>
              <a:t>Lab 8 — Documentation, Export and Handoff</a:t>
            </a:r>
          </a:p>
        </p:txBody>
      </p:sp>
      <p:sp>
        <p:nvSpPr>
          <p:cNvPr id="94" name="Rectangle 93"/>
          <p:cNvSpPr/>
          <p:nvPr/>
        </p:nvSpPr>
        <p:spPr>
          <a:xfrm>
            <a:off x="7936992" y="4937760"/>
            <a:ext cx="1444752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TextBox 94"/>
          <p:cNvSpPr txBox="1"/>
          <p:nvPr/>
        </p:nvSpPr>
        <p:spPr>
          <a:xfrm>
            <a:off x="7991856" y="4974336"/>
            <a:ext cx="1335024" cy="26517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0" i="0">
                <a:solidFill>
                  <a:srgbClr val="161B26"/>
                </a:solidFill>
                <a:latin typeface="Arial"/>
              </a:rPr>
              <a:t>Hands-on</a:t>
            </a:r>
          </a:p>
        </p:txBody>
      </p:sp>
      <p:sp>
        <p:nvSpPr>
          <p:cNvPr id="96" name="Rectangle 95"/>
          <p:cNvSpPr/>
          <p:nvPr/>
        </p:nvSpPr>
        <p:spPr>
          <a:xfrm>
            <a:off x="9381744" y="4937760"/>
            <a:ext cx="2112264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TextBox 96"/>
          <p:cNvSpPr txBox="1"/>
          <p:nvPr/>
        </p:nvSpPr>
        <p:spPr>
          <a:xfrm>
            <a:off x="9436608" y="4974336"/>
            <a:ext cx="2002536" cy="26517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0" i="0">
                <a:solidFill>
                  <a:srgbClr val="161B26"/>
                </a:solidFill>
                <a:latin typeface="Arial"/>
              </a:rPr>
              <a:t>131–133</a:t>
            </a:r>
          </a:p>
        </p:txBody>
      </p:sp>
      <p:sp>
        <p:nvSpPr>
          <p:cNvPr id="98" name="Rectangle 97"/>
          <p:cNvSpPr/>
          <p:nvPr/>
        </p:nvSpPr>
        <p:spPr>
          <a:xfrm>
            <a:off x="658368" y="5266944"/>
            <a:ext cx="1353312" cy="329184"/>
          </a:xfrm>
          <a:prstGeom prst="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TextBox 98"/>
          <p:cNvSpPr txBox="1"/>
          <p:nvPr/>
        </p:nvSpPr>
        <p:spPr>
          <a:xfrm>
            <a:off x="713232" y="5303520"/>
            <a:ext cx="1243584" cy="26517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0" i="0">
                <a:solidFill>
                  <a:srgbClr val="161B26"/>
                </a:solidFill>
                <a:latin typeface="Arial"/>
              </a:rPr>
              <a:t>17:10–17:30</a:t>
            </a:r>
          </a:p>
        </p:txBody>
      </p:sp>
      <p:sp>
        <p:nvSpPr>
          <p:cNvPr id="100" name="Rectangle 99"/>
          <p:cNvSpPr/>
          <p:nvPr/>
        </p:nvSpPr>
        <p:spPr>
          <a:xfrm>
            <a:off x="2011680" y="5266944"/>
            <a:ext cx="5925312" cy="329184"/>
          </a:xfrm>
          <a:prstGeom prst="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TextBox 100"/>
          <p:cNvSpPr txBox="1"/>
          <p:nvPr/>
        </p:nvSpPr>
        <p:spPr>
          <a:xfrm>
            <a:off x="2066544" y="5303520"/>
            <a:ext cx="5815584" cy="26517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19" b="1" i="0">
                <a:solidFill>
                  <a:srgbClr val="161B26"/>
                </a:solidFill>
                <a:latin typeface="Arial"/>
              </a:rPr>
              <a:t>Course recap, Q&amp;A and next steps</a:t>
            </a:r>
          </a:p>
        </p:txBody>
      </p:sp>
      <p:sp>
        <p:nvSpPr>
          <p:cNvPr id="102" name="Rectangle 101"/>
          <p:cNvSpPr/>
          <p:nvPr/>
        </p:nvSpPr>
        <p:spPr>
          <a:xfrm>
            <a:off x="7936992" y="5266944"/>
            <a:ext cx="1444752" cy="329184"/>
          </a:xfrm>
          <a:prstGeom prst="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TextBox 102"/>
          <p:cNvSpPr txBox="1"/>
          <p:nvPr/>
        </p:nvSpPr>
        <p:spPr>
          <a:xfrm>
            <a:off x="7991856" y="5303520"/>
            <a:ext cx="1335024" cy="26517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0" i="0">
                <a:solidFill>
                  <a:srgbClr val="161B26"/>
                </a:solidFill>
                <a:latin typeface="Arial"/>
              </a:rPr>
              <a:t>Recap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9381744" y="5266944"/>
            <a:ext cx="2112264" cy="329184"/>
          </a:xfrm>
          <a:prstGeom prst="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TextBox 104"/>
          <p:cNvSpPr txBox="1"/>
          <p:nvPr/>
        </p:nvSpPr>
        <p:spPr>
          <a:xfrm>
            <a:off x="9436608" y="5303520"/>
            <a:ext cx="2002536" cy="26517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0" i="0">
                <a:solidFill>
                  <a:srgbClr val="161B26"/>
                </a:solidFill>
                <a:latin typeface="Arial"/>
              </a:rPr>
              <a:t>—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1F6FEB"/>
                </a:solidFill>
                <a:latin typeface="Arial"/>
              </a:rPr>
              <a:t>COURSE ADMINISTRATION · LAB ACCESS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21792"/>
            <a:ext cx="10835640" cy="6583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 i="0">
                <a:solidFill>
                  <a:srgbClr val="161B26"/>
                </a:solidFill>
                <a:latin typeface="Arial"/>
              </a:rPr>
              <a:t>Access the hands-on labs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6419088"/>
            <a:ext cx="4663440" cy="2194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 i="0">
                <a:solidFill>
                  <a:srgbClr val="5B6372"/>
                </a:solidFill>
                <a:latin typeface="Arial"/>
              </a:rPr>
              <a:t>Claude Design for UX/UI · C744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89120" y="6419088"/>
            <a:ext cx="3657600" cy="2194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0" i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44200" y="6419088"/>
            <a:ext cx="731520" cy="2194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 i="0">
                <a:solidFill>
                  <a:srgbClr val="5B6372"/>
                </a:solidFill>
                <a:latin typeface="Arial"/>
              </a:rPr>
              <a:t>9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49808" y="1938528"/>
            <a:ext cx="1925726" cy="2423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49808" y="1938528"/>
            <a:ext cx="1925726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392631" y="2240280"/>
            <a:ext cx="640080" cy="64008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392631" y="2240280"/>
            <a:ext cx="640080" cy="6400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300" b="1" i="0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86968" y="3017520"/>
            <a:ext cx="1651406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 i="0">
                <a:solidFill>
                  <a:srgbClr val="1F6FEB"/>
                </a:solidFill>
                <a:latin typeface="Arial"/>
              </a:rPr>
              <a:t>Open repo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96112" y="3474720"/>
            <a:ext cx="1633118" cy="6126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0" i="0">
                <a:solidFill>
                  <a:srgbClr val="5B6372"/>
                </a:solidFill>
                <a:latin typeface="Arial"/>
              </a:rPr>
              <a:t>Use the course GitHub link.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2675534" y="3150108"/>
            <a:ext cx="274320" cy="0"/>
          </a:xfrm>
          <a:prstGeom prst="line">
            <a:avLst/>
          </a:prstGeom>
          <a:ln w="25400">
            <a:solidFill>
              <a:srgbClr val="1F6FE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2949854" y="1938528"/>
            <a:ext cx="1925726" cy="2423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2949854" y="1938528"/>
            <a:ext cx="1925726" cy="91440"/>
          </a:xfrm>
          <a:prstGeom prst="rect">
            <a:avLst/>
          </a:prstGeom>
          <a:solidFill>
            <a:srgbClr val="724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3592677" y="2240280"/>
            <a:ext cx="640080" cy="640080"/>
          </a:xfrm>
          <a:prstGeom prst="ellipse">
            <a:avLst/>
          </a:prstGeom>
          <a:solidFill>
            <a:srgbClr val="724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592677" y="2240280"/>
            <a:ext cx="640080" cy="6400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300" b="1" i="0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087014" y="3017520"/>
            <a:ext cx="1651406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 i="0">
                <a:solidFill>
                  <a:srgbClr val="724CD6"/>
                </a:solidFill>
                <a:latin typeface="Arial"/>
              </a:rPr>
              <a:t>Download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096158" y="3474720"/>
            <a:ext cx="1633118" cy="6126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0" i="0">
                <a:solidFill>
                  <a:srgbClr val="5B6372"/>
                </a:solidFill>
                <a:latin typeface="Arial"/>
              </a:rPr>
              <a:t>Choose Code → Download ZIP or clone the repository.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4875580" y="3150108"/>
            <a:ext cx="274320" cy="0"/>
          </a:xfrm>
          <a:prstGeom prst="line">
            <a:avLst/>
          </a:prstGeom>
          <a:ln w="25400">
            <a:solidFill>
              <a:srgbClr val="1F6FE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23"/>
          <p:cNvSpPr/>
          <p:nvPr/>
        </p:nvSpPr>
        <p:spPr>
          <a:xfrm>
            <a:off x="5149900" y="1938528"/>
            <a:ext cx="1925726" cy="2423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5149900" y="1938528"/>
            <a:ext cx="1925726" cy="91440"/>
          </a:xfrm>
          <a:prstGeom prst="rect">
            <a:avLst/>
          </a:prstGeom>
          <a:solidFill>
            <a:srgbClr val="1098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5792724" y="2240280"/>
            <a:ext cx="640080" cy="640080"/>
          </a:xfrm>
          <a:prstGeom prst="ellipse">
            <a:avLst/>
          </a:prstGeom>
          <a:solidFill>
            <a:srgbClr val="1098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792724" y="2240280"/>
            <a:ext cx="640080" cy="6400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300" b="1" i="0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287060" y="3017520"/>
            <a:ext cx="1651406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 i="0">
                <a:solidFill>
                  <a:srgbClr val="10988A"/>
                </a:solidFill>
                <a:latin typeface="Arial"/>
              </a:rPr>
              <a:t>Choose lab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296204" y="3474720"/>
            <a:ext cx="1633118" cy="6126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0" i="0">
                <a:solidFill>
                  <a:srgbClr val="5B6372"/>
                </a:solidFill>
                <a:latin typeface="Arial"/>
              </a:rPr>
              <a:t>Open one self-contained lab folder.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7075627" y="3150108"/>
            <a:ext cx="274320" cy="0"/>
          </a:xfrm>
          <a:prstGeom prst="line">
            <a:avLst/>
          </a:prstGeom>
          <a:ln w="25400">
            <a:solidFill>
              <a:srgbClr val="1F6FE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Rounded Rectangle 30"/>
          <p:cNvSpPr/>
          <p:nvPr/>
        </p:nvSpPr>
        <p:spPr>
          <a:xfrm>
            <a:off x="7349947" y="1938528"/>
            <a:ext cx="1925726" cy="2423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7349947" y="1938528"/>
            <a:ext cx="1925726" cy="91440"/>
          </a:xfrm>
          <a:prstGeom prst="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7992770" y="2240280"/>
            <a:ext cx="640080" cy="640080"/>
          </a:xfrm>
          <a:prstGeom prst="ellipse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992770" y="2240280"/>
            <a:ext cx="640080" cy="6400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300" b="1" i="0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487107" y="3017520"/>
            <a:ext cx="1651406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 i="0">
                <a:solidFill>
                  <a:srgbClr val="16845B"/>
                </a:solidFill>
                <a:latin typeface="Arial"/>
              </a:rPr>
              <a:t>Follow guide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496251" y="3474720"/>
            <a:ext cx="1633118" cy="6126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0" i="0">
                <a:solidFill>
                  <a:srgbClr val="5B6372"/>
                </a:solidFill>
                <a:latin typeface="Arial"/>
              </a:rPr>
              <a:t>Use the Learner Guide for detailed steps.</a:t>
            </a:r>
          </a:p>
        </p:txBody>
      </p:sp>
      <p:cxnSp>
        <p:nvCxnSpPr>
          <p:cNvPr id="37" name="Connector 36"/>
          <p:cNvCxnSpPr/>
          <p:nvPr/>
        </p:nvCxnSpPr>
        <p:spPr>
          <a:xfrm>
            <a:off x="9275673" y="3150108"/>
            <a:ext cx="274320" cy="0"/>
          </a:xfrm>
          <a:prstGeom prst="line">
            <a:avLst/>
          </a:prstGeom>
          <a:ln w="25400">
            <a:solidFill>
              <a:srgbClr val="1F6FE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Rounded Rectangle 37"/>
          <p:cNvSpPr/>
          <p:nvPr/>
        </p:nvSpPr>
        <p:spPr>
          <a:xfrm>
            <a:off x="9549993" y="1938528"/>
            <a:ext cx="1925726" cy="2423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9549993" y="1938528"/>
            <a:ext cx="1925726" cy="91440"/>
          </a:xfrm>
          <a:prstGeom prst="rect">
            <a:avLst/>
          </a:prstGeom>
          <a:solidFill>
            <a:srgbClr val="C77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10192816" y="2240280"/>
            <a:ext cx="640080" cy="640080"/>
          </a:xfrm>
          <a:prstGeom prst="ellipse">
            <a:avLst/>
          </a:prstGeom>
          <a:solidFill>
            <a:srgbClr val="C77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10192816" y="2240280"/>
            <a:ext cx="640080" cy="6400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300" b="1" i="0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687153" y="3017520"/>
            <a:ext cx="1651406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 i="0">
                <a:solidFill>
                  <a:srgbClr val="C77600"/>
                </a:solidFill>
                <a:latin typeface="Arial"/>
              </a:rPr>
              <a:t>Verify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696297" y="3474720"/>
            <a:ext cx="1633118" cy="6126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0" i="0">
                <a:solidFill>
                  <a:srgbClr val="5B6372"/>
                </a:solidFill>
                <a:latin typeface="Arial"/>
              </a:rPr>
              <a:t>Submit the named evidence and acceptance checks.</a:t>
            </a:r>
          </a:p>
        </p:txBody>
      </p:sp>
      <p:sp>
        <p:nvSpPr>
          <p:cNvPr id="44" name="Rectangle 43"/>
          <p:cNvSpPr/>
          <p:nvPr/>
        </p:nvSpPr>
        <p:spPr>
          <a:xfrm>
            <a:off x="749808" y="4754880"/>
            <a:ext cx="10725912" cy="80467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960120" y="4919472"/>
            <a:ext cx="182880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 i="0">
                <a:solidFill>
                  <a:srgbClr val="1F6FEB"/>
                </a:solidFill>
                <a:latin typeface="Arial"/>
              </a:rPr>
              <a:t>THE POINT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2331720" y="4855464"/>
            <a:ext cx="8778240" cy="39319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20" b="1" i="0">
                <a:solidFill>
                  <a:srgbClr val="161B26"/>
                </a:solidFill>
                <a:latin typeface="Arial"/>
              </a:rPr>
              <a:t>Every lab folder includes its own files, README and Sample-Code.pdf.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2971800" y="5669280"/>
            <a:ext cx="6263640" cy="31089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1" i="0">
                <a:solidFill>
                  <a:srgbClr val="1F6FEB"/>
                </a:solidFill>
                <a:latin typeface="Arial"/>
              </a:rPr>
              <a:t>https://github.com/tertiarycourses/C744-Claude-Design-for-UX-UI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58368" y="1737360"/>
            <a:ext cx="10835640" cy="329184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58368" y="1737360"/>
            <a:ext cx="128016" cy="32918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280160" y="2148840"/>
            <a:ext cx="8229600" cy="34747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 i="0">
                <a:solidFill>
                  <a:srgbClr val="1F6FEB"/>
                </a:solidFill>
                <a:latin typeface="Arial"/>
              </a:rPr>
              <a:t>MODULE 1 · LO1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80160" y="2606040"/>
            <a:ext cx="9098280" cy="8412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3400" b="1" i="0">
                <a:solidFill>
                  <a:srgbClr val="161B26"/>
                </a:solidFill>
                <a:latin typeface="Arial"/>
              </a:rPr>
              <a:t>Requirements and Principle-Led UI Design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80160" y="3703320"/>
            <a:ext cx="8869680" cy="6583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0" i="0">
                <a:solidFill>
                  <a:srgbClr val="5B6372"/>
                </a:solidFill>
                <a:latin typeface="Arial"/>
              </a:rPr>
              <a:t>From user needs and information flow to defensible interface decisions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46920" y="2103120"/>
            <a:ext cx="1234440" cy="10972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5400" b="1" i="0">
                <a:solidFill>
                  <a:srgbClr val="E2E8F0"/>
                </a:solidFill>
                <a:latin typeface="Arial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6419088"/>
            <a:ext cx="4663440" cy="2194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 i="0">
                <a:solidFill>
                  <a:srgbClr val="5B6372"/>
                </a:solidFill>
                <a:latin typeface="Arial"/>
              </a:rPr>
              <a:t>Claude Design for UX/UI · C744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389120" y="6419088"/>
            <a:ext cx="3657600" cy="2194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0" i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744200" y="6419088"/>
            <a:ext cx="731520" cy="2194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 i="0">
                <a:solidFill>
                  <a:srgbClr val="5B6372"/>
                </a:solidFill>
                <a:latin typeface="Arial"/>
              </a:rPr>
              <a:t>10</a:t>
            </a:r>
          </a:p>
        </p:txBody>
      </p:sp>
    </p:spTree>
  </p:cSld>
  <p:clrMapOvr>
    <a:masterClrMapping/>
  </p:clrMapOvr>
  <p:transition spd="med" advClick="1">
    <p:push dir="l"/>
  </p:transition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1F6FEB"/>
                </a:solidFill>
                <a:latin typeface="Arial"/>
              </a:rPr>
              <a:t>MODULE 1 · PRINCIPLE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21792"/>
            <a:ext cx="10835640" cy="6583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 i="0">
                <a:solidFill>
                  <a:srgbClr val="161B26"/>
                </a:solidFill>
                <a:latin typeface="Arial"/>
              </a:rPr>
              <a:t>UI and UX: different lenses, one outcome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6419088"/>
            <a:ext cx="4663440" cy="2194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 i="0">
                <a:solidFill>
                  <a:srgbClr val="5B6372"/>
                </a:solidFill>
                <a:latin typeface="Arial"/>
              </a:rPr>
              <a:t>Claude Design for UX/UI · C744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89120" y="6419088"/>
            <a:ext cx="3657600" cy="2194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0" i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26679" y="6419088"/>
            <a:ext cx="2834640" cy="2194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730" b="0" i="1">
                <a:solidFill>
                  <a:srgbClr val="949DA9"/>
                </a:solidFill>
                <a:latin typeface="Arial"/>
              </a:rPr>
              <a:t>Maze; UXPin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44200" y="6419088"/>
            <a:ext cx="731520" cy="2194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 i="0">
                <a:solidFill>
                  <a:srgbClr val="5B6372"/>
                </a:solidFill>
                <a:latin typeface="Arial"/>
              </a:rPr>
              <a:t>11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58368" y="1691640"/>
            <a:ext cx="2487168" cy="233172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58368" y="1691640"/>
            <a:ext cx="82296" cy="23317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877824" y="1874520"/>
            <a:ext cx="420624" cy="420624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77824" y="1874520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08176" y="1819656"/>
            <a:ext cx="1508760" cy="43891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320" b="1" i="0">
                <a:solidFill>
                  <a:srgbClr val="161B26"/>
                </a:solidFill>
                <a:latin typeface="Arial"/>
              </a:rPr>
              <a:t>UX lens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2386584"/>
            <a:ext cx="1965960" cy="133502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070" b="0" i="0">
                <a:solidFill>
                  <a:srgbClr val="5B6372"/>
                </a:solidFill>
                <a:latin typeface="Arial"/>
              </a:rPr>
              <a:t>The complete journey, task success and emotional experience.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14400" y="3703320"/>
            <a:ext cx="1078992" cy="25603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3703320"/>
            <a:ext cx="1078992" cy="25603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1" i="0">
                <a:solidFill>
                  <a:srgbClr val="FFFFFF"/>
                </a:solidFill>
                <a:latin typeface="Arial"/>
              </a:rPr>
              <a:t>DESIGN LENS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401568" y="1691640"/>
            <a:ext cx="2487168" cy="233172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401568" y="1691640"/>
            <a:ext cx="82296" cy="2331720"/>
          </a:xfrm>
          <a:prstGeom prst="rect">
            <a:avLst/>
          </a:prstGeom>
          <a:solidFill>
            <a:srgbClr val="724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3621024" y="1874520"/>
            <a:ext cx="420624" cy="420624"/>
          </a:xfrm>
          <a:prstGeom prst="ellipse">
            <a:avLst/>
          </a:prstGeom>
          <a:solidFill>
            <a:srgbClr val="724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621024" y="1874520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151376" y="1819656"/>
            <a:ext cx="1508760" cy="43891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320" b="1" i="0">
                <a:solidFill>
                  <a:srgbClr val="161B26"/>
                </a:solidFill>
                <a:latin typeface="Arial"/>
              </a:rPr>
              <a:t>UI lens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657600" y="2386584"/>
            <a:ext cx="1965960" cy="133502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070" b="0" i="0">
                <a:solidFill>
                  <a:srgbClr val="5B6372"/>
                </a:solidFill>
                <a:latin typeface="Arial"/>
              </a:rPr>
              <a:t>The visual and interactive layer users touch to complete the journey.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657600" y="3703320"/>
            <a:ext cx="1078992" cy="256032"/>
          </a:xfrm>
          <a:prstGeom prst="rect">
            <a:avLst/>
          </a:prstGeom>
          <a:solidFill>
            <a:srgbClr val="724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657600" y="3703320"/>
            <a:ext cx="1078992" cy="25603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1" i="0">
                <a:solidFill>
                  <a:srgbClr val="FFFFFF"/>
                </a:solidFill>
                <a:latin typeface="Arial"/>
              </a:rPr>
              <a:t>DESIGN LENS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144768" y="1691640"/>
            <a:ext cx="2487168" cy="233172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144768" y="1691640"/>
            <a:ext cx="82296" cy="2331720"/>
          </a:xfrm>
          <a:prstGeom prst="rect">
            <a:avLst/>
          </a:prstGeom>
          <a:solidFill>
            <a:srgbClr val="1098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6364224" y="1874520"/>
            <a:ext cx="420624" cy="420624"/>
          </a:xfrm>
          <a:prstGeom prst="ellipse">
            <a:avLst/>
          </a:prstGeom>
          <a:solidFill>
            <a:srgbClr val="1098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364224" y="1874520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894576" y="1819656"/>
            <a:ext cx="1508760" cy="43891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320" b="1" i="0">
                <a:solidFill>
                  <a:srgbClr val="161B26"/>
                </a:solidFill>
                <a:latin typeface="Arial"/>
              </a:rPr>
              <a:t>Shared ground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00800" y="2386584"/>
            <a:ext cx="1965960" cy="133502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070" b="0" i="0">
                <a:solidFill>
                  <a:srgbClr val="5B6372"/>
                </a:solidFill>
                <a:latin typeface="Arial"/>
              </a:rPr>
              <a:t>Research, flows, accessibility, testing and iteration connect both.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400800" y="3703320"/>
            <a:ext cx="1078992" cy="256032"/>
          </a:xfrm>
          <a:prstGeom prst="rect">
            <a:avLst/>
          </a:prstGeom>
          <a:solidFill>
            <a:srgbClr val="1098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400800" y="3703320"/>
            <a:ext cx="1078992" cy="25603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1" i="0">
                <a:solidFill>
                  <a:srgbClr val="FFFFFF"/>
                </a:solidFill>
                <a:latin typeface="Arial"/>
              </a:rPr>
              <a:t>DESIGN LENS</a:t>
            </a:r>
          </a:p>
        </p:txBody>
      </p:sp>
      <p:sp>
        <p:nvSpPr>
          <p:cNvPr id="35" name="Rectangle 34"/>
          <p:cNvSpPr/>
          <p:nvPr/>
        </p:nvSpPr>
        <p:spPr>
          <a:xfrm>
            <a:off x="8887968" y="1691640"/>
            <a:ext cx="2487168" cy="233172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8887968" y="1691640"/>
            <a:ext cx="82296" cy="2331720"/>
          </a:xfrm>
          <a:prstGeom prst="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9107424" y="1874520"/>
            <a:ext cx="420624" cy="420624"/>
          </a:xfrm>
          <a:prstGeom prst="ellipse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107424" y="1874520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637776" y="1819656"/>
            <a:ext cx="1508760" cy="43891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320" b="1" i="0">
                <a:solidFill>
                  <a:srgbClr val="161B26"/>
                </a:solidFill>
                <a:latin typeface="Arial"/>
              </a:rPr>
              <a:t>Outcome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144000" y="2386584"/>
            <a:ext cx="1965960" cy="133502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070" b="0" i="0">
                <a:solidFill>
                  <a:srgbClr val="5B6372"/>
                </a:solidFill>
                <a:latin typeface="Arial"/>
              </a:rPr>
              <a:t>A useful flow expressed through clear, predictable interface decisions.</a:t>
            </a:r>
          </a:p>
        </p:txBody>
      </p:sp>
      <p:sp>
        <p:nvSpPr>
          <p:cNvPr id="41" name="Rectangle 40"/>
          <p:cNvSpPr/>
          <p:nvPr/>
        </p:nvSpPr>
        <p:spPr>
          <a:xfrm>
            <a:off x="9144000" y="3703320"/>
            <a:ext cx="1078992" cy="256032"/>
          </a:xfrm>
          <a:prstGeom prst="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9144000" y="3703320"/>
            <a:ext cx="1078992" cy="25603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1" i="0">
                <a:solidFill>
                  <a:srgbClr val="FFFFFF"/>
                </a:solidFill>
                <a:latin typeface="Arial"/>
              </a:rPr>
              <a:t>DESIGN LENS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58368" y="4315968"/>
            <a:ext cx="10835640" cy="13258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914400" y="4480560"/>
            <a:ext cx="1828800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 i="0">
                <a:solidFill>
                  <a:srgbClr val="1F6FEB"/>
                </a:solidFill>
                <a:latin typeface="Arial"/>
              </a:rPr>
              <a:t>SYNTHESIS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14400" y="4846320"/>
            <a:ext cx="10195560" cy="56692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 i="0">
                <a:solidFill>
                  <a:srgbClr val="161B26"/>
                </a:solidFill>
                <a:latin typeface="Arial"/>
              </a:rPr>
              <a:t>The complete journey, task success and emotional experience; a useful flow expressed through clear, predictable interface decisions.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1F6FEB"/>
                </a:solidFill>
                <a:latin typeface="Arial"/>
              </a:rPr>
              <a:t>MODULE 1 · CASE LENS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21792"/>
            <a:ext cx="10835640" cy="6583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200" b="1" i="0">
                <a:solidFill>
                  <a:srgbClr val="161B26"/>
                </a:solidFill>
                <a:latin typeface="Arial"/>
              </a:rPr>
              <a:t>UI and UX: different lenses, one outcome — applied judgement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6419088"/>
            <a:ext cx="4663440" cy="2194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 i="0">
                <a:solidFill>
                  <a:srgbClr val="5B6372"/>
                </a:solidFill>
                <a:latin typeface="Arial"/>
              </a:rPr>
              <a:t>Claude Design for UX/UI · C744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89120" y="6419088"/>
            <a:ext cx="3657600" cy="2194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0" i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26679" y="6419088"/>
            <a:ext cx="2834640" cy="2194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730" b="0" i="1">
                <a:solidFill>
                  <a:srgbClr val="949DA9"/>
                </a:solidFill>
                <a:latin typeface="Arial"/>
              </a:rPr>
              <a:t>Maze; UXPin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44200" y="6419088"/>
            <a:ext cx="731520" cy="2194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 i="0">
                <a:solidFill>
                  <a:srgbClr val="5B6372"/>
                </a:solidFill>
                <a:latin typeface="Arial"/>
              </a:rPr>
              <a:t>12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58368" y="1755648"/>
            <a:ext cx="3392424" cy="3127248"/>
          </a:xfrm>
          <a:prstGeom prst="rect">
            <a:avLst/>
          </a:prstGeom>
          <a:solidFill>
            <a:srgbClr val="FFFFFF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58368" y="1755648"/>
            <a:ext cx="3392424" cy="91440"/>
          </a:xfrm>
          <a:prstGeom prst="rect">
            <a:avLst/>
          </a:prstGeom>
          <a:solidFill>
            <a:srgbClr val="F06F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886968" y="2029968"/>
            <a:ext cx="493776" cy="493776"/>
          </a:xfrm>
          <a:prstGeom prst="ellipse">
            <a:avLst/>
          </a:prstGeom>
          <a:solidFill>
            <a:srgbClr val="F06F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86968" y="2029968"/>
            <a:ext cx="493776" cy="49377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17904" y="2020824"/>
            <a:ext cx="2240280" cy="51206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F06F61"/>
                </a:solidFill>
                <a:latin typeface="Arial"/>
              </a:rPr>
              <a:t>CONTEXT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2798063"/>
            <a:ext cx="2834640" cy="16459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161B26"/>
                </a:solidFill>
                <a:latin typeface="Arial"/>
              </a:rPr>
              <a:t>A booking page looks polished but hides the next available date below the fold.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14400" y="4526280"/>
            <a:ext cx="2834640" cy="27432"/>
          </a:xfrm>
          <a:prstGeom prst="rect">
            <a:avLst/>
          </a:prstGeom>
          <a:solidFill>
            <a:srgbClr val="F06F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315968" y="1755648"/>
            <a:ext cx="3392424" cy="3127248"/>
          </a:xfrm>
          <a:prstGeom prst="rect">
            <a:avLst/>
          </a:prstGeom>
          <a:solidFill>
            <a:srgbClr val="FFFFFF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315968" y="1755648"/>
            <a:ext cx="3392424" cy="91440"/>
          </a:xfrm>
          <a:prstGeom prst="rect">
            <a:avLst/>
          </a:prstGeom>
          <a:solidFill>
            <a:srgbClr val="1098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4544568" y="2029968"/>
            <a:ext cx="493776" cy="493776"/>
          </a:xfrm>
          <a:prstGeom prst="ellipse">
            <a:avLst/>
          </a:prstGeom>
          <a:solidFill>
            <a:srgbClr val="1098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544568" y="2029968"/>
            <a:ext cx="493776" cy="49377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175504" y="2020824"/>
            <a:ext cx="2240280" cy="51206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10988A"/>
                </a:solidFill>
                <a:latin typeface="Arial"/>
              </a:rPr>
              <a:t>DESIGN MOVE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0" y="2798063"/>
            <a:ext cx="2834640" cy="16459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161B26"/>
                </a:solidFill>
                <a:latin typeface="Arial"/>
              </a:rPr>
              <a:t>Repair the task flow first, then use hierarchy to make the next action obvious.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572000" y="4526280"/>
            <a:ext cx="2834640" cy="27432"/>
          </a:xfrm>
          <a:prstGeom prst="rect">
            <a:avLst/>
          </a:prstGeom>
          <a:solidFill>
            <a:srgbClr val="1098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7973568" y="1755648"/>
            <a:ext cx="3392424" cy="3127248"/>
          </a:xfrm>
          <a:prstGeom prst="rect">
            <a:avLst/>
          </a:prstGeom>
          <a:solidFill>
            <a:srgbClr val="FFFFFF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973568" y="1755648"/>
            <a:ext cx="3392424" cy="91440"/>
          </a:xfrm>
          <a:prstGeom prst="rect">
            <a:avLst/>
          </a:prstGeom>
          <a:solidFill>
            <a:srgbClr val="724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8202168" y="2029968"/>
            <a:ext cx="493776" cy="493776"/>
          </a:xfrm>
          <a:prstGeom prst="ellipse">
            <a:avLst/>
          </a:prstGeom>
          <a:solidFill>
            <a:srgbClr val="724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202168" y="2029968"/>
            <a:ext cx="493776" cy="49377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833104" y="2020824"/>
            <a:ext cx="2240280" cy="51206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724CD6"/>
                </a:solidFill>
                <a:latin typeface="Arial"/>
              </a:rPr>
              <a:t>EVIDENCE STANDARD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229600" y="2798063"/>
            <a:ext cx="2834640" cy="16459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161B26"/>
                </a:solidFill>
                <a:latin typeface="Arial"/>
              </a:rPr>
              <a:t>Task completion and error evidence outrank aesthetic preference.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8229600" y="4526280"/>
            <a:ext cx="2834640" cy="27432"/>
          </a:xfrm>
          <a:prstGeom prst="rect">
            <a:avLst/>
          </a:prstGeom>
          <a:solidFill>
            <a:srgbClr val="724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58368" y="5102352"/>
            <a:ext cx="10835640" cy="56692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14400" y="5239512"/>
            <a:ext cx="10241280" cy="29260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250" b="1" i="0">
                <a:solidFill>
                  <a:srgbClr val="161B26"/>
                </a:solidFill>
                <a:latin typeface="Arial"/>
              </a:rPr>
              <a:t>Ask: what user outcome changes, and what evidence would prove it?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1F6FEB"/>
                </a:solidFill>
                <a:latin typeface="Arial"/>
              </a:rPr>
              <a:t>MODULE 1 · PRINCIPLE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21792"/>
            <a:ext cx="10835640" cy="6583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 i="0">
                <a:solidFill>
                  <a:srgbClr val="161B26"/>
                </a:solidFill>
                <a:latin typeface="Arial"/>
              </a:rPr>
              <a:t>User-centricity begins with a job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6419088"/>
            <a:ext cx="4663440" cy="2194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 i="0">
                <a:solidFill>
                  <a:srgbClr val="5B6372"/>
                </a:solidFill>
                <a:latin typeface="Arial"/>
              </a:rPr>
              <a:t>Claude Design for UX/UI · C744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89120" y="6419088"/>
            <a:ext cx="3657600" cy="2194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0" i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26679" y="6419088"/>
            <a:ext cx="2834640" cy="2194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730" b="0" i="1">
                <a:solidFill>
                  <a:srgbClr val="949DA9"/>
                </a:solidFill>
                <a:latin typeface="Arial"/>
              </a:rPr>
              <a:t>Microsoft; MockFlow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44200" y="6419088"/>
            <a:ext cx="731520" cy="2194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 i="0">
                <a:solidFill>
                  <a:srgbClr val="5B6372"/>
                </a:solidFill>
                <a:latin typeface="Arial"/>
              </a:rPr>
              <a:t>13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58368" y="1691640"/>
            <a:ext cx="2487168" cy="233172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58368" y="1691640"/>
            <a:ext cx="82296" cy="23317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877824" y="1874520"/>
            <a:ext cx="420624" cy="420624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77824" y="1874520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08176" y="1819656"/>
            <a:ext cx="1508760" cy="43891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320" b="1" i="0">
                <a:solidFill>
                  <a:srgbClr val="161B26"/>
                </a:solidFill>
                <a:latin typeface="Arial"/>
              </a:rPr>
              <a:t>Actor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2386584"/>
            <a:ext cx="1965960" cy="133502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070" b="0" i="0">
                <a:solidFill>
                  <a:srgbClr val="5B6372"/>
                </a:solidFill>
                <a:latin typeface="Arial"/>
              </a:rPr>
              <a:t>Name the primary user and the context in which they act.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14400" y="3703320"/>
            <a:ext cx="1078992" cy="25603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3703320"/>
            <a:ext cx="1078992" cy="25603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1" i="0">
                <a:solidFill>
                  <a:srgbClr val="FFFFFF"/>
                </a:solidFill>
                <a:latin typeface="Arial"/>
              </a:rPr>
              <a:t>DESIGN LENS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401568" y="1691640"/>
            <a:ext cx="2487168" cy="233172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401568" y="1691640"/>
            <a:ext cx="82296" cy="2331720"/>
          </a:xfrm>
          <a:prstGeom prst="rect">
            <a:avLst/>
          </a:prstGeom>
          <a:solidFill>
            <a:srgbClr val="724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3621024" y="1874520"/>
            <a:ext cx="420624" cy="420624"/>
          </a:xfrm>
          <a:prstGeom prst="ellipse">
            <a:avLst/>
          </a:prstGeom>
          <a:solidFill>
            <a:srgbClr val="724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621024" y="1874520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151376" y="1819656"/>
            <a:ext cx="1508760" cy="43891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320" b="1" i="0">
                <a:solidFill>
                  <a:srgbClr val="161B26"/>
                </a:solidFill>
                <a:latin typeface="Arial"/>
              </a:rPr>
              <a:t>Job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657600" y="2386584"/>
            <a:ext cx="1965960" cy="133502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070" b="0" i="0">
                <a:solidFill>
                  <a:srgbClr val="5B6372"/>
                </a:solidFill>
                <a:latin typeface="Arial"/>
              </a:rPr>
              <a:t>State the outcome the user is trying to achieve, not the feature requested.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657600" y="3703320"/>
            <a:ext cx="1078992" cy="256032"/>
          </a:xfrm>
          <a:prstGeom prst="rect">
            <a:avLst/>
          </a:prstGeom>
          <a:solidFill>
            <a:srgbClr val="724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657600" y="3703320"/>
            <a:ext cx="1078992" cy="25603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1" i="0">
                <a:solidFill>
                  <a:srgbClr val="FFFFFF"/>
                </a:solidFill>
                <a:latin typeface="Arial"/>
              </a:rPr>
              <a:t>DESIGN LENS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144768" y="1691640"/>
            <a:ext cx="2487168" cy="233172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144768" y="1691640"/>
            <a:ext cx="82296" cy="2331720"/>
          </a:xfrm>
          <a:prstGeom prst="rect">
            <a:avLst/>
          </a:prstGeom>
          <a:solidFill>
            <a:srgbClr val="1098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6364224" y="1874520"/>
            <a:ext cx="420624" cy="420624"/>
          </a:xfrm>
          <a:prstGeom prst="ellipse">
            <a:avLst/>
          </a:prstGeom>
          <a:solidFill>
            <a:srgbClr val="1098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364224" y="1874520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894576" y="1819656"/>
            <a:ext cx="1508760" cy="43891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320" b="1" i="0">
                <a:solidFill>
                  <a:srgbClr val="161B26"/>
                </a:solidFill>
                <a:latin typeface="Arial"/>
              </a:rPr>
              <a:t>Barrier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00800" y="2386584"/>
            <a:ext cx="1965960" cy="133502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070" b="0" i="0">
                <a:solidFill>
                  <a:srgbClr val="5B6372"/>
                </a:solidFill>
                <a:latin typeface="Arial"/>
              </a:rPr>
              <a:t>Capture what makes the job slow, risky or confusing today.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400800" y="3703320"/>
            <a:ext cx="1078992" cy="256032"/>
          </a:xfrm>
          <a:prstGeom prst="rect">
            <a:avLst/>
          </a:prstGeom>
          <a:solidFill>
            <a:srgbClr val="1098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400800" y="3703320"/>
            <a:ext cx="1078992" cy="25603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1" i="0">
                <a:solidFill>
                  <a:srgbClr val="FFFFFF"/>
                </a:solidFill>
                <a:latin typeface="Arial"/>
              </a:rPr>
              <a:t>DESIGN LENS</a:t>
            </a:r>
          </a:p>
        </p:txBody>
      </p:sp>
      <p:sp>
        <p:nvSpPr>
          <p:cNvPr id="35" name="Rectangle 34"/>
          <p:cNvSpPr/>
          <p:nvPr/>
        </p:nvSpPr>
        <p:spPr>
          <a:xfrm>
            <a:off x="8887968" y="1691640"/>
            <a:ext cx="2487168" cy="233172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8887968" y="1691640"/>
            <a:ext cx="82296" cy="2331720"/>
          </a:xfrm>
          <a:prstGeom prst="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9107424" y="1874520"/>
            <a:ext cx="420624" cy="420624"/>
          </a:xfrm>
          <a:prstGeom prst="ellipse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107424" y="1874520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637776" y="1819656"/>
            <a:ext cx="1508760" cy="43891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320" b="1" i="0">
                <a:solidFill>
                  <a:srgbClr val="161B26"/>
                </a:solidFill>
                <a:latin typeface="Arial"/>
              </a:rPr>
              <a:t>Success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144000" y="2386584"/>
            <a:ext cx="1965960" cy="133502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070" b="0" i="0">
                <a:solidFill>
                  <a:srgbClr val="5B6372"/>
                </a:solidFill>
                <a:latin typeface="Arial"/>
              </a:rPr>
              <a:t>Define an observable result the interface should make easier.</a:t>
            </a:r>
          </a:p>
        </p:txBody>
      </p:sp>
      <p:sp>
        <p:nvSpPr>
          <p:cNvPr id="41" name="Rectangle 40"/>
          <p:cNvSpPr/>
          <p:nvPr/>
        </p:nvSpPr>
        <p:spPr>
          <a:xfrm>
            <a:off x="9144000" y="3703320"/>
            <a:ext cx="1078992" cy="256032"/>
          </a:xfrm>
          <a:prstGeom prst="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9144000" y="3703320"/>
            <a:ext cx="1078992" cy="25603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1" i="0">
                <a:solidFill>
                  <a:srgbClr val="FFFFFF"/>
                </a:solidFill>
                <a:latin typeface="Arial"/>
              </a:rPr>
              <a:t>DESIGN LENS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58368" y="4315968"/>
            <a:ext cx="10835640" cy="13258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914400" y="4480560"/>
            <a:ext cx="1828800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 i="0">
                <a:solidFill>
                  <a:srgbClr val="1F6FEB"/>
                </a:solidFill>
                <a:latin typeface="Arial"/>
              </a:rPr>
              <a:t>SYNTHESIS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14400" y="4846320"/>
            <a:ext cx="10195560" cy="56692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 i="0">
                <a:solidFill>
                  <a:srgbClr val="161B26"/>
                </a:solidFill>
                <a:latin typeface="Arial"/>
              </a:rPr>
              <a:t>Name the primary user and the context in which they act; define an observable result the interface should make easier.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1F6FEB"/>
                </a:solidFill>
                <a:latin typeface="Arial"/>
              </a:rPr>
              <a:t>MODULE 1 · CASE LENS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21792"/>
            <a:ext cx="10835640" cy="6583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500" b="1" i="0">
                <a:solidFill>
                  <a:srgbClr val="161B26"/>
                </a:solidFill>
                <a:latin typeface="Arial"/>
              </a:rPr>
              <a:t>User-centricity begins with a job — applied judgement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6419088"/>
            <a:ext cx="4663440" cy="2194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 i="0">
                <a:solidFill>
                  <a:srgbClr val="5B6372"/>
                </a:solidFill>
                <a:latin typeface="Arial"/>
              </a:rPr>
              <a:t>Claude Design for UX/UI · C744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89120" y="6419088"/>
            <a:ext cx="3657600" cy="2194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0" i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26679" y="6419088"/>
            <a:ext cx="2834640" cy="2194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730" b="0" i="1">
                <a:solidFill>
                  <a:srgbClr val="949DA9"/>
                </a:solidFill>
                <a:latin typeface="Arial"/>
              </a:rPr>
              <a:t>Microsoft; MockFlow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44200" y="6419088"/>
            <a:ext cx="731520" cy="2194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 i="0">
                <a:solidFill>
                  <a:srgbClr val="5B6372"/>
                </a:solidFill>
                <a:latin typeface="Arial"/>
              </a:rPr>
              <a:t>14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58368" y="1755648"/>
            <a:ext cx="3392424" cy="3127248"/>
          </a:xfrm>
          <a:prstGeom prst="rect">
            <a:avLst/>
          </a:prstGeom>
          <a:solidFill>
            <a:srgbClr val="FFFFFF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58368" y="1755648"/>
            <a:ext cx="3392424" cy="91440"/>
          </a:xfrm>
          <a:prstGeom prst="rect">
            <a:avLst/>
          </a:prstGeom>
          <a:solidFill>
            <a:srgbClr val="F06F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886968" y="2029968"/>
            <a:ext cx="493776" cy="493776"/>
          </a:xfrm>
          <a:prstGeom prst="ellipse">
            <a:avLst/>
          </a:prstGeom>
          <a:solidFill>
            <a:srgbClr val="F06F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86968" y="2029968"/>
            <a:ext cx="493776" cy="49377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17904" y="2020824"/>
            <a:ext cx="2240280" cy="51206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F06F61"/>
                </a:solidFill>
                <a:latin typeface="Arial"/>
              </a:rPr>
              <a:t>CONTEXT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2798063"/>
            <a:ext cx="2834640" cy="16459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161B26"/>
                </a:solidFill>
                <a:latin typeface="Arial"/>
              </a:rPr>
              <a:t>A team asks for a dashboard because competitors have one.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14400" y="4526280"/>
            <a:ext cx="2834640" cy="27432"/>
          </a:xfrm>
          <a:prstGeom prst="rect">
            <a:avLst/>
          </a:prstGeom>
          <a:solidFill>
            <a:srgbClr val="F06F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315968" y="1755648"/>
            <a:ext cx="3392424" cy="3127248"/>
          </a:xfrm>
          <a:prstGeom prst="rect">
            <a:avLst/>
          </a:prstGeom>
          <a:solidFill>
            <a:srgbClr val="FFFFFF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315968" y="1755648"/>
            <a:ext cx="3392424" cy="91440"/>
          </a:xfrm>
          <a:prstGeom prst="rect">
            <a:avLst/>
          </a:prstGeom>
          <a:solidFill>
            <a:srgbClr val="1098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4544568" y="2029968"/>
            <a:ext cx="493776" cy="493776"/>
          </a:xfrm>
          <a:prstGeom prst="ellipse">
            <a:avLst/>
          </a:prstGeom>
          <a:solidFill>
            <a:srgbClr val="1098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544568" y="2029968"/>
            <a:ext cx="493776" cy="49377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175504" y="2020824"/>
            <a:ext cx="2240280" cy="51206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10988A"/>
                </a:solidFill>
                <a:latin typeface="Arial"/>
              </a:rPr>
              <a:t>DESIGN MOVE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0" y="2798063"/>
            <a:ext cx="2834640" cy="16459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161B26"/>
                </a:solidFill>
                <a:latin typeface="Arial"/>
              </a:rPr>
              <a:t>Reframe the request around the decisions users must make and the signals they need.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572000" y="4526280"/>
            <a:ext cx="2834640" cy="27432"/>
          </a:xfrm>
          <a:prstGeom prst="rect">
            <a:avLst/>
          </a:prstGeom>
          <a:solidFill>
            <a:srgbClr val="1098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7973568" y="1755648"/>
            <a:ext cx="3392424" cy="3127248"/>
          </a:xfrm>
          <a:prstGeom prst="rect">
            <a:avLst/>
          </a:prstGeom>
          <a:solidFill>
            <a:srgbClr val="FFFFFF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973568" y="1755648"/>
            <a:ext cx="3392424" cy="91440"/>
          </a:xfrm>
          <a:prstGeom prst="rect">
            <a:avLst/>
          </a:prstGeom>
          <a:solidFill>
            <a:srgbClr val="724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8202168" y="2029968"/>
            <a:ext cx="493776" cy="493776"/>
          </a:xfrm>
          <a:prstGeom prst="ellipse">
            <a:avLst/>
          </a:prstGeom>
          <a:solidFill>
            <a:srgbClr val="724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202168" y="2029968"/>
            <a:ext cx="493776" cy="49377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833104" y="2020824"/>
            <a:ext cx="2240280" cy="51206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724CD6"/>
                </a:solidFill>
                <a:latin typeface="Arial"/>
              </a:rPr>
              <a:t>EVIDENCE STANDARD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229600" y="2798063"/>
            <a:ext cx="2834640" cy="16459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161B26"/>
                </a:solidFill>
                <a:latin typeface="Arial"/>
              </a:rPr>
              <a:t>A strong brief connects business intent to a real user outcome.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8229600" y="4526280"/>
            <a:ext cx="2834640" cy="27432"/>
          </a:xfrm>
          <a:prstGeom prst="rect">
            <a:avLst/>
          </a:prstGeom>
          <a:solidFill>
            <a:srgbClr val="724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58368" y="5102352"/>
            <a:ext cx="10835640" cy="56692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14400" y="5239512"/>
            <a:ext cx="10241280" cy="29260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250" b="1" i="0">
                <a:solidFill>
                  <a:srgbClr val="161B26"/>
                </a:solidFill>
                <a:latin typeface="Arial"/>
              </a:rPr>
              <a:t>Ask: what user outcome changes, and what evidence would prove it?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1F6FEB"/>
                </a:solidFill>
                <a:latin typeface="Arial"/>
              </a:rPr>
              <a:t>MODULE 1 · PRINCIPLE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21792"/>
            <a:ext cx="10835640" cy="6583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 i="0">
                <a:solidFill>
                  <a:srgbClr val="161B26"/>
                </a:solidFill>
                <a:latin typeface="Arial"/>
              </a:rPr>
              <a:t>Design thinking with AI support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6419088"/>
            <a:ext cx="4663440" cy="2194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 i="0">
                <a:solidFill>
                  <a:srgbClr val="5B6372"/>
                </a:solidFill>
                <a:latin typeface="Arial"/>
              </a:rPr>
              <a:t>Claude Design for UX/UI · C744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89120" y="6419088"/>
            <a:ext cx="3657600" cy="2194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0" i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26679" y="6419088"/>
            <a:ext cx="2834640" cy="2194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730" b="0" i="1">
                <a:solidFill>
                  <a:srgbClr val="949DA9"/>
                </a:solidFill>
                <a:latin typeface="Arial"/>
              </a:rPr>
              <a:t>Figma; Maze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44200" y="6419088"/>
            <a:ext cx="731520" cy="2194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 i="0">
                <a:solidFill>
                  <a:srgbClr val="5B6372"/>
                </a:solidFill>
                <a:latin typeface="Arial"/>
              </a:rPr>
              <a:t>15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58368" y="1691640"/>
            <a:ext cx="2487168" cy="233172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58368" y="1691640"/>
            <a:ext cx="82296" cy="23317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877824" y="1874520"/>
            <a:ext cx="420624" cy="420624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77824" y="1874520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08176" y="1819656"/>
            <a:ext cx="1508760" cy="43891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320" b="1" i="0">
                <a:solidFill>
                  <a:srgbClr val="161B26"/>
                </a:solidFill>
                <a:latin typeface="Arial"/>
              </a:rPr>
              <a:t>Empathise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2386584"/>
            <a:ext cx="1965960" cy="133502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070" b="0" i="0">
                <a:solidFill>
                  <a:srgbClr val="5B6372"/>
                </a:solidFill>
                <a:latin typeface="Arial"/>
              </a:rPr>
              <a:t>Use interviews, observations and existing evidence; AI helps synthesize.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14400" y="3703320"/>
            <a:ext cx="1078992" cy="25603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3703320"/>
            <a:ext cx="1078992" cy="25603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1" i="0">
                <a:solidFill>
                  <a:srgbClr val="FFFFFF"/>
                </a:solidFill>
                <a:latin typeface="Arial"/>
              </a:rPr>
              <a:t>DESIGN LENS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401568" y="1691640"/>
            <a:ext cx="2487168" cy="233172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401568" y="1691640"/>
            <a:ext cx="82296" cy="2331720"/>
          </a:xfrm>
          <a:prstGeom prst="rect">
            <a:avLst/>
          </a:prstGeom>
          <a:solidFill>
            <a:srgbClr val="724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3621024" y="1874520"/>
            <a:ext cx="420624" cy="420624"/>
          </a:xfrm>
          <a:prstGeom prst="ellipse">
            <a:avLst/>
          </a:prstGeom>
          <a:solidFill>
            <a:srgbClr val="724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621024" y="1874520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151376" y="1819656"/>
            <a:ext cx="1508760" cy="43891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320" b="1" i="0">
                <a:solidFill>
                  <a:srgbClr val="161B26"/>
                </a:solidFill>
                <a:latin typeface="Arial"/>
              </a:rPr>
              <a:t>Define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657600" y="2386584"/>
            <a:ext cx="1965960" cy="133502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070" b="0" i="0">
                <a:solidFill>
                  <a:srgbClr val="5B6372"/>
                </a:solidFill>
                <a:latin typeface="Arial"/>
              </a:rPr>
              <a:t>Turn patterns into a focused problem statement and constraints.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657600" y="3703320"/>
            <a:ext cx="1078992" cy="256032"/>
          </a:xfrm>
          <a:prstGeom prst="rect">
            <a:avLst/>
          </a:prstGeom>
          <a:solidFill>
            <a:srgbClr val="724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657600" y="3703320"/>
            <a:ext cx="1078992" cy="25603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1" i="0">
                <a:solidFill>
                  <a:srgbClr val="FFFFFF"/>
                </a:solidFill>
                <a:latin typeface="Arial"/>
              </a:rPr>
              <a:t>DESIGN LENS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144768" y="1691640"/>
            <a:ext cx="2487168" cy="233172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144768" y="1691640"/>
            <a:ext cx="82296" cy="2331720"/>
          </a:xfrm>
          <a:prstGeom prst="rect">
            <a:avLst/>
          </a:prstGeom>
          <a:solidFill>
            <a:srgbClr val="1098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6364224" y="1874520"/>
            <a:ext cx="420624" cy="420624"/>
          </a:xfrm>
          <a:prstGeom prst="ellipse">
            <a:avLst/>
          </a:prstGeom>
          <a:solidFill>
            <a:srgbClr val="1098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364224" y="1874520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894576" y="1819656"/>
            <a:ext cx="1508760" cy="43891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320" b="1" i="0">
                <a:solidFill>
                  <a:srgbClr val="161B26"/>
                </a:solidFill>
                <a:latin typeface="Arial"/>
              </a:rPr>
              <a:t>Ideate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00800" y="2386584"/>
            <a:ext cx="1965960" cy="133502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070" b="0" i="0">
                <a:solidFill>
                  <a:srgbClr val="5B6372"/>
                </a:solidFill>
                <a:latin typeface="Arial"/>
              </a:rPr>
              <a:t>Generate divergent directions without confusing volume with quality.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400800" y="3703320"/>
            <a:ext cx="1078992" cy="256032"/>
          </a:xfrm>
          <a:prstGeom prst="rect">
            <a:avLst/>
          </a:prstGeom>
          <a:solidFill>
            <a:srgbClr val="1098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400800" y="3703320"/>
            <a:ext cx="1078992" cy="25603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1" i="0">
                <a:solidFill>
                  <a:srgbClr val="FFFFFF"/>
                </a:solidFill>
                <a:latin typeface="Arial"/>
              </a:rPr>
              <a:t>DESIGN LENS</a:t>
            </a:r>
          </a:p>
        </p:txBody>
      </p:sp>
      <p:sp>
        <p:nvSpPr>
          <p:cNvPr id="35" name="Rectangle 34"/>
          <p:cNvSpPr/>
          <p:nvPr/>
        </p:nvSpPr>
        <p:spPr>
          <a:xfrm>
            <a:off x="8887968" y="1691640"/>
            <a:ext cx="2487168" cy="233172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8887968" y="1691640"/>
            <a:ext cx="82296" cy="2331720"/>
          </a:xfrm>
          <a:prstGeom prst="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9107424" y="1874520"/>
            <a:ext cx="420624" cy="420624"/>
          </a:xfrm>
          <a:prstGeom prst="ellipse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107424" y="1874520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637776" y="1819656"/>
            <a:ext cx="1508760" cy="43891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320" b="1" i="0">
                <a:solidFill>
                  <a:srgbClr val="161B26"/>
                </a:solidFill>
                <a:latin typeface="Arial"/>
              </a:rPr>
              <a:t>Prototype + test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144000" y="2386584"/>
            <a:ext cx="1965960" cy="133502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070" b="0" i="0">
                <a:solidFill>
                  <a:srgbClr val="5B6372"/>
                </a:solidFill>
                <a:latin typeface="Arial"/>
              </a:rPr>
              <a:t>Make assumptions visible, test them, and iterate from evidence.</a:t>
            </a:r>
          </a:p>
        </p:txBody>
      </p:sp>
      <p:sp>
        <p:nvSpPr>
          <p:cNvPr id="41" name="Rectangle 40"/>
          <p:cNvSpPr/>
          <p:nvPr/>
        </p:nvSpPr>
        <p:spPr>
          <a:xfrm>
            <a:off x="9144000" y="3703320"/>
            <a:ext cx="1078992" cy="256032"/>
          </a:xfrm>
          <a:prstGeom prst="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9144000" y="3703320"/>
            <a:ext cx="1078992" cy="25603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1" i="0">
                <a:solidFill>
                  <a:srgbClr val="FFFFFF"/>
                </a:solidFill>
                <a:latin typeface="Arial"/>
              </a:rPr>
              <a:t>DESIGN LENS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58368" y="4315968"/>
            <a:ext cx="10835640" cy="13258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914400" y="4480560"/>
            <a:ext cx="1828800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 i="0">
                <a:solidFill>
                  <a:srgbClr val="1F6FEB"/>
                </a:solidFill>
                <a:latin typeface="Arial"/>
              </a:rPr>
              <a:t>SYNTHESIS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14400" y="4846320"/>
            <a:ext cx="10195560" cy="56692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 i="0">
                <a:solidFill>
                  <a:srgbClr val="161B26"/>
                </a:solidFill>
                <a:latin typeface="Arial"/>
              </a:rPr>
              <a:t>Use interviews, observations and existing evidence; AI helps synthesize; make assumptions visible, test them, and iterate from evidence.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1F6FEB"/>
                </a:solidFill>
                <a:latin typeface="Arial"/>
              </a:rPr>
              <a:t>MODULE 1 · CASE LENS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21792"/>
            <a:ext cx="10835640" cy="6583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 i="0">
                <a:solidFill>
                  <a:srgbClr val="161B26"/>
                </a:solidFill>
                <a:latin typeface="Arial"/>
              </a:rPr>
              <a:t>Design thinking with AI support — applied judgement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6419088"/>
            <a:ext cx="4663440" cy="2194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 i="0">
                <a:solidFill>
                  <a:srgbClr val="5B6372"/>
                </a:solidFill>
                <a:latin typeface="Arial"/>
              </a:rPr>
              <a:t>Claude Design for UX/UI · C744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89120" y="6419088"/>
            <a:ext cx="3657600" cy="2194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0" i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26679" y="6419088"/>
            <a:ext cx="2834640" cy="2194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730" b="0" i="1">
                <a:solidFill>
                  <a:srgbClr val="949DA9"/>
                </a:solidFill>
                <a:latin typeface="Arial"/>
              </a:rPr>
              <a:t>Figma; Maze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44200" y="6419088"/>
            <a:ext cx="731520" cy="2194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 i="0">
                <a:solidFill>
                  <a:srgbClr val="5B6372"/>
                </a:solidFill>
                <a:latin typeface="Arial"/>
              </a:rPr>
              <a:t>16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58368" y="1755648"/>
            <a:ext cx="3392424" cy="3127248"/>
          </a:xfrm>
          <a:prstGeom prst="rect">
            <a:avLst/>
          </a:prstGeom>
          <a:solidFill>
            <a:srgbClr val="FFFFFF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58368" y="1755648"/>
            <a:ext cx="3392424" cy="91440"/>
          </a:xfrm>
          <a:prstGeom prst="rect">
            <a:avLst/>
          </a:prstGeom>
          <a:solidFill>
            <a:srgbClr val="F06F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886968" y="2029968"/>
            <a:ext cx="493776" cy="493776"/>
          </a:xfrm>
          <a:prstGeom prst="ellipse">
            <a:avLst/>
          </a:prstGeom>
          <a:solidFill>
            <a:srgbClr val="F06F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86968" y="2029968"/>
            <a:ext cx="493776" cy="49377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17904" y="2020824"/>
            <a:ext cx="2240280" cy="51206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F06F61"/>
                </a:solidFill>
                <a:latin typeface="Arial"/>
              </a:rPr>
              <a:t>CONTEXT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2798063"/>
            <a:ext cx="2834640" cy="16459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161B26"/>
                </a:solidFill>
                <a:latin typeface="Arial"/>
              </a:rPr>
              <a:t>Claude produces ten attractive concepts from a vague prompt.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14400" y="4526280"/>
            <a:ext cx="2834640" cy="27432"/>
          </a:xfrm>
          <a:prstGeom prst="rect">
            <a:avLst/>
          </a:prstGeom>
          <a:solidFill>
            <a:srgbClr val="F06F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315968" y="1755648"/>
            <a:ext cx="3392424" cy="3127248"/>
          </a:xfrm>
          <a:prstGeom prst="rect">
            <a:avLst/>
          </a:prstGeom>
          <a:solidFill>
            <a:srgbClr val="FFFFFF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315968" y="1755648"/>
            <a:ext cx="3392424" cy="91440"/>
          </a:xfrm>
          <a:prstGeom prst="rect">
            <a:avLst/>
          </a:prstGeom>
          <a:solidFill>
            <a:srgbClr val="1098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4544568" y="2029968"/>
            <a:ext cx="493776" cy="493776"/>
          </a:xfrm>
          <a:prstGeom prst="ellipse">
            <a:avLst/>
          </a:prstGeom>
          <a:solidFill>
            <a:srgbClr val="1098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544568" y="2029968"/>
            <a:ext cx="493776" cy="49377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175504" y="2020824"/>
            <a:ext cx="2240280" cy="51206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10988A"/>
                </a:solidFill>
                <a:latin typeface="Arial"/>
              </a:rPr>
              <a:t>DESIGN MOVE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0" y="2798063"/>
            <a:ext cx="2834640" cy="16459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161B26"/>
                </a:solidFill>
                <a:latin typeface="Arial"/>
              </a:rPr>
              <a:t>Anchor exploration in a research-backed problem statement and evaluation criteria.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572000" y="4526280"/>
            <a:ext cx="2834640" cy="27432"/>
          </a:xfrm>
          <a:prstGeom prst="rect">
            <a:avLst/>
          </a:prstGeom>
          <a:solidFill>
            <a:srgbClr val="1098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7973568" y="1755648"/>
            <a:ext cx="3392424" cy="3127248"/>
          </a:xfrm>
          <a:prstGeom prst="rect">
            <a:avLst/>
          </a:prstGeom>
          <a:solidFill>
            <a:srgbClr val="FFFFFF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973568" y="1755648"/>
            <a:ext cx="3392424" cy="91440"/>
          </a:xfrm>
          <a:prstGeom prst="rect">
            <a:avLst/>
          </a:prstGeom>
          <a:solidFill>
            <a:srgbClr val="724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8202168" y="2029968"/>
            <a:ext cx="493776" cy="493776"/>
          </a:xfrm>
          <a:prstGeom prst="ellipse">
            <a:avLst/>
          </a:prstGeom>
          <a:solidFill>
            <a:srgbClr val="724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202168" y="2029968"/>
            <a:ext cx="493776" cy="49377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833104" y="2020824"/>
            <a:ext cx="2240280" cy="51206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724CD6"/>
                </a:solidFill>
                <a:latin typeface="Arial"/>
              </a:rPr>
              <a:t>EVIDENCE STANDARD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229600" y="2798063"/>
            <a:ext cx="2834640" cy="16459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161B26"/>
                </a:solidFill>
                <a:latin typeface="Arial"/>
              </a:rPr>
              <a:t>AI accelerates options; humans remain accountable for evidence and judgement.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8229600" y="4526280"/>
            <a:ext cx="2834640" cy="27432"/>
          </a:xfrm>
          <a:prstGeom prst="rect">
            <a:avLst/>
          </a:prstGeom>
          <a:solidFill>
            <a:srgbClr val="724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58368" y="5102352"/>
            <a:ext cx="10835640" cy="56692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14400" y="5239512"/>
            <a:ext cx="10241280" cy="29260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250" b="1" i="0">
                <a:solidFill>
                  <a:srgbClr val="161B26"/>
                </a:solidFill>
                <a:latin typeface="Arial"/>
              </a:rPr>
              <a:t>Ask: what user outcome changes, and what evidence would prove it?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1F6FEB"/>
                </a:solidFill>
                <a:latin typeface="Arial"/>
              </a:rPr>
              <a:t>MODULE 1 · PRINCIPLE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21792"/>
            <a:ext cx="10835640" cy="6583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 i="0">
                <a:solidFill>
                  <a:srgbClr val="161B26"/>
                </a:solidFill>
                <a:latin typeface="Arial"/>
              </a:rPr>
              <a:t>Research evidence: signal before synthesis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6419088"/>
            <a:ext cx="4663440" cy="2194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 i="0">
                <a:solidFill>
                  <a:srgbClr val="5B6372"/>
                </a:solidFill>
                <a:latin typeface="Arial"/>
              </a:rPr>
              <a:t>Claude Design for UX/UI · C744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89120" y="6419088"/>
            <a:ext cx="3657600" cy="2194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0" i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26679" y="6419088"/>
            <a:ext cx="2834640" cy="2194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730" b="0" i="1">
                <a:solidFill>
                  <a:srgbClr val="949DA9"/>
                </a:solidFill>
                <a:latin typeface="Arial"/>
              </a:rPr>
              <a:t>Contentsquare; Maze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44200" y="6419088"/>
            <a:ext cx="731520" cy="2194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 i="0">
                <a:solidFill>
                  <a:srgbClr val="5B6372"/>
                </a:solidFill>
                <a:latin typeface="Arial"/>
              </a:rPr>
              <a:t>17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58368" y="1691640"/>
            <a:ext cx="2487168" cy="233172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58368" y="1691640"/>
            <a:ext cx="82296" cy="23317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877824" y="1874520"/>
            <a:ext cx="420624" cy="420624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77824" y="1874520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08176" y="1819656"/>
            <a:ext cx="1508760" cy="43891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320" b="1" i="0">
                <a:solidFill>
                  <a:srgbClr val="161B26"/>
                </a:solidFill>
                <a:latin typeface="Arial"/>
              </a:rPr>
              <a:t>Behaviour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2386584"/>
            <a:ext cx="1965960" cy="133502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070" b="0" i="0">
                <a:solidFill>
                  <a:srgbClr val="5B6372"/>
                </a:solidFill>
                <a:latin typeface="Arial"/>
              </a:rPr>
              <a:t>Analytics and observations reveal what people actually do.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14400" y="3703320"/>
            <a:ext cx="1078992" cy="25603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3703320"/>
            <a:ext cx="1078992" cy="25603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1" i="0">
                <a:solidFill>
                  <a:srgbClr val="FFFFFF"/>
                </a:solidFill>
                <a:latin typeface="Arial"/>
              </a:rPr>
              <a:t>DESIGN LENS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401568" y="1691640"/>
            <a:ext cx="2487168" cy="233172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401568" y="1691640"/>
            <a:ext cx="82296" cy="2331720"/>
          </a:xfrm>
          <a:prstGeom prst="rect">
            <a:avLst/>
          </a:prstGeom>
          <a:solidFill>
            <a:srgbClr val="724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3621024" y="1874520"/>
            <a:ext cx="420624" cy="420624"/>
          </a:xfrm>
          <a:prstGeom prst="ellipse">
            <a:avLst/>
          </a:prstGeom>
          <a:solidFill>
            <a:srgbClr val="724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621024" y="1874520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151376" y="1819656"/>
            <a:ext cx="1508760" cy="43891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320" b="1" i="0">
                <a:solidFill>
                  <a:srgbClr val="161B26"/>
                </a:solidFill>
                <a:latin typeface="Arial"/>
              </a:rPr>
              <a:t>Attitude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657600" y="2386584"/>
            <a:ext cx="1965960" cy="133502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070" b="0" i="0">
                <a:solidFill>
                  <a:srgbClr val="5B6372"/>
                </a:solidFill>
                <a:latin typeface="Arial"/>
              </a:rPr>
              <a:t>Interviews and surveys reveal expectations, language and motivations.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657600" y="3703320"/>
            <a:ext cx="1078992" cy="256032"/>
          </a:xfrm>
          <a:prstGeom prst="rect">
            <a:avLst/>
          </a:prstGeom>
          <a:solidFill>
            <a:srgbClr val="724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657600" y="3703320"/>
            <a:ext cx="1078992" cy="25603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1" i="0">
                <a:solidFill>
                  <a:srgbClr val="FFFFFF"/>
                </a:solidFill>
                <a:latin typeface="Arial"/>
              </a:rPr>
              <a:t>DESIGN LENS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144768" y="1691640"/>
            <a:ext cx="2487168" cy="233172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144768" y="1691640"/>
            <a:ext cx="82296" cy="2331720"/>
          </a:xfrm>
          <a:prstGeom prst="rect">
            <a:avLst/>
          </a:prstGeom>
          <a:solidFill>
            <a:srgbClr val="1098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6364224" y="1874520"/>
            <a:ext cx="420624" cy="420624"/>
          </a:xfrm>
          <a:prstGeom prst="ellipse">
            <a:avLst/>
          </a:prstGeom>
          <a:solidFill>
            <a:srgbClr val="1098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364224" y="1874520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894576" y="1819656"/>
            <a:ext cx="1508760" cy="43891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320" b="1" i="0">
                <a:solidFill>
                  <a:srgbClr val="161B26"/>
                </a:solidFill>
                <a:latin typeface="Arial"/>
              </a:rPr>
              <a:t>Context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00800" y="2386584"/>
            <a:ext cx="1965960" cy="133502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070" b="0" i="0">
                <a:solidFill>
                  <a:srgbClr val="5B6372"/>
                </a:solidFill>
                <a:latin typeface="Arial"/>
              </a:rPr>
              <a:t>Devices, interruptions, environment and accessibility needs shape use.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400800" y="3703320"/>
            <a:ext cx="1078992" cy="256032"/>
          </a:xfrm>
          <a:prstGeom prst="rect">
            <a:avLst/>
          </a:prstGeom>
          <a:solidFill>
            <a:srgbClr val="1098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400800" y="3703320"/>
            <a:ext cx="1078992" cy="25603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1" i="0">
                <a:solidFill>
                  <a:srgbClr val="FFFFFF"/>
                </a:solidFill>
                <a:latin typeface="Arial"/>
              </a:rPr>
              <a:t>DESIGN LENS</a:t>
            </a:r>
          </a:p>
        </p:txBody>
      </p:sp>
      <p:sp>
        <p:nvSpPr>
          <p:cNvPr id="35" name="Rectangle 34"/>
          <p:cNvSpPr/>
          <p:nvPr/>
        </p:nvSpPr>
        <p:spPr>
          <a:xfrm>
            <a:off x="8887968" y="1691640"/>
            <a:ext cx="2487168" cy="233172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8887968" y="1691640"/>
            <a:ext cx="82296" cy="2331720"/>
          </a:xfrm>
          <a:prstGeom prst="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9107424" y="1874520"/>
            <a:ext cx="420624" cy="420624"/>
          </a:xfrm>
          <a:prstGeom prst="ellipse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107424" y="1874520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637776" y="1819656"/>
            <a:ext cx="1508760" cy="43891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320" b="1" i="0">
                <a:solidFill>
                  <a:srgbClr val="161B26"/>
                </a:solidFill>
                <a:latin typeface="Arial"/>
              </a:rPr>
              <a:t>Triangulate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144000" y="2386584"/>
            <a:ext cx="1965960" cy="133502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070" b="0" i="0">
                <a:solidFill>
                  <a:srgbClr val="5B6372"/>
                </a:solidFill>
                <a:latin typeface="Arial"/>
              </a:rPr>
              <a:t>Combine sources before turning patterns into design requirements.</a:t>
            </a:r>
          </a:p>
        </p:txBody>
      </p:sp>
      <p:sp>
        <p:nvSpPr>
          <p:cNvPr id="41" name="Rectangle 40"/>
          <p:cNvSpPr/>
          <p:nvPr/>
        </p:nvSpPr>
        <p:spPr>
          <a:xfrm>
            <a:off x="9144000" y="3703320"/>
            <a:ext cx="1078992" cy="256032"/>
          </a:xfrm>
          <a:prstGeom prst="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9144000" y="3703320"/>
            <a:ext cx="1078992" cy="25603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1" i="0">
                <a:solidFill>
                  <a:srgbClr val="FFFFFF"/>
                </a:solidFill>
                <a:latin typeface="Arial"/>
              </a:rPr>
              <a:t>DESIGN LENS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58368" y="4315968"/>
            <a:ext cx="10835640" cy="13258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914400" y="4480560"/>
            <a:ext cx="1828800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 i="0">
                <a:solidFill>
                  <a:srgbClr val="1F6FEB"/>
                </a:solidFill>
                <a:latin typeface="Arial"/>
              </a:rPr>
              <a:t>SYNTHESIS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14400" y="4846320"/>
            <a:ext cx="10195560" cy="56692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 i="0">
                <a:solidFill>
                  <a:srgbClr val="161B26"/>
                </a:solidFill>
                <a:latin typeface="Arial"/>
              </a:rPr>
              <a:t>Analytics and observations reveal what people actually do; combine sources before turning patterns into design requirements.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1F6FEB"/>
                </a:solidFill>
                <a:latin typeface="Arial"/>
              </a:rPr>
              <a:t>MODULE 1 · CASE LENS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21792"/>
            <a:ext cx="10835640" cy="6583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200" b="1" i="0">
                <a:solidFill>
                  <a:srgbClr val="161B26"/>
                </a:solidFill>
                <a:latin typeface="Arial"/>
              </a:rPr>
              <a:t>Research evidence: signal before synthesis — applied judgement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6419088"/>
            <a:ext cx="4663440" cy="2194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 i="0">
                <a:solidFill>
                  <a:srgbClr val="5B6372"/>
                </a:solidFill>
                <a:latin typeface="Arial"/>
              </a:rPr>
              <a:t>Claude Design for UX/UI · C744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89120" y="6419088"/>
            <a:ext cx="3657600" cy="2194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0" i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26679" y="6419088"/>
            <a:ext cx="2834640" cy="2194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730" b="0" i="1">
                <a:solidFill>
                  <a:srgbClr val="949DA9"/>
                </a:solidFill>
                <a:latin typeface="Arial"/>
              </a:rPr>
              <a:t>Contentsquare; Maze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44200" y="6419088"/>
            <a:ext cx="731520" cy="2194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 i="0">
                <a:solidFill>
                  <a:srgbClr val="5B6372"/>
                </a:solidFill>
                <a:latin typeface="Arial"/>
              </a:rPr>
              <a:t>18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58368" y="1755648"/>
            <a:ext cx="3392424" cy="3127248"/>
          </a:xfrm>
          <a:prstGeom prst="rect">
            <a:avLst/>
          </a:prstGeom>
          <a:solidFill>
            <a:srgbClr val="FFFFFF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58368" y="1755648"/>
            <a:ext cx="3392424" cy="91440"/>
          </a:xfrm>
          <a:prstGeom prst="rect">
            <a:avLst/>
          </a:prstGeom>
          <a:solidFill>
            <a:srgbClr val="F06F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886968" y="2029968"/>
            <a:ext cx="493776" cy="493776"/>
          </a:xfrm>
          <a:prstGeom prst="ellipse">
            <a:avLst/>
          </a:prstGeom>
          <a:solidFill>
            <a:srgbClr val="F06F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86968" y="2029968"/>
            <a:ext cx="493776" cy="49377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17904" y="2020824"/>
            <a:ext cx="2240280" cy="51206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F06F61"/>
                </a:solidFill>
                <a:latin typeface="Arial"/>
              </a:rPr>
              <a:t>CONTEXT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2798063"/>
            <a:ext cx="2834640" cy="16459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161B26"/>
                </a:solidFill>
                <a:latin typeface="Arial"/>
              </a:rPr>
              <a:t>Three interviewees request a feature that usage data shows almost nobody needs.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14400" y="4526280"/>
            <a:ext cx="2834640" cy="27432"/>
          </a:xfrm>
          <a:prstGeom prst="rect">
            <a:avLst/>
          </a:prstGeom>
          <a:solidFill>
            <a:srgbClr val="F06F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315968" y="1755648"/>
            <a:ext cx="3392424" cy="3127248"/>
          </a:xfrm>
          <a:prstGeom prst="rect">
            <a:avLst/>
          </a:prstGeom>
          <a:solidFill>
            <a:srgbClr val="FFFFFF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315968" y="1755648"/>
            <a:ext cx="3392424" cy="91440"/>
          </a:xfrm>
          <a:prstGeom prst="rect">
            <a:avLst/>
          </a:prstGeom>
          <a:solidFill>
            <a:srgbClr val="1098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4544568" y="2029968"/>
            <a:ext cx="493776" cy="493776"/>
          </a:xfrm>
          <a:prstGeom prst="ellipse">
            <a:avLst/>
          </a:prstGeom>
          <a:solidFill>
            <a:srgbClr val="1098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544568" y="2029968"/>
            <a:ext cx="493776" cy="49377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175504" y="2020824"/>
            <a:ext cx="2240280" cy="51206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10988A"/>
                </a:solidFill>
                <a:latin typeface="Arial"/>
              </a:rPr>
              <a:t>DESIGN MOVE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0" y="2798063"/>
            <a:ext cx="2834640" cy="16459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161B26"/>
                </a:solidFill>
                <a:latin typeface="Arial"/>
              </a:rPr>
              <a:t>Treat the request as a hypothesis and investigate the underlying task or barrier.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572000" y="4526280"/>
            <a:ext cx="2834640" cy="27432"/>
          </a:xfrm>
          <a:prstGeom prst="rect">
            <a:avLst/>
          </a:prstGeom>
          <a:solidFill>
            <a:srgbClr val="1098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7973568" y="1755648"/>
            <a:ext cx="3392424" cy="3127248"/>
          </a:xfrm>
          <a:prstGeom prst="rect">
            <a:avLst/>
          </a:prstGeom>
          <a:solidFill>
            <a:srgbClr val="FFFFFF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973568" y="1755648"/>
            <a:ext cx="3392424" cy="91440"/>
          </a:xfrm>
          <a:prstGeom prst="rect">
            <a:avLst/>
          </a:prstGeom>
          <a:solidFill>
            <a:srgbClr val="724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8202168" y="2029968"/>
            <a:ext cx="493776" cy="493776"/>
          </a:xfrm>
          <a:prstGeom prst="ellipse">
            <a:avLst/>
          </a:prstGeom>
          <a:solidFill>
            <a:srgbClr val="724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202168" y="2029968"/>
            <a:ext cx="493776" cy="49377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833104" y="2020824"/>
            <a:ext cx="2240280" cy="51206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724CD6"/>
                </a:solidFill>
                <a:latin typeface="Arial"/>
              </a:rPr>
              <a:t>EVIDENCE STANDARD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229600" y="2798063"/>
            <a:ext cx="2834640" cy="16459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161B26"/>
                </a:solidFill>
                <a:latin typeface="Arial"/>
              </a:rPr>
              <a:t>A single source is a clue, not a conclusion.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8229600" y="4526280"/>
            <a:ext cx="2834640" cy="27432"/>
          </a:xfrm>
          <a:prstGeom prst="rect">
            <a:avLst/>
          </a:prstGeom>
          <a:solidFill>
            <a:srgbClr val="724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58368" y="5102352"/>
            <a:ext cx="10835640" cy="56692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14400" y="5239512"/>
            <a:ext cx="10241280" cy="29260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250" b="1" i="0">
                <a:solidFill>
                  <a:srgbClr val="161B26"/>
                </a:solidFill>
                <a:latin typeface="Arial"/>
              </a:rPr>
              <a:t>Ask: what user outcome changes, and what evidence would prove it?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1F6FEB"/>
                </a:solidFill>
                <a:latin typeface="Arial"/>
              </a:rPr>
              <a:t>MODULE 1 · PRINCIPLE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21792"/>
            <a:ext cx="10835640" cy="6583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 i="0">
                <a:solidFill>
                  <a:srgbClr val="161B26"/>
                </a:solidFill>
                <a:latin typeface="Arial"/>
              </a:rPr>
              <a:t>Personas, segments and jobs-to-be-done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6419088"/>
            <a:ext cx="4663440" cy="2194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 i="0">
                <a:solidFill>
                  <a:srgbClr val="5B6372"/>
                </a:solidFill>
                <a:latin typeface="Arial"/>
              </a:rPr>
              <a:t>Claude Design for UX/UI · C744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89120" y="6419088"/>
            <a:ext cx="3657600" cy="2194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0" i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26679" y="6419088"/>
            <a:ext cx="2834640" cy="2194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730" b="0" i="1">
                <a:solidFill>
                  <a:srgbClr val="949DA9"/>
                </a:solidFill>
                <a:latin typeface="Arial"/>
              </a:rPr>
              <a:t>Maze; Microsoft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44200" y="6419088"/>
            <a:ext cx="731520" cy="2194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 i="0">
                <a:solidFill>
                  <a:srgbClr val="5B6372"/>
                </a:solidFill>
                <a:latin typeface="Arial"/>
              </a:rPr>
              <a:t>19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58368" y="1691640"/>
            <a:ext cx="2487168" cy="233172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58368" y="1691640"/>
            <a:ext cx="82296" cy="23317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877824" y="1874520"/>
            <a:ext cx="420624" cy="420624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77824" y="1874520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08176" y="1819656"/>
            <a:ext cx="1508760" cy="43891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320" b="1" i="0">
                <a:solidFill>
                  <a:srgbClr val="161B26"/>
                </a:solidFill>
                <a:latin typeface="Arial"/>
              </a:rPr>
              <a:t>Persona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2386584"/>
            <a:ext cx="1965960" cy="133502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070" b="0" i="0">
                <a:solidFill>
                  <a:srgbClr val="5B6372"/>
                </a:solidFill>
                <a:latin typeface="Arial"/>
              </a:rPr>
              <a:t>A research-backed behavioural archetype, not invented demographics.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14400" y="3703320"/>
            <a:ext cx="1078992" cy="25603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3703320"/>
            <a:ext cx="1078992" cy="25603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1" i="0">
                <a:solidFill>
                  <a:srgbClr val="FFFFFF"/>
                </a:solidFill>
                <a:latin typeface="Arial"/>
              </a:rPr>
              <a:t>DESIGN LENS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401568" y="1691640"/>
            <a:ext cx="2487168" cy="233172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401568" y="1691640"/>
            <a:ext cx="82296" cy="2331720"/>
          </a:xfrm>
          <a:prstGeom prst="rect">
            <a:avLst/>
          </a:prstGeom>
          <a:solidFill>
            <a:srgbClr val="724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3621024" y="1874520"/>
            <a:ext cx="420624" cy="420624"/>
          </a:xfrm>
          <a:prstGeom prst="ellipse">
            <a:avLst/>
          </a:prstGeom>
          <a:solidFill>
            <a:srgbClr val="724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621024" y="1874520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151376" y="1819656"/>
            <a:ext cx="1508760" cy="43891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320" b="1" i="0">
                <a:solidFill>
                  <a:srgbClr val="161B26"/>
                </a:solidFill>
                <a:latin typeface="Arial"/>
              </a:rPr>
              <a:t>Segment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657600" y="2386584"/>
            <a:ext cx="1965960" cy="133502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070" b="0" i="0">
                <a:solidFill>
                  <a:srgbClr val="5B6372"/>
                </a:solidFill>
                <a:latin typeface="Arial"/>
              </a:rPr>
              <a:t>A measurable group useful for product or service decisions.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657600" y="3703320"/>
            <a:ext cx="1078992" cy="256032"/>
          </a:xfrm>
          <a:prstGeom prst="rect">
            <a:avLst/>
          </a:prstGeom>
          <a:solidFill>
            <a:srgbClr val="724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657600" y="3703320"/>
            <a:ext cx="1078992" cy="25603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1" i="0">
                <a:solidFill>
                  <a:srgbClr val="FFFFFF"/>
                </a:solidFill>
                <a:latin typeface="Arial"/>
              </a:rPr>
              <a:t>DESIGN LENS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144768" y="1691640"/>
            <a:ext cx="2487168" cy="233172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144768" y="1691640"/>
            <a:ext cx="82296" cy="2331720"/>
          </a:xfrm>
          <a:prstGeom prst="rect">
            <a:avLst/>
          </a:prstGeom>
          <a:solidFill>
            <a:srgbClr val="1098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6364224" y="1874520"/>
            <a:ext cx="420624" cy="420624"/>
          </a:xfrm>
          <a:prstGeom prst="ellipse">
            <a:avLst/>
          </a:prstGeom>
          <a:solidFill>
            <a:srgbClr val="1098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364224" y="1874520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894576" y="1819656"/>
            <a:ext cx="1508760" cy="43891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320" b="1" i="0">
                <a:solidFill>
                  <a:srgbClr val="161B26"/>
                </a:solidFill>
                <a:latin typeface="Arial"/>
              </a:rPr>
              <a:t>Job story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00800" y="2386584"/>
            <a:ext cx="1965960" cy="133502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070" b="0" i="0">
                <a:solidFill>
                  <a:srgbClr val="5B6372"/>
                </a:solidFill>
                <a:latin typeface="Arial"/>
              </a:rPr>
              <a:t>When situation, I want motivation, so I can expected outcome.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400800" y="3703320"/>
            <a:ext cx="1078992" cy="256032"/>
          </a:xfrm>
          <a:prstGeom prst="rect">
            <a:avLst/>
          </a:prstGeom>
          <a:solidFill>
            <a:srgbClr val="1098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400800" y="3703320"/>
            <a:ext cx="1078992" cy="25603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1" i="0">
                <a:solidFill>
                  <a:srgbClr val="FFFFFF"/>
                </a:solidFill>
                <a:latin typeface="Arial"/>
              </a:rPr>
              <a:t>DESIGN LENS</a:t>
            </a:r>
          </a:p>
        </p:txBody>
      </p:sp>
      <p:sp>
        <p:nvSpPr>
          <p:cNvPr id="35" name="Rectangle 34"/>
          <p:cNvSpPr/>
          <p:nvPr/>
        </p:nvSpPr>
        <p:spPr>
          <a:xfrm>
            <a:off x="8887968" y="1691640"/>
            <a:ext cx="2487168" cy="233172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8887968" y="1691640"/>
            <a:ext cx="82296" cy="2331720"/>
          </a:xfrm>
          <a:prstGeom prst="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9107424" y="1874520"/>
            <a:ext cx="420624" cy="420624"/>
          </a:xfrm>
          <a:prstGeom prst="ellipse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107424" y="1874520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637776" y="1819656"/>
            <a:ext cx="1508760" cy="43891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320" b="1" i="0">
                <a:solidFill>
                  <a:srgbClr val="161B26"/>
                </a:solidFill>
                <a:latin typeface="Arial"/>
              </a:rPr>
              <a:t>Anti-bias check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144000" y="2386584"/>
            <a:ext cx="1965960" cy="133502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070" b="0" i="0">
                <a:solidFill>
                  <a:srgbClr val="5B6372"/>
                </a:solidFill>
                <a:latin typeface="Arial"/>
              </a:rPr>
              <a:t>Separate evidence from assumptions and decorative biography.</a:t>
            </a:r>
          </a:p>
        </p:txBody>
      </p:sp>
      <p:sp>
        <p:nvSpPr>
          <p:cNvPr id="41" name="Rectangle 40"/>
          <p:cNvSpPr/>
          <p:nvPr/>
        </p:nvSpPr>
        <p:spPr>
          <a:xfrm>
            <a:off x="9144000" y="3703320"/>
            <a:ext cx="1078992" cy="256032"/>
          </a:xfrm>
          <a:prstGeom prst="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9144000" y="3703320"/>
            <a:ext cx="1078992" cy="25603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1" i="0">
                <a:solidFill>
                  <a:srgbClr val="FFFFFF"/>
                </a:solidFill>
                <a:latin typeface="Arial"/>
              </a:rPr>
              <a:t>DESIGN LENS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58368" y="4315968"/>
            <a:ext cx="10835640" cy="13258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914400" y="4480560"/>
            <a:ext cx="1828800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 i="0">
                <a:solidFill>
                  <a:srgbClr val="1F6FEB"/>
                </a:solidFill>
                <a:latin typeface="Arial"/>
              </a:rPr>
              <a:t>SYNTHESIS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14400" y="4846320"/>
            <a:ext cx="10195560" cy="56692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 i="0">
                <a:solidFill>
                  <a:srgbClr val="161B26"/>
                </a:solidFill>
                <a:latin typeface="Arial"/>
              </a:rPr>
              <a:t>A research-backed behavioural archetype, not invented demographics; separate evidence from assumptions and decorative biography.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1F6FEB"/>
                </a:solidFill>
                <a:latin typeface="Arial"/>
              </a:rPr>
              <a:t>MODULE 1 · CASE LENS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21792"/>
            <a:ext cx="10835640" cy="6583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500" b="1" i="0">
                <a:solidFill>
                  <a:srgbClr val="161B26"/>
                </a:solidFill>
                <a:latin typeface="Arial"/>
              </a:rPr>
              <a:t>Personas, segments and jobs-to-be-done — applied judgement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6419088"/>
            <a:ext cx="4663440" cy="2194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 i="0">
                <a:solidFill>
                  <a:srgbClr val="5B6372"/>
                </a:solidFill>
                <a:latin typeface="Arial"/>
              </a:rPr>
              <a:t>Claude Design for UX/UI · C744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89120" y="6419088"/>
            <a:ext cx="3657600" cy="2194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0" i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26679" y="6419088"/>
            <a:ext cx="2834640" cy="2194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730" b="0" i="1">
                <a:solidFill>
                  <a:srgbClr val="949DA9"/>
                </a:solidFill>
                <a:latin typeface="Arial"/>
              </a:rPr>
              <a:t>Maze; Microsoft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44200" y="6419088"/>
            <a:ext cx="731520" cy="2194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 i="0">
                <a:solidFill>
                  <a:srgbClr val="5B6372"/>
                </a:solidFill>
                <a:latin typeface="Arial"/>
              </a:rPr>
              <a:t>20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58368" y="1755648"/>
            <a:ext cx="3392424" cy="3127248"/>
          </a:xfrm>
          <a:prstGeom prst="rect">
            <a:avLst/>
          </a:prstGeom>
          <a:solidFill>
            <a:srgbClr val="FFFFFF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58368" y="1755648"/>
            <a:ext cx="3392424" cy="91440"/>
          </a:xfrm>
          <a:prstGeom prst="rect">
            <a:avLst/>
          </a:prstGeom>
          <a:solidFill>
            <a:srgbClr val="F06F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886968" y="2029968"/>
            <a:ext cx="493776" cy="493776"/>
          </a:xfrm>
          <a:prstGeom prst="ellipse">
            <a:avLst/>
          </a:prstGeom>
          <a:solidFill>
            <a:srgbClr val="F06F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86968" y="2029968"/>
            <a:ext cx="493776" cy="49377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17904" y="2020824"/>
            <a:ext cx="2240280" cy="51206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F06F61"/>
                </a:solidFill>
                <a:latin typeface="Arial"/>
              </a:rPr>
              <a:t>CONTEXT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2798063"/>
            <a:ext cx="2834640" cy="16459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161B26"/>
                </a:solidFill>
                <a:latin typeface="Arial"/>
              </a:rPr>
              <a:t>A persona says 'busy professional' but provides no task, context or behaviour.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14400" y="4526280"/>
            <a:ext cx="2834640" cy="27432"/>
          </a:xfrm>
          <a:prstGeom prst="rect">
            <a:avLst/>
          </a:prstGeom>
          <a:solidFill>
            <a:srgbClr val="F06F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315968" y="1755648"/>
            <a:ext cx="3392424" cy="3127248"/>
          </a:xfrm>
          <a:prstGeom prst="rect">
            <a:avLst/>
          </a:prstGeom>
          <a:solidFill>
            <a:srgbClr val="FFFFFF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315968" y="1755648"/>
            <a:ext cx="3392424" cy="91440"/>
          </a:xfrm>
          <a:prstGeom prst="rect">
            <a:avLst/>
          </a:prstGeom>
          <a:solidFill>
            <a:srgbClr val="1098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4544568" y="2029968"/>
            <a:ext cx="493776" cy="493776"/>
          </a:xfrm>
          <a:prstGeom prst="ellipse">
            <a:avLst/>
          </a:prstGeom>
          <a:solidFill>
            <a:srgbClr val="1098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544568" y="2029968"/>
            <a:ext cx="493776" cy="49377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175504" y="2020824"/>
            <a:ext cx="2240280" cy="51206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10988A"/>
                </a:solidFill>
                <a:latin typeface="Arial"/>
              </a:rPr>
              <a:t>DESIGN MOVE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0" y="2798063"/>
            <a:ext cx="2834640" cy="16459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161B26"/>
                </a:solidFill>
                <a:latin typeface="Arial"/>
              </a:rPr>
              <a:t>Replace generic traits with a job story and evidence-linked constraints.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572000" y="4526280"/>
            <a:ext cx="2834640" cy="27432"/>
          </a:xfrm>
          <a:prstGeom prst="rect">
            <a:avLst/>
          </a:prstGeom>
          <a:solidFill>
            <a:srgbClr val="1098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7973568" y="1755648"/>
            <a:ext cx="3392424" cy="3127248"/>
          </a:xfrm>
          <a:prstGeom prst="rect">
            <a:avLst/>
          </a:prstGeom>
          <a:solidFill>
            <a:srgbClr val="FFFFFF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973568" y="1755648"/>
            <a:ext cx="3392424" cy="91440"/>
          </a:xfrm>
          <a:prstGeom prst="rect">
            <a:avLst/>
          </a:prstGeom>
          <a:solidFill>
            <a:srgbClr val="724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8202168" y="2029968"/>
            <a:ext cx="493776" cy="493776"/>
          </a:xfrm>
          <a:prstGeom prst="ellipse">
            <a:avLst/>
          </a:prstGeom>
          <a:solidFill>
            <a:srgbClr val="724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202168" y="2029968"/>
            <a:ext cx="493776" cy="49377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833104" y="2020824"/>
            <a:ext cx="2240280" cy="51206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724CD6"/>
                </a:solidFill>
                <a:latin typeface="Arial"/>
              </a:rPr>
              <a:t>EVIDENCE STANDARD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229600" y="2798063"/>
            <a:ext cx="2834640" cy="16459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161B26"/>
                </a:solidFill>
                <a:latin typeface="Arial"/>
              </a:rPr>
              <a:t>Useful personas change a design decision.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8229600" y="4526280"/>
            <a:ext cx="2834640" cy="27432"/>
          </a:xfrm>
          <a:prstGeom prst="rect">
            <a:avLst/>
          </a:prstGeom>
          <a:solidFill>
            <a:srgbClr val="724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58368" y="5102352"/>
            <a:ext cx="10835640" cy="56692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14400" y="5239512"/>
            <a:ext cx="10241280" cy="29260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250" b="1" i="0">
                <a:solidFill>
                  <a:srgbClr val="161B26"/>
                </a:solidFill>
                <a:latin typeface="Arial"/>
              </a:rPr>
              <a:t>Ask: what user outcome changes, and what evidence would prove it?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1F6FEB"/>
                </a:solidFill>
                <a:latin typeface="Arial"/>
              </a:rPr>
              <a:t>MODULE 1 · PRINCIPLE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21792"/>
            <a:ext cx="10835640" cy="6583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 i="0">
                <a:solidFill>
                  <a:srgbClr val="161B26"/>
                </a:solidFill>
                <a:latin typeface="Arial"/>
              </a:rPr>
              <a:t>Information architecture: organise for recognition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6419088"/>
            <a:ext cx="4663440" cy="2194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 i="0">
                <a:solidFill>
                  <a:srgbClr val="5B6372"/>
                </a:solidFill>
                <a:latin typeface="Arial"/>
              </a:rPr>
              <a:t>Claude Design for UX/UI · C744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89120" y="6419088"/>
            <a:ext cx="3657600" cy="2194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0" i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26679" y="6419088"/>
            <a:ext cx="2834640" cy="2194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730" b="0" i="1">
                <a:solidFill>
                  <a:srgbClr val="949DA9"/>
                </a:solidFill>
                <a:latin typeface="Arial"/>
              </a:rPr>
              <a:t>Maze; MockFlow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44200" y="6419088"/>
            <a:ext cx="731520" cy="2194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 i="0">
                <a:solidFill>
                  <a:srgbClr val="5B6372"/>
                </a:solidFill>
                <a:latin typeface="Arial"/>
              </a:rPr>
              <a:t>21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58368" y="1691640"/>
            <a:ext cx="2487168" cy="233172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58368" y="1691640"/>
            <a:ext cx="82296" cy="23317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877824" y="1874520"/>
            <a:ext cx="420624" cy="420624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77824" y="1874520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08176" y="1819656"/>
            <a:ext cx="1508760" cy="43891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320" b="1" i="0">
                <a:solidFill>
                  <a:srgbClr val="161B26"/>
                </a:solidFill>
                <a:latin typeface="Arial"/>
              </a:rPr>
              <a:t>Inventory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2386584"/>
            <a:ext cx="1965960" cy="133502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070" b="0" i="0">
                <a:solidFill>
                  <a:srgbClr val="5B6372"/>
                </a:solidFill>
                <a:latin typeface="Arial"/>
              </a:rPr>
              <a:t>List content, actions, entities and states users need.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14400" y="3703320"/>
            <a:ext cx="1078992" cy="25603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3703320"/>
            <a:ext cx="1078992" cy="25603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1" i="0">
                <a:solidFill>
                  <a:srgbClr val="FFFFFF"/>
                </a:solidFill>
                <a:latin typeface="Arial"/>
              </a:rPr>
              <a:t>DESIGN LENS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401568" y="1691640"/>
            <a:ext cx="2487168" cy="233172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401568" y="1691640"/>
            <a:ext cx="82296" cy="2331720"/>
          </a:xfrm>
          <a:prstGeom prst="rect">
            <a:avLst/>
          </a:prstGeom>
          <a:solidFill>
            <a:srgbClr val="724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3621024" y="1874520"/>
            <a:ext cx="420624" cy="420624"/>
          </a:xfrm>
          <a:prstGeom prst="ellipse">
            <a:avLst/>
          </a:prstGeom>
          <a:solidFill>
            <a:srgbClr val="724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621024" y="1874520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151376" y="1819656"/>
            <a:ext cx="1508760" cy="43891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320" b="1" i="0">
                <a:solidFill>
                  <a:srgbClr val="161B26"/>
                </a:solidFill>
                <a:latin typeface="Arial"/>
              </a:rPr>
              <a:t>Grouping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657600" y="2386584"/>
            <a:ext cx="1965960" cy="133502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070" b="0" i="0">
                <a:solidFill>
                  <a:srgbClr val="5B6372"/>
                </a:solidFill>
                <a:latin typeface="Arial"/>
              </a:rPr>
              <a:t>Cluster items using user language and mental models.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657600" y="3703320"/>
            <a:ext cx="1078992" cy="256032"/>
          </a:xfrm>
          <a:prstGeom prst="rect">
            <a:avLst/>
          </a:prstGeom>
          <a:solidFill>
            <a:srgbClr val="724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657600" y="3703320"/>
            <a:ext cx="1078992" cy="25603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1" i="0">
                <a:solidFill>
                  <a:srgbClr val="FFFFFF"/>
                </a:solidFill>
                <a:latin typeface="Arial"/>
              </a:rPr>
              <a:t>DESIGN LENS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144768" y="1691640"/>
            <a:ext cx="2487168" cy="233172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144768" y="1691640"/>
            <a:ext cx="82296" cy="2331720"/>
          </a:xfrm>
          <a:prstGeom prst="rect">
            <a:avLst/>
          </a:prstGeom>
          <a:solidFill>
            <a:srgbClr val="1098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6364224" y="1874520"/>
            <a:ext cx="420624" cy="420624"/>
          </a:xfrm>
          <a:prstGeom prst="ellipse">
            <a:avLst/>
          </a:prstGeom>
          <a:solidFill>
            <a:srgbClr val="1098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364224" y="1874520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894576" y="1819656"/>
            <a:ext cx="1508760" cy="43891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320" b="1" i="0">
                <a:solidFill>
                  <a:srgbClr val="161B26"/>
                </a:solidFill>
                <a:latin typeface="Arial"/>
              </a:rPr>
              <a:t>Labels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00800" y="2386584"/>
            <a:ext cx="1965960" cy="133502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070" b="0" i="0">
                <a:solidFill>
                  <a:srgbClr val="5B6372"/>
                </a:solidFill>
                <a:latin typeface="Arial"/>
              </a:rPr>
              <a:t>Use specific nouns and verbs; avoid clever but ambiguous wording.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400800" y="3703320"/>
            <a:ext cx="1078992" cy="256032"/>
          </a:xfrm>
          <a:prstGeom prst="rect">
            <a:avLst/>
          </a:prstGeom>
          <a:solidFill>
            <a:srgbClr val="1098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400800" y="3703320"/>
            <a:ext cx="1078992" cy="25603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1" i="0">
                <a:solidFill>
                  <a:srgbClr val="FFFFFF"/>
                </a:solidFill>
                <a:latin typeface="Arial"/>
              </a:rPr>
              <a:t>DESIGN LENS</a:t>
            </a:r>
          </a:p>
        </p:txBody>
      </p:sp>
      <p:sp>
        <p:nvSpPr>
          <p:cNvPr id="35" name="Rectangle 34"/>
          <p:cNvSpPr/>
          <p:nvPr/>
        </p:nvSpPr>
        <p:spPr>
          <a:xfrm>
            <a:off x="8887968" y="1691640"/>
            <a:ext cx="2487168" cy="233172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8887968" y="1691640"/>
            <a:ext cx="82296" cy="2331720"/>
          </a:xfrm>
          <a:prstGeom prst="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9107424" y="1874520"/>
            <a:ext cx="420624" cy="420624"/>
          </a:xfrm>
          <a:prstGeom prst="ellipse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107424" y="1874520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637776" y="1819656"/>
            <a:ext cx="1508760" cy="43891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320" b="1" i="0">
                <a:solidFill>
                  <a:srgbClr val="161B26"/>
                </a:solidFill>
                <a:latin typeface="Arial"/>
              </a:rPr>
              <a:t>Validation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144000" y="2386584"/>
            <a:ext cx="1965960" cy="133502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070" b="0" i="0">
                <a:solidFill>
                  <a:srgbClr val="5B6372"/>
                </a:solidFill>
                <a:latin typeface="Arial"/>
              </a:rPr>
              <a:t>Card sorting and tree testing reveal findability problems early.</a:t>
            </a:r>
          </a:p>
        </p:txBody>
      </p:sp>
      <p:sp>
        <p:nvSpPr>
          <p:cNvPr id="41" name="Rectangle 40"/>
          <p:cNvSpPr/>
          <p:nvPr/>
        </p:nvSpPr>
        <p:spPr>
          <a:xfrm>
            <a:off x="9144000" y="3703320"/>
            <a:ext cx="1078992" cy="256032"/>
          </a:xfrm>
          <a:prstGeom prst="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9144000" y="3703320"/>
            <a:ext cx="1078992" cy="25603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1" i="0">
                <a:solidFill>
                  <a:srgbClr val="FFFFFF"/>
                </a:solidFill>
                <a:latin typeface="Arial"/>
              </a:rPr>
              <a:t>DESIGN LENS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58368" y="4315968"/>
            <a:ext cx="10835640" cy="13258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914400" y="4480560"/>
            <a:ext cx="1828800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 i="0">
                <a:solidFill>
                  <a:srgbClr val="1F6FEB"/>
                </a:solidFill>
                <a:latin typeface="Arial"/>
              </a:rPr>
              <a:t>SYNTHESIS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14400" y="4846320"/>
            <a:ext cx="10195560" cy="56692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 i="0">
                <a:solidFill>
                  <a:srgbClr val="161B26"/>
                </a:solidFill>
                <a:latin typeface="Arial"/>
              </a:rPr>
              <a:t>List content, actions, entities and states users need; card sorting and tree testing reveal findability problems early.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1F6FEB"/>
                </a:solidFill>
                <a:latin typeface="Arial"/>
              </a:rPr>
              <a:t>MODULE 1 · CASE LENS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21792"/>
            <a:ext cx="10835640" cy="6583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1" i="0">
                <a:solidFill>
                  <a:srgbClr val="161B26"/>
                </a:solidFill>
                <a:latin typeface="Arial"/>
              </a:rPr>
              <a:t>Information architecture: organise for recognition — applied judgement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6419088"/>
            <a:ext cx="4663440" cy="2194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 i="0">
                <a:solidFill>
                  <a:srgbClr val="5B6372"/>
                </a:solidFill>
                <a:latin typeface="Arial"/>
              </a:rPr>
              <a:t>Claude Design for UX/UI · C744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89120" y="6419088"/>
            <a:ext cx="3657600" cy="2194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0" i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26679" y="6419088"/>
            <a:ext cx="2834640" cy="2194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730" b="0" i="1">
                <a:solidFill>
                  <a:srgbClr val="949DA9"/>
                </a:solidFill>
                <a:latin typeface="Arial"/>
              </a:rPr>
              <a:t>Maze; MockFlow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44200" y="6419088"/>
            <a:ext cx="731520" cy="2194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 i="0">
                <a:solidFill>
                  <a:srgbClr val="5B6372"/>
                </a:solidFill>
                <a:latin typeface="Arial"/>
              </a:rPr>
              <a:t>22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58368" y="1755648"/>
            <a:ext cx="3392424" cy="3127248"/>
          </a:xfrm>
          <a:prstGeom prst="rect">
            <a:avLst/>
          </a:prstGeom>
          <a:solidFill>
            <a:srgbClr val="FFFFFF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58368" y="1755648"/>
            <a:ext cx="3392424" cy="91440"/>
          </a:xfrm>
          <a:prstGeom prst="rect">
            <a:avLst/>
          </a:prstGeom>
          <a:solidFill>
            <a:srgbClr val="F06F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886968" y="2029968"/>
            <a:ext cx="493776" cy="493776"/>
          </a:xfrm>
          <a:prstGeom prst="ellipse">
            <a:avLst/>
          </a:prstGeom>
          <a:solidFill>
            <a:srgbClr val="F06F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86968" y="2029968"/>
            <a:ext cx="493776" cy="49377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17904" y="2020824"/>
            <a:ext cx="2240280" cy="51206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F06F61"/>
                </a:solidFill>
                <a:latin typeface="Arial"/>
              </a:rPr>
              <a:t>CONTEXT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2798063"/>
            <a:ext cx="2834640" cy="16459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161B26"/>
                </a:solidFill>
                <a:latin typeface="Arial"/>
              </a:rPr>
              <a:t>A service portal groups content by internal department names.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14400" y="4526280"/>
            <a:ext cx="2834640" cy="27432"/>
          </a:xfrm>
          <a:prstGeom prst="rect">
            <a:avLst/>
          </a:prstGeom>
          <a:solidFill>
            <a:srgbClr val="F06F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315968" y="1755648"/>
            <a:ext cx="3392424" cy="3127248"/>
          </a:xfrm>
          <a:prstGeom prst="rect">
            <a:avLst/>
          </a:prstGeom>
          <a:solidFill>
            <a:srgbClr val="FFFFFF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315968" y="1755648"/>
            <a:ext cx="3392424" cy="91440"/>
          </a:xfrm>
          <a:prstGeom prst="rect">
            <a:avLst/>
          </a:prstGeom>
          <a:solidFill>
            <a:srgbClr val="1098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4544568" y="2029968"/>
            <a:ext cx="493776" cy="493776"/>
          </a:xfrm>
          <a:prstGeom prst="ellipse">
            <a:avLst/>
          </a:prstGeom>
          <a:solidFill>
            <a:srgbClr val="1098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544568" y="2029968"/>
            <a:ext cx="493776" cy="49377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175504" y="2020824"/>
            <a:ext cx="2240280" cy="51206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10988A"/>
                </a:solidFill>
                <a:latin typeface="Arial"/>
              </a:rPr>
              <a:t>DESIGN MOVE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0" y="2798063"/>
            <a:ext cx="2834640" cy="16459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161B26"/>
                </a:solidFill>
                <a:latin typeface="Arial"/>
              </a:rPr>
              <a:t>Reorganise around user goals and test whether users can predict where items live.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572000" y="4526280"/>
            <a:ext cx="2834640" cy="27432"/>
          </a:xfrm>
          <a:prstGeom prst="rect">
            <a:avLst/>
          </a:prstGeom>
          <a:solidFill>
            <a:srgbClr val="1098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7973568" y="1755648"/>
            <a:ext cx="3392424" cy="3127248"/>
          </a:xfrm>
          <a:prstGeom prst="rect">
            <a:avLst/>
          </a:prstGeom>
          <a:solidFill>
            <a:srgbClr val="FFFFFF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973568" y="1755648"/>
            <a:ext cx="3392424" cy="91440"/>
          </a:xfrm>
          <a:prstGeom prst="rect">
            <a:avLst/>
          </a:prstGeom>
          <a:solidFill>
            <a:srgbClr val="724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8202168" y="2029968"/>
            <a:ext cx="493776" cy="493776"/>
          </a:xfrm>
          <a:prstGeom prst="ellipse">
            <a:avLst/>
          </a:prstGeom>
          <a:solidFill>
            <a:srgbClr val="724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202168" y="2029968"/>
            <a:ext cx="493776" cy="49377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833104" y="2020824"/>
            <a:ext cx="2240280" cy="51206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724CD6"/>
                </a:solidFill>
                <a:latin typeface="Arial"/>
              </a:rPr>
              <a:t>EVIDENCE STANDARD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229600" y="2798063"/>
            <a:ext cx="2834640" cy="16459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161B26"/>
                </a:solidFill>
                <a:latin typeface="Arial"/>
              </a:rPr>
              <a:t>Findability is measurable before high-fidelity design begins.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8229600" y="4526280"/>
            <a:ext cx="2834640" cy="27432"/>
          </a:xfrm>
          <a:prstGeom prst="rect">
            <a:avLst/>
          </a:prstGeom>
          <a:solidFill>
            <a:srgbClr val="724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58368" y="5102352"/>
            <a:ext cx="10835640" cy="56692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14400" y="5239512"/>
            <a:ext cx="10241280" cy="29260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250" b="1" i="0">
                <a:solidFill>
                  <a:srgbClr val="161B26"/>
                </a:solidFill>
                <a:latin typeface="Arial"/>
              </a:rPr>
              <a:t>Ask: what user outcome changes, and what evidence would prove it?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1F6FEB"/>
                </a:solidFill>
                <a:latin typeface="Arial"/>
              </a:rPr>
              <a:t>MODULE 1 · PRINCIPLE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21792"/>
            <a:ext cx="10835640" cy="6583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 i="0">
                <a:solidFill>
                  <a:srgbClr val="161B26"/>
                </a:solidFill>
                <a:latin typeface="Arial"/>
              </a:rPr>
              <a:t>User flows expose hidden interface states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6419088"/>
            <a:ext cx="4663440" cy="2194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 i="0">
                <a:solidFill>
                  <a:srgbClr val="5B6372"/>
                </a:solidFill>
                <a:latin typeface="Arial"/>
              </a:rPr>
              <a:t>Claude Design for UX/UI · C744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89120" y="6419088"/>
            <a:ext cx="3657600" cy="2194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0" i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26679" y="6419088"/>
            <a:ext cx="2834640" cy="2194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730" b="0" i="1">
                <a:solidFill>
                  <a:srgbClr val="949DA9"/>
                </a:solidFill>
                <a:latin typeface="Arial"/>
              </a:rPr>
              <a:t>Microsoft; UXPin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44200" y="6419088"/>
            <a:ext cx="731520" cy="2194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 i="0">
                <a:solidFill>
                  <a:srgbClr val="5B6372"/>
                </a:solidFill>
                <a:latin typeface="Arial"/>
              </a:rPr>
              <a:t>23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58368" y="1691640"/>
            <a:ext cx="2487168" cy="233172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58368" y="1691640"/>
            <a:ext cx="82296" cy="23317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877824" y="1874520"/>
            <a:ext cx="420624" cy="420624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77824" y="1874520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08176" y="1819656"/>
            <a:ext cx="1508760" cy="43891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320" b="1" i="0">
                <a:solidFill>
                  <a:srgbClr val="161B26"/>
                </a:solidFill>
                <a:latin typeface="Arial"/>
              </a:rPr>
              <a:t>Entry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2386584"/>
            <a:ext cx="1965960" cy="133502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070" b="0" i="0">
                <a:solidFill>
                  <a:srgbClr val="5B6372"/>
                </a:solidFill>
                <a:latin typeface="Arial"/>
              </a:rPr>
              <a:t>Show where the user starts and what context arrives with them.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14400" y="3703320"/>
            <a:ext cx="1078992" cy="25603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3703320"/>
            <a:ext cx="1078992" cy="25603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1" i="0">
                <a:solidFill>
                  <a:srgbClr val="FFFFFF"/>
                </a:solidFill>
                <a:latin typeface="Arial"/>
              </a:rPr>
              <a:t>DESIGN LENS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401568" y="1691640"/>
            <a:ext cx="2487168" cy="233172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401568" y="1691640"/>
            <a:ext cx="82296" cy="2331720"/>
          </a:xfrm>
          <a:prstGeom prst="rect">
            <a:avLst/>
          </a:prstGeom>
          <a:solidFill>
            <a:srgbClr val="724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3621024" y="1874520"/>
            <a:ext cx="420624" cy="420624"/>
          </a:xfrm>
          <a:prstGeom prst="ellipse">
            <a:avLst/>
          </a:prstGeom>
          <a:solidFill>
            <a:srgbClr val="724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621024" y="1874520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151376" y="1819656"/>
            <a:ext cx="1508760" cy="43891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320" b="1" i="0">
                <a:solidFill>
                  <a:srgbClr val="161B26"/>
                </a:solidFill>
                <a:latin typeface="Arial"/>
              </a:rPr>
              <a:t>Happy path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657600" y="2386584"/>
            <a:ext cx="1965960" cy="133502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070" b="0" i="0">
                <a:solidFill>
                  <a:srgbClr val="5B6372"/>
                </a:solidFill>
                <a:latin typeface="Arial"/>
              </a:rPr>
              <a:t>Map the shortest valid route to the outcome.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657600" y="3703320"/>
            <a:ext cx="1078992" cy="256032"/>
          </a:xfrm>
          <a:prstGeom prst="rect">
            <a:avLst/>
          </a:prstGeom>
          <a:solidFill>
            <a:srgbClr val="724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657600" y="3703320"/>
            <a:ext cx="1078992" cy="25603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1" i="0">
                <a:solidFill>
                  <a:srgbClr val="FFFFFF"/>
                </a:solidFill>
                <a:latin typeface="Arial"/>
              </a:rPr>
              <a:t>DESIGN LENS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144768" y="1691640"/>
            <a:ext cx="2487168" cy="233172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144768" y="1691640"/>
            <a:ext cx="82296" cy="2331720"/>
          </a:xfrm>
          <a:prstGeom prst="rect">
            <a:avLst/>
          </a:prstGeom>
          <a:solidFill>
            <a:srgbClr val="1098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6364224" y="1874520"/>
            <a:ext cx="420624" cy="420624"/>
          </a:xfrm>
          <a:prstGeom prst="ellipse">
            <a:avLst/>
          </a:prstGeom>
          <a:solidFill>
            <a:srgbClr val="1098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364224" y="1874520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894576" y="1819656"/>
            <a:ext cx="1508760" cy="43891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320" b="1" i="0">
                <a:solidFill>
                  <a:srgbClr val="161B26"/>
                </a:solidFill>
                <a:latin typeface="Arial"/>
              </a:rPr>
              <a:t>Decisions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00800" y="2386584"/>
            <a:ext cx="1965960" cy="133502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070" b="0" i="0">
                <a:solidFill>
                  <a:srgbClr val="5B6372"/>
                </a:solidFill>
                <a:latin typeface="Arial"/>
              </a:rPr>
              <a:t>Name branch criteria and what the user needs to choose well.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400800" y="3703320"/>
            <a:ext cx="1078992" cy="256032"/>
          </a:xfrm>
          <a:prstGeom prst="rect">
            <a:avLst/>
          </a:prstGeom>
          <a:solidFill>
            <a:srgbClr val="1098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400800" y="3703320"/>
            <a:ext cx="1078992" cy="25603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1" i="0">
                <a:solidFill>
                  <a:srgbClr val="FFFFFF"/>
                </a:solidFill>
                <a:latin typeface="Arial"/>
              </a:rPr>
              <a:t>DESIGN LENS</a:t>
            </a:r>
          </a:p>
        </p:txBody>
      </p:sp>
      <p:sp>
        <p:nvSpPr>
          <p:cNvPr id="35" name="Rectangle 34"/>
          <p:cNvSpPr/>
          <p:nvPr/>
        </p:nvSpPr>
        <p:spPr>
          <a:xfrm>
            <a:off x="8887968" y="1691640"/>
            <a:ext cx="2487168" cy="233172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8887968" y="1691640"/>
            <a:ext cx="82296" cy="2331720"/>
          </a:xfrm>
          <a:prstGeom prst="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9107424" y="1874520"/>
            <a:ext cx="420624" cy="420624"/>
          </a:xfrm>
          <a:prstGeom prst="ellipse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107424" y="1874520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637776" y="1819656"/>
            <a:ext cx="1508760" cy="43891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320" b="1" i="0">
                <a:solidFill>
                  <a:srgbClr val="161B26"/>
                </a:solidFill>
                <a:latin typeface="Arial"/>
              </a:rPr>
              <a:t>Exceptions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144000" y="2386584"/>
            <a:ext cx="1965960" cy="133502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070" b="0" i="0">
                <a:solidFill>
                  <a:srgbClr val="5B6372"/>
                </a:solidFill>
                <a:latin typeface="Arial"/>
              </a:rPr>
              <a:t>Include empty, loading, error, permission and recovery states.</a:t>
            </a:r>
          </a:p>
        </p:txBody>
      </p:sp>
      <p:sp>
        <p:nvSpPr>
          <p:cNvPr id="41" name="Rectangle 40"/>
          <p:cNvSpPr/>
          <p:nvPr/>
        </p:nvSpPr>
        <p:spPr>
          <a:xfrm>
            <a:off x="9144000" y="3703320"/>
            <a:ext cx="1078992" cy="256032"/>
          </a:xfrm>
          <a:prstGeom prst="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9144000" y="3703320"/>
            <a:ext cx="1078992" cy="25603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1" i="0">
                <a:solidFill>
                  <a:srgbClr val="FFFFFF"/>
                </a:solidFill>
                <a:latin typeface="Arial"/>
              </a:rPr>
              <a:t>DESIGN LENS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58368" y="4315968"/>
            <a:ext cx="10835640" cy="13258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914400" y="4480560"/>
            <a:ext cx="1828800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 i="0">
                <a:solidFill>
                  <a:srgbClr val="1F6FEB"/>
                </a:solidFill>
                <a:latin typeface="Arial"/>
              </a:rPr>
              <a:t>SYNTHESIS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14400" y="4846320"/>
            <a:ext cx="10195560" cy="56692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 i="0">
                <a:solidFill>
                  <a:srgbClr val="161B26"/>
                </a:solidFill>
                <a:latin typeface="Arial"/>
              </a:rPr>
              <a:t>Show where the user starts and what context arrives with them; include empty, loading, error, permission and recovery states.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1F6FEB"/>
                </a:solidFill>
                <a:latin typeface="Arial"/>
              </a:rPr>
              <a:t>MODULE 1 · CASE LENS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21792"/>
            <a:ext cx="10835640" cy="6583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200" b="1" i="0">
                <a:solidFill>
                  <a:srgbClr val="161B26"/>
                </a:solidFill>
                <a:latin typeface="Arial"/>
              </a:rPr>
              <a:t>User flows expose hidden interface states — applied judgement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6419088"/>
            <a:ext cx="4663440" cy="2194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 i="0">
                <a:solidFill>
                  <a:srgbClr val="5B6372"/>
                </a:solidFill>
                <a:latin typeface="Arial"/>
              </a:rPr>
              <a:t>Claude Design for UX/UI · C744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89120" y="6419088"/>
            <a:ext cx="3657600" cy="2194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0" i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26679" y="6419088"/>
            <a:ext cx="2834640" cy="2194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730" b="0" i="1">
                <a:solidFill>
                  <a:srgbClr val="949DA9"/>
                </a:solidFill>
                <a:latin typeface="Arial"/>
              </a:rPr>
              <a:t>Microsoft; UXPin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44200" y="6419088"/>
            <a:ext cx="731520" cy="2194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 i="0">
                <a:solidFill>
                  <a:srgbClr val="5B6372"/>
                </a:solidFill>
                <a:latin typeface="Arial"/>
              </a:rPr>
              <a:t>24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58368" y="1755648"/>
            <a:ext cx="3392424" cy="3127248"/>
          </a:xfrm>
          <a:prstGeom prst="rect">
            <a:avLst/>
          </a:prstGeom>
          <a:solidFill>
            <a:srgbClr val="FFFFFF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58368" y="1755648"/>
            <a:ext cx="3392424" cy="91440"/>
          </a:xfrm>
          <a:prstGeom prst="rect">
            <a:avLst/>
          </a:prstGeom>
          <a:solidFill>
            <a:srgbClr val="F06F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886968" y="2029968"/>
            <a:ext cx="493776" cy="493776"/>
          </a:xfrm>
          <a:prstGeom prst="ellipse">
            <a:avLst/>
          </a:prstGeom>
          <a:solidFill>
            <a:srgbClr val="F06F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86968" y="2029968"/>
            <a:ext cx="493776" cy="49377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17904" y="2020824"/>
            <a:ext cx="2240280" cy="51206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F06F61"/>
                </a:solidFill>
                <a:latin typeface="Arial"/>
              </a:rPr>
              <a:t>CONTEXT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2798063"/>
            <a:ext cx="2834640" cy="16459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161B26"/>
                </a:solidFill>
                <a:latin typeface="Arial"/>
              </a:rPr>
              <a:t>A checkout flow documents payment success but not a declined card.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14400" y="4526280"/>
            <a:ext cx="2834640" cy="27432"/>
          </a:xfrm>
          <a:prstGeom prst="rect">
            <a:avLst/>
          </a:prstGeom>
          <a:solidFill>
            <a:srgbClr val="F06F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315968" y="1755648"/>
            <a:ext cx="3392424" cy="3127248"/>
          </a:xfrm>
          <a:prstGeom prst="rect">
            <a:avLst/>
          </a:prstGeom>
          <a:solidFill>
            <a:srgbClr val="FFFFFF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315968" y="1755648"/>
            <a:ext cx="3392424" cy="91440"/>
          </a:xfrm>
          <a:prstGeom prst="rect">
            <a:avLst/>
          </a:prstGeom>
          <a:solidFill>
            <a:srgbClr val="1098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4544568" y="2029968"/>
            <a:ext cx="493776" cy="493776"/>
          </a:xfrm>
          <a:prstGeom prst="ellipse">
            <a:avLst/>
          </a:prstGeom>
          <a:solidFill>
            <a:srgbClr val="1098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544568" y="2029968"/>
            <a:ext cx="493776" cy="49377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175504" y="2020824"/>
            <a:ext cx="2240280" cy="51206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10988A"/>
                </a:solidFill>
                <a:latin typeface="Arial"/>
              </a:rPr>
              <a:t>DESIGN MOVE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0" y="2798063"/>
            <a:ext cx="2834640" cy="16459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161B26"/>
                </a:solidFill>
                <a:latin typeface="Arial"/>
              </a:rPr>
              <a:t>Add failure, retry and saved-progress branches before designing screens.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572000" y="4526280"/>
            <a:ext cx="2834640" cy="27432"/>
          </a:xfrm>
          <a:prstGeom prst="rect">
            <a:avLst/>
          </a:prstGeom>
          <a:solidFill>
            <a:srgbClr val="1098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7973568" y="1755648"/>
            <a:ext cx="3392424" cy="3127248"/>
          </a:xfrm>
          <a:prstGeom prst="rect">
            <a:avLst/>
          </a:prstGeom>
          <a:solidFill>
            <a:srgbClr val="FFFFFF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973568" y="1755648"/>
            <a:ext cx="3392424" cy="91440"/>
          </a:xfrm>
          <a:prstGeom prst="rect">
            <a:avLst/>
          </a:prstGeom>
          <a:solidFill>
            <a:srgbClr val="724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8202168" y="2029968"/>
            <a:ext cx="493776" cy="493776"/>
          </a:xfrm>
          <a:prstGeom prst="ellipse">
            <a:avLst/>
          </a:prstGeom>
          <a:solidFill>
            <a:srgbClr val="724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202168" y="2029968"/>
            <a:ext cx="493776" cy="49377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833104" y="2020824"/>
            <a:ext cx="2240280" cy="51206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724CD6"/>
                </a:solidFill>
                <a:latin typeface="Arial"/>
              </a:rPr>
              <a:t>EVIDENCE STANDARD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229600" y="2798063"/>
            <a:ext cx="2834640" cy="16459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161B26"/>
                </a:solidFill>
                <a:latin typeface="Arial"/>
              </a:rPr>
              <a:t>A complete flow maps states, not just pages.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8229600" y="4526280"/>
            <a:ext cx="2834640" cy="27432"/>
          </a:xfrm>
          <a:prstGeom prst="rect">
            <a:avLst/>
          </a:prstGeom>
          <a:solidFill>
            <a:srgbClr val="724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58368" y="5102352"/>
            <a:ext cx="10835640" cy="56692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14400" y="5239512"/>
            <a:ext cx="10241280" cy="29260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250" b="1" i="0">
                <a:solidFill>
                  <a:srgbClr val="161B26"/>
                </a:solidFill>
                <a:latin typeface="Arial"/>
              </a:rPr>
              <a:t>Ask: what user outcome changes, and what evidence would prove it?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1F6FEB"/>
                </a:solidFill>
                <a:latin typeface="Arial"/>
              </a:rPr>
              <a:t>MODULE 1 · PRINCIPLE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21792"/>
            <a:ext cx="10835640" cy="6583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 i="0">
                <a:solidFill>
                  <a:srgbClr val="161B26"/>
                </a:solidFill>
                <a:latin typeface="Arial"/>
              </a:rPr>
              <a:t>Clarity: make purpose and next action obvious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6419088"/>
            <a:ext cx="4663440" cy="2194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 i="0">
                <a:solidFill>
                  <a:srgbClr val="5B6372"/>
                </a:solidFill>
                <a:latin typeface="Arial"/>
              </a:rPr>
              <a:t>Claude Design for UX/UI · C744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89120" y="6419088"/>
            <a:ext cx="3657600" cy="2194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0" i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26679" y="6419088"/>
            <a:ext cx="2834640" cy="2194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730" b="0" i="1">
                <a:solidFill>
                  <a:srgbClr val="949DA9"/>
                </a:solidFill>
                <a:latin typeface="Arial"/>
              </a:rPr>
              <a:t>Contentsquare; UXPin; MockFlow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44200" y="6419088"/>
            <a:ext cx="731520" cy="2194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 i="0">
                <a:solidFill>
                  <a:srgbClr val="5B6372"/>
                </a:solidFill>
                <a:latin typeface="Arial"/>
              </a:rPr>
              <a:t>25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58368" y="1691640"/>
            <a:ext cx="2487168" cy="233172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58368" y="1691640"/>
            <a:ext cx="82296" cy="23317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877824" y="1874520"/>
            <a:ext cx="420624" cy="420624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77824" y="1874520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08176" y="1819656"/>
            <a:ext cx="1508760" cy="43891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320" b="1" i="0">
                <a:solidFill>
                  <a:srgbClr val="161B26"/>
                </a:solidFill>
                <a:latin typeface="Arial"/>
              </a:rPr>
              <a:t>Screen purpose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2386584"/>
            <a:ext cx="1965960" cy="133502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070" b="0" i="0">
                <a:solidFill>
                  <a:srgbClr val="5B6372"/>
                </a:solidFill>
                <a:latin typeface="Arial"/>
              </a:rPr>
              <a:t>A clear heading says where the user is and why it matters.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14400" y="3703320"/>
            <a:ext cx="1078992" cy="25603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3703320"/>
            <a:ext cx="1078992" cy="25603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1" i="0">
                <a:solidFill>
                  <a:srgbClr val="FFFFFF"/>
                </a:solidFill>
                <a:latin typeface="Arial"/>
              </a:rPr>
              <a:t>DESIGN LENS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401568" y="1691640"/>
            <a:ext cx="2487168" cy="233172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401568" y="1691640"/>
            <a:ext cx="82296" cy="2331720"/>
          </a:xfrm>
          <a:prstGeom prst="rect">
            <a:avLst/>
          </a:prstGeom>
          <a:solidFill>
            <a:srgbClr val="724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3621024" y="1874520"/>
            <a:ext cx="420624" cy="420624"/>
          </a:xfrm>
          <a:prstGeom prst="ellipse">
            <a:avLst/>
          </a:prstGeom>
          <a:solidFill>
            <a:srgbClr val="724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621024" y="1874520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151376" y="1819656"/>
            <a:ext cx="1508760" cy="43891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320" b="1" i="0">
                <a:solidFill>
                  <a:srgbClr val="161B26"/>
                </a:solidFill>
                <a:latin typeface="Arial"/>
              </a:rPr>
              <a:t>Action labels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657600" y="2386584"/>
            <a:ext cx="1965960" cy="133502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070" b="0" i="0">
                <a:solidFill>
                  <a:srgbClr val="5B6372"/>
                </a:solidFill>
                <a:latin typeface="Arial"/>
              </a:rPr>
              <a:t>Use outcome-specific verbs such as 'Save draft' or 'Book slot'.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657600" y="3703320"/>
            <a:ext cx="1078992" cy="256032"/>
          </a:xfrm>
          <a:prstGeom prst="rect">
            <a:avLst/>
          </a:prstGeom>
          <a:solidFill>
            <a:srgbClr val="724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657600" y="3703320"/>
            <a:ext cx="1078992" cy="25603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1" i="0">
                <a:solidFill>
                  <a:srgbClr val="FFFFFF"/>
                </a:solidFill>
                <a:latin typeface="Arial"/>
              </a:rPr>
              <a:t>DESIGN LENS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144768" y="1691640"/>
            <a:ext cx="2487168" cy="233172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144768" y="1691640"/>
            <a:ext cx="82296" cy="2331720"/>
          </a:xfrm>
          <a:prstGeom prst="rect">
            <a:avLst/>
          </a:prstGeom>
          <a:solidFill>
            <a:srgbClr val="1098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6364224" y="1874520"/>
            <a:ext cx="420624" cy="420624"/>
          </a:xfrm>
          <a:prstGeom prst="ellipse">
            <a:avLst/>
          </a:prstGeom>
          <a:solidFill>
            <a:srgbClr val="1098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364224" y="1874520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894576" y="1819656"/>
            <a:ext cx="1508760" cy="43891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320" b="1" i="0">
                <a:solidFill>
                  <a:srgbClr val="161B26"/>
                </a:solidFill>
                <a:latin typeface="Arial"/>
              </a:rPr>
              <a:t>Visible priority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00800" y="2386584"/>
            <a:ext cx="1965960" cy="133502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070" b="0" i="0">
                <a:solidFill>
                  <a:srgbClr val="5B6372"/>
                </a:solidFill>
                <a:latin typeface="Arial"/>
              </a:rPr>
              <a:t>One primary action dominates; secondary actions remain available.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400800" y="3703320"/>
            <a:ext cx="1078992" cy="256032"/>
          </a:xfrm>
          <a:prstGeom prst="rect">
            <a:avLst/>
          </a:prstGeom>
          <a:solidFill>
            <a:srgbClr val="1098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400800" y="3703320"/>
            <a:ext cx="1078992" cy="25603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1" i="0">
                <a:solidFill>
                  <a:srgbClr val="FFFFFF"/>
                </a:solidFill>
                <a:latin typeface="Arial"/>
              </a:rPr>
              <a:t>DESIGN LENS</a:t>
            </a:r>
          </a:p>
        </p:txBody>
      </p:sp>
      <p:sp>
        <p:nvSpPr>
          <p:cNvPr id="35" name="Rectangle 34"/>
          <p:cNvSpPr/>
          <p:nvPr/>
        </p:nvSpPr>
        <p:spPr>
          <a:xfrm>
            <a:off x="8887968" y="1691640"/>
            <a:ext cx="2487168" cy="233172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8887968" y="1691640"/>
            <a:ext cx="82296" cy="2331720"/>
          </a:xfrm>
          <a:prstGeom prst="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9107424" y="1874520"/>
            <a:ext cx="420624" cy="420624"/>
          </a:xfrm>
          <a:prstGeom prst="ellipse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107424" y="1874520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637776" y="1819656"/>
            <a:ext cx="1508760" cy="43891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320" b="1" i="0">
                <a:solidFill>
                  <a:srgbClr val="161B26"/>
                </a:solidFill>
                <a:latin typeface="Arial"/>
              </a:rPr>
              <a:t>Plain feedback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144000" y="2386584"/>
            <a:ext cx="1965960" cy="133502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070" b="0" i="0">
                <a:solidFill>
                  <a:srgbClr val="5B6372"/>
                </a:solidFill>
                <a:latin typeface="Arial"/>
              </a:rPr>
              <a:t>Say what happened, what it means and what to do next.</a:t>
            </a:r>
          </a:p>
        </p:txBody>
      </p:sp>
      <p:sp>
        <p:nvSpPr>
          <p:cNvPr id="41" name="Rectangle 40"/>
          <p:cNvSpPr/>
          <p:nvPr/>
        </p:nvSpPr>
        <p:spPr>
          <a:xfrm>
            <a:off x="9144000" y="3703320"/>
            <a:ext cx="1078992" cy="256032"/>
          </a:xfrm>
          <a:prstGeom prst="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9144000" y="3703320"/>
            <a:ext cx="1078992" cy="25603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1" i="0">
                <a:solidFill>
                  <a:srgbClr val="FFFFFF"/>
                </a:solidFill>
                <a:latin typeface="Arial"/>
              </a:rPr>
              <a:t>DESIGN LENS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58368" y="4315968"/>
            <a:ext cx="10835640" cy="13258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914400" y="4480560"/>
            <a:ext cx="1828800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 i="0">
                <a:solidFill>
                  <a:srgbClr val="1F6FEB"/>
                </a:solidFill>
                <a:latin typeface="Arial"/>
              </a:rPr>
              <a:t>SYNTHESIS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14400" y="4846320"/>
            <a:ext cx="10195560" cy="56692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 i="0">
                <a:solidFill>
                  <a:srgbClr val="161B26"/>
                </a:solidFill>
                <a:latin typeface="Arial"/>
              </a:rPr>
              <a:t>A clear heading says where the user is and why it matters; say what happened, what it means and what to do next.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1F6FEB"/>
                </a:solidFill>
                <a:latin typeface="Arial"/>
              </a:rPr>
              <a:t>MODULE 1 · CASE LENS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21792"/>
            <a:ext cx="10835640" cy="6583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200" b="1" i="0">
                <a:solidFill>
                  <a:srgbClr val="161B26"/>
                </a:solidFill>
                <a:latin typeface="Arial"/>
              </a:rPr>
              <a:t>Clarity: make purpose and next action obvious — applied judgement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6419088"/>
            <a:ext cx="4663440" cy="2194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 i="0">
                <a:solidFill>
                  <a:srgbClr val="5B6372"/>
                </a:solidFill>
                <a:latin typeface="Arial"/>
              </a:rPr>
              <a:t>Claude Design for UX/UI · C744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89120" y="6419088"/>
            <a:ext cx="3657600" cy="2194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0" i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26679" y="6419088"/>
            <a:ext cx="2834640" cy="2194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730" b="0" i="1">
                <a:solidFill>
                  <a:srgbClr val="949DA9"/>
                </a:solidFill>
                <a:latin typeface="Arial"/>
              </a:rPr>
              <a:t>Contentsquare; UXPin; MockFlow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44200" y="6419088"/>
            <a:ext cx="731520" cy="2194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 i="0">
                <a:solidFill>
                  <a:srgbClr val="5B6372"/>
                </a:solidFill>
                <a:latin typeface="Arial"/>
              </a:rPr>
              <a:t>26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58368" y="1755648"/>
            <a:ext cx="3392424" cy="3127248"/>
          </a:xfrm>
          <a:prstGeom prst="rect">
            <a:avLst/>
          </a:prstGeom>
          <a:solidFill>
            <a:srgbClr val="FFFFFF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58368" y="1755648"/>
            <a:ext cx="3392424" cy="91440"/>
          </a:xfrm>
          <a:prstGeom prst="rect">
            <a:avLst/>
          </a:prstGeom>
          <a:solidFill>
            <a:srgbClr val="F06F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886968" y="2029968"/>
            <a:ext cx="493776" cy="493776"/>
          </a:xfrm>
          <a:prstGeom prst="ellipse">
            <a:avLst/>
          </a:prstGeom>
          <a:solidFill>
            <a:srgbClr val="F06F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86968" y="2029968"/>
            <a:ext cx="493776" cy="49377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17904" y="2020824"/>
            <a:ext cx="2240280" cy="51206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F06F61"/>
                </a:solidFill>
                <a:latin typeface="Arial"/>
              </a:rPr>
              <a:t>CONTEXT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2798063"/>
            <a:ext cx="2834640" cy="16459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161B26"/>
                </a:solidFill>
                <a:latin typeface="Arial"/>
              </a:rPr>
              <a:t>A form ends with two identical buttons labelled 'Continue'.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14400" y="4526280"/>
            <a:ext cx="2834640" cy="27432"/>
          </a:xfrm>
          <a:prstGeom prst="rect">
            <a:avLst/>
          </a:prstGeom>
          <a:solidFill>
            <a:srgbClr val="F06F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315968" y="1755648"/>
            <a:ext cx="3392424" cy="3127248"/>
          </a:xfrm>
          <a:prstGeom prst="rect">
            <a:avLst/>
          </a:prstGeom>
          <a:solidFill>
            <a:srgbClr val="FFFFFF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315968" y="1755648"/>
            <a:ext cx="3392424" cy="91440"/>
          </a:xfrm>
          <a:prstGeom prst="rect">
            <a:avLst/>
          </a:prstGeom>
          <a:solidFill>
            <a:srgbClr val="1098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4544568" y="2029968"/>
            <a:ext cx="493776" cy="493776"/>
          </a:xfrm>
          <a:prstGeom prst="ellipse">
            <a:avLst/>
          </a:prstGeom>
          <a:solidFill>
            <a:srgbClr val="1098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544568" y="2029968"/>
            <a:ext cx="493776" cy="49377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175504" y="2020824"/>
            <a:ext cx="2240280" cy="51206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10988A"/>
                </a:solidFill>
                <a:latin typeface="Arial"/>
              </a:rPr>
              <a:t>DESIGN MOVE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0" y="2798063"/>
            <a:ext cx="2834640" cy="16459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161B26"/>
                </a:solidFill>
                <a:latin typeface="Arial"/>
              </a:rPr>
              <a:t>Name outcomes, establish a primary action and clarify the consequence of each choice.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572000" y="4526280"/>
            <a:ext cx="2834640" cy="27432"/>
          </a:xfrm>
          <a:prstGeom prst="rect">
            <a:avLst/>
          </a:prstGeom>
          <a:solidFill>
            <a:srgbClr val="1098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7973568" y="1755648"/>
            <a:ext cx="3392424" cy="3127248"/>
          </a:xfrm>
          <a:prstGeom prst="rect">
            <a:avLst/>
          </a:prstGeom>
          <a:solidFill>
            <a:srgbClr val="FFFFFF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973568" y="1755648"/>
            <a:ext cx="3392424" cy="91440"/>
          </a:xfrm>
          <a:prstGeom prst="rect">
            <a:avLst/>
          </a:prstGeom>
          <a:solidFill>
            <a:srgbClr val="724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8202168" y="2029968"/>
            <a:ext cx="493776" cy="493776"/>
          </a:xfrm>
          <a:prstGeom prst="ellipse">
            <a:avLst/>
          </a:prstGeom>
          <a:solidFill>
            <a:srgbClr val="724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202168" y="2029968"/>
            <a:ext cx="493776" cy="49377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833104" y="2020824"/>
            <a:ext cx="2240280" cy="51206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724CD6"/>
                </a:solidFill>
                <a:latin typeface="Arial"/>
              </a:rPr>
              <a:t>EVIDENCE STANDARD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229600" y="2798063"/>
            <a:ext cx="2834640" cy="16459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161B26"/>
                </a:solidFill>
                <a:latin typeface="Arial"/>
              </a:rPr>
              <a:t>If users must decode the interface, clarity has failed.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8229600" y="4526280"/>
            <a:ext cx="2834640" cy="27432"/>
          </a:xfrm>
          <a:prstGeom prst="rect">
            <a:avLst/>
          </a:prstGeom>
          <a:solidFill>
            <a:srgbClr val="724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58368" y="5102352"/>
            <a:ext cx="10835640" cy="56692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14400" y="5239512"/>
            <a:ext cx="10241280" cy="29260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250" b="1" i="0">
                <a:solidFill>
                  <a:srgbClr val="161B26"/>
                </a:solidFill>
                <a:latin typeface="Arial"/>
              </a:rPr>
              <a:t>Ask: what user outcome changes, and what evidence would prove it?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1F6FEB"/>
                </a:solidFill>
                <a:latin typeface="Arial"/>
              </a:rPr>
              <a:t>MODULE 1 · PRINCIPLE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21792"/>
            <a:ext cx="10835640" cy="6583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 i="0">
                <a:solidFill>
                  <a:srgbClr val="161B26"/>
                </a:solidFill>
                <a:latin typeface="Arial"/>
              </a:rPr>
              <a:t>Visual hierarchy: design the reading order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6419088"/>
            <a:ext cx="4663440" cy="2194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 i="0">
                <a:solidFill>
                  <a:srgbClr val="5B6372"/>
                </a:solidFill>
                <a:latin typeface="Arial"/>
              </a:rPr>
              <a:t>Claude Design for UX/UI · C744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89120" y="6419088"/>
            <a:ext cx="3657600" cy="2194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0" i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26679" y="6419088"/>
            <a:ext cx="2834640" cy="2194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730" b="0" i="1">
                <a:solidFill>
                  <a:srgbClr val="949DA9"/>
                </a:solidFill>
                <a:latin typeface="Arial"/>
              </a:rPr>
              <a:t>Figma; Visily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44200" y="6419088"/>
            <a:ext cx="731520" cy="2194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 i="0">
                <a:solidFill>
                  <a:srgbClr val="5B6372"/>
                </a:solidFill>
                <a:latin typeface="Arial"/>
              </a:rPr>
              <a:t>27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58368" y="1691640"/>
            <a:ext cx="2487168" cy="233172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58368" y="1691640"/>
            <a:ext cx="82296" cy="23317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877824" y="1874520"/>
            <a:ext cx="420624" cy="420624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77824" y="1874520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08176" y="1819656"/>
            <a:ext cx="1508760" cy="43891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320" b="1" i="0">
                <a:solidFill>
                  <a:srgbClr val="161B26"/>
                </a:solidFill>
                <a:latin typeface="Arial"/>
              </a:rPr>
              <a:t>Scale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2386584"/>
            <a:ext cx="1965960" cy="133502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070" b="0" i="0">
                <a:solidFill>
                  <a:srgbClr val="5B6372"/>
                </a:solidFill>
                <a:latin typeface="Arial"/>
              </a:rPr>
              <a:t>Larger elements signal importance when used sparingly.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14400" y="3703320"/>
            <a:ext cx="1078992" cy="25603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3703320"/>
            <a:ext cx="1078992" cy="25603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1" i="0">
                <a:solidFill>
                  <a:srgbClr val="FFFFFF"/>
                </a:solidFill>
                <a:latin typeface="Arial"/>
              </a:rPr>
              <a:t>DESIGN LENS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401568" y="1691640"/>
            <a:ext cx="2487168" cy="233172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401568" y="1691640"/>
            <a:ext cx="82296" cy="2331720"/>
          </a:xfrm>
          <a:prstGeom prst="rect">
            <a:avLst/>
          </a:prstGeom>
          <a:solidFill>
            <a:srgbClr val="724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3621024" y="1874520"/>
            <a:ext cx="420624" cy="420624"/>
          </a:xfrm>
          <a:prstGeom prst="ellipse">
            <a:avLst/>
          </a:prstGeom>
          <a:solidFill>
            <a:srgbClr val="724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621024" y="1874520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151376" y="1819656"/>
            <a:ext cx="1508760" cy="43891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320" b="1" i="0">
                <a:solidFill>
                  <a:srgbClr val="161B26"/>
                </a:solidFill>
                <a:latin typeface="Arial"/>
              </a:rPr>
              <a:t>Contrast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657600" y="2386584"/>
            <a:ext cx="1965960" cy="133502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070" b="0" i="0">
                <a:solidFill>
                  <a:srgbClr val="5B6372"/>
                </a:solidFill>
                <a:latin typeface="Arial"/>
              </a:rPr>
              <a:t>Value, colour and weight create emphasis and separation.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657600" y="3703320"/>
            <a:ext cx="1078992" cy="256032"/>
          </a:xfrm>
          <a:prstGeom prst="rect">
            <a:avLst/>
          </a:prstGeom>
          <a:solidFill>
            <a:srgbClr val="724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657600" y="3703320"/>
            <a:ext cx="1078992" cy="25603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1" i="0">
                <a:solidFill>
                  <a:srgbClr val="FFFFFF"/>
                </a:solidFill>
                <a:latin typeface="Arial"/>
              </a:rPr>
              <a:t>DESIGN LENS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144768" y="1691640"/>
            <a:ext cx="2487168" cy="233172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144768" y="1691640"/>
            <a:ext cx="82296" cy="2331720"/>
          </a:xfrm>
          <a:prstGeom prst="rect">
            <a:avLst/>
          </a:prstGeom>
          <a:solidFill>
            <a:srgbClr val="1098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6364224" y="1874520"/>
            <a:ext cx="420624" cy="420624"/>
          </a:xfrm>
          <a:prstGeom prst="ellipse">
            <a:avLst/>
          </a:prstGeom>
          <a:solidFill>
            <a:srgbClr val="1098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364224" y="1874520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894576" y="1819656"/>
            <a:ext cx="1508760" cy="43891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320" b="1" i="0">
                <a:solidFill>
                  <a:srgbClr val="161B26"/>
                </a:solidFill>
                <a:latin typeface="Arial"/>
              </a:rPr>
              <a:t>Position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00800" y="2386584"/>
            <a:ext cx="1965960" cy="133502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070" b="0" i="0">
                <a:solidFill>
                  <a:srgbClr val="5B6372"/>
                </a:solidFill>
                <a:latin typeface="Arial"/>
              </a:rPr>
              <a:t>Placement and whitespace determine what users encounter first.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400800" y="3703320"/>
            <a:ext cx="1078992" cy="256032"/>
          </a:xfrm>
          <a:prstGeom prst="rect">
            <a:avLst/>
          </a:prstGeom>
          <a:solidFill>
            <a:srgbClr val="1098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400800" y="3703320"/>
            <a:ext cx="1078992" cy="25603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1" i="0">
                <a:solidFill>
                  <a:srgbClr val="FFFFFF"/>
                </a:solidFill>
                <a:latin typeface="Arial"/>
              </a:rPr>
              <a:t>DESIGN LENS</a:t>
            </a:r>
          </a:p>
        </p:txBody>
      </p:sp>
      <p:sp>
        <p:nvSpPr>
          <p:cNvPr id="35" name="Rectangle 34"/>
          <p:cNvSpPr/>
          <p:nvPr/>
        </p:nvSpPr>
        <p:spPr>
          <a:xfrm>
            <a:off x="8887968" y="1691640"/>
            <a:ext cx="2487168" cy="233172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8887968" y="1691640"/>
            <a:ext cx="82296" cy="2331720"/>
          </a:xfrm>
          <a:prstGeom prst="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9107424" y="1874520"/>
            <a:ext cx="420624" cy="420624"/>
          </a:xfrm>
          <a:prstGeom prst="ellipse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107424" y="1874520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637776" y="1819656"/>
            <a:ext cx="1508760" cy="43891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320" b="1" i="0">
                <a:solidFill>
                  <a:srgbClr val="161B26"/>
                </a:solidFill>
                <a:latin typeface="Arial"/>
              </a:rPr>
              <a:t>Grouping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144000" y="2386584"/>
            <a:ext cx="1965960" cy="133502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070" b="0" i="0">
                <a:solidFill>
                  <a:srgbClr val="5B6372"/>
                </a:solidFill>
                <a:latin typeface="Arial"/>
              </a:rPr>
              <a:t>Proximity and alignment reveal relationships without explanation.</a:t>
            </a:r>
          </a:p>
        </p:txBody>
      </p:sp>
      <p:sp>
        <p:nvSpPr>
          <p:cNvPr id="41" name="Rectangle 40"/>
          <p:cNvSpPr/>
          <p:nvPr/>
        </p:nvSpPr>
        <p:spPr>
          <a:xfrm>
            <a:off x="9144000" y="3703320"/>
            <a:ext cx="1078992" cy="256032"/>
          </a:xfrm>
          <a:prstGeom prst="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9144000" y="3703320"/>
            <a:ext cx="1078992" cy="25603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1" i="0">
                <a:solidFill>
                  <a:srgbClr val="FFFFFF"/>
                </a:solidFill>
                <a:latin typeface="Arial"/>
              </a:rPr>
              <a:t>DESIGN LENS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58368" y="4315968"/>
            <a:ext cx="10835640" cy="13258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914400" y="4480560"/>
            <a:ext cx="1828800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 i="0">
                <a:solidFill>
                  <a:srgbClr val="1F6FEB"/>
                </a:solidFill>
                <a:latin typeface="Arial"/>
              </a:rPr>
              <a:t>SYNTHESIS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14400" y="4846320"/>
            <a:ext cx="10195560" cy="56692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 i="0">
                <a:solidFill>
                  <a:srgbClr val="161B26"/>
                </a:solidFill>
                <a:latin typeface="Arial"/>
              </a:rPr>
              <a:t>Larger elements signal importance when used sparingly; proximity and alignment reveal relationships without explanation.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1F6FEB"/>
                </a:solidFill>
                <a:latin typeface="Arial"/>
              </a:rPr>
              <a:t>MODULE 1 · CASE LENS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21792"/>
            <a:ext cx="10835640" cy="6583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200" b="1" i="0">
                <a:solidFill>
                  <a:srgbClr val="161B26"/>
                </a:solidFill>
                <a:latin typeface="Arial"/>
              </a:rPr>
              <a:t>Visual hierarchy: design the reading order — applied judgement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6419088"/>
            <a:ext cx="4663440" cy="2194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 i="0">
                <a:solidFill>
                  <a:srgbClr val="5B6372"/>
                </a:solidFill>
                <a:latin typeface="Arial"/>
              </a:rPr>
              <a:t>Claude Design for UX/UI · C744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89120" y="6419088"/>
            <a:ext cx="3657600" cy="2194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0" i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26679" y="6419088"/>
            <a:ext cx="2834640" cy="2194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730" b="0" i="1">
                <a:solidFill>
                  <a:srgbClr val="949DA9"/>
                </a:solidFill>
                <a:latin typeface="Arial"/>
              </a:rPr>
              <a:t>Figma; Visily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44200" y="6419088"/>
            <a:ext cx="731520" cy="2194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 i="0">
                <a:solidFill>
                  <a:srgbClr val="5B6372"/>
                </a:solidFill>
                <a:latin typeface="Arial"/>
              </a:rPr>
              <a:t>28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58368" y="1755648"/>
            <a:ext cx="3392424" cy="3127248"/>
          </a:xfrm>
          <a:prstGeom prst="rect">
            <a:avLst/>
          </a:prstGeom>
          <a:solidFill>
            <a:srgbClr val="FFFFFF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58368" y="1755648"/>
            <a:ext cx="3392424" cy="91440"/>
          </a:xfrm>
          <a:prstGeom prst="rect">
            <a:avLst/>
          </a:prstGeom>
          <a:solidFill>
            <a:srgbClr val="F06F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886968" y="2029968"/>
            <a:ext cx="493776" cy="493776"/>
          </a:xfrm>
          <a:prstGeom prst="ellipse">
            <a:avLst/>
          </a:prstGeom>
          <a:solidFill>
            <a:srgbClr val="F06F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86968" y="2029968"/>
            <a:ext cx="493776" cy="49377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17904" y="2020824"/>
            <a:ext cx="2240280" cy="51206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F06F61"/>
                </a:solidFill>
                <a:latin typeface="Arial"/>
              </a:rPr>
              <a:t>CONTEXT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2798063"/>
            <a:ext cx="2834640" cy="16459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161B26"/>
                </a:solidFill>
                <a:latin typeface="Arial"/>
              </a:rPr>
              <a:t>Every card, heading and button on a dashboard has equal visual weight.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14400" y="4526280"/>
            <a:ext cx="2834640" cy="27432"/>
          </a:xfrm>
          <a:prstGeom prst="rect">
            <a:avLst/>
          </a:prstGeom>
          <a:solidFill>
            <a:srgbClr val="F06F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315968" y="1755648"/>
            <a:ext cx="3392424" cy="3127248"/>
          </a:xfrm>
          <a:prstGeom prst="rect">
            <a:avLst/>
          </a:prstGeom>
          <a:solidFill>
            <a:srgbClr val="FFFFFF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315968" y="1755648"/>
            <a:ext cx="3392424" cy="91440"/>
          </a:xfrm>
          <a:prstGeom prst="rect">
            <a:avLst/>
          </a:prstGeom>
          <a:solidFill>
            <a:srgbClr val="1098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4544568" y="2029968"/>
            <a:ext cx="493776" cy="493776"/>
          </a:xfrm>
          <a:prstGeom prst="ellipse">
            <a:avLst/>
          </a:prstGeom>
          <a:solidFill>
            <a:srgbClr val="1098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544568" y="2029968"/>
            <a:ext cx="493776" cy="49377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175504" y="2020824"/>
            <a:ext cx="2240280" cy="51206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10988A"/>
                </a:solidFill>
                <a:latin typeface="Arial"/>
              </a:rPr>
              <a:t>DESIGN MOVE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0" y="2798063"/>
            <a:ext cx="2834640" cy="16459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161B26"/>
                </a:solidFill>
                <a:latin typeface="Arial"/>
              </a:rPr>
              <a:t>Choose a reading order, strengthen the primary signal and quiet supporting content.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572000" y="4526280"/>
            <a:ext cx="2834640" cy="27432"/>
          </a:xfrm>
          <a:prstGeom prst="rect">
            <a:avLst/>
          </a:prstGeom>
          <a:solidFill>
            <a:srgbClr val="1098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7973568" y="1755648"/>
            <a:ext cx="3392424" cy="3127248"/>
          </a:xfrm>
          <a:prstGeom prst="rect">
            <a:avLst/>
          </a:prstGeom>
          <a:solidFill>
            <a:srgbClr val="FFFFFF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973568" y="1755648"/>
            <a:ext cx="3392424" cy="91440"/>
          </a:xfrm>
          <a:prstGeom prst="rect">
            <a:avLst/>
          </a:prstGeom>
          <a:solidFill>
            <a:srgbClr val="724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8202168" y="2029968"/>
            <a:ext cx="493776" cy="493776"/>
          </a:xfrm>
          <a:prstGeom prst="ellipse">
            <a:avLst/>
          </a:prstGeom>
          <a:solidFill>
            <a:srgbClr val="724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202168" y="2029968"/>
            <a:ext cx="493776" cy="49377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833104" y="2020824"/>
            <a:ext cx="2240280" cy="51206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724CD6"/>
                </a:solidFill>
                <a:latin typeface="Arial"/>
              </a:rPr>
              <a:t>EVIDENCE STANDARD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229600" y="2798063"/>
            <a:ext cx="2834640" cy="16459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161B26"/>
                </a:solidFill>
                <a:latin typeface="Arial"/>
              </a:rPr>
              <a:t>A five-second glance should reveal purpose, status and next action.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8229600" y="4526280"/>
            <a:ext cx="2834640" cy="27432"/>
          </a:xfrm>
          <a:prstGeom prst="rect">
            <a:avLst/>
          </a:prstGeom>
          <a:solidFill>
            <a:srgbClr val="724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58368" y="5102352"/>
            <a:ext cx="10835640" cy="56692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14400" y="5239512"/>
            <a:ext cx="10241280" cy="29260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250" b="1" i="0">
                <a:solidFill>
                  <a:srgbClr val="161B26"/>
                </a:solidFill>
                <a:latin typeface="Arial"/>
              </a:rPr>
              <a:t>Ask: what user outcome changes, and what evidence would prove it?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1F6FEB"/>
                </a:solidFill>
                <a:latin typeface="Arial"/>
              </a:rPr>
              <a:t>MODULE 1 · PRINCIPLE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21792"/>
            <a:ext cx="10835640" cy="6583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 i="0">
                <a:solidFill>
                  <a:srgbClr val="161B26"/>
                </a:solidFill>
                <a:latin typeface="Arial"/>
              </a:rPr>
              <a:t>Consistency and familiarity build prediction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6419088"/>
            <a:ext cx="4663440" cy="2194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 i="0">
                <a:solidFill>
                  <a:srgbClr val="5B6372"/>
                </a:solidFill>
                <a:latin typeface="Arial"/>
              </a:rPr>
              <a:t>Claude Design for UX/UI · C744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89120" y="6419088"/>
            <a:ext cx="3657600" cy="2194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0" i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26679" y="6419088"/>
            <a:ext cx="2834640" cy="2194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730" b="0" i="1">
                <a:solidFill>
                  <a:srgbClr val="949DA9"/>
                </a:solidFill>
                <a:latin typeface="Arial"/>
              </a:rPr>
              <a:t>Microsoft; Maze; WeWeb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44200" y="6419088"/>
            <a:ext cx="731520" cy="2194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 i="0">
                <a:solidFill>
                  <a:srgbClr val="5B6372"/>
                </a:solidFill>
                <a:latin typeface="Arial"/>
              </a:rPr>
              <a:t>29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58368" y="1691640"/>
            <a:ext cx="2487168" cy="233172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58368" y="1691640"/>
            <a:ext cx="82296" cy="23317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877824" y="1874520"/>
            <a:ext cx="420624" cy="420624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77824" y="1874520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08176" y="1819656"/>
            <a:ext cx="1508760" cy="43891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320" b="1" i="0">
                <a:solidFill>
                  <a:srgbClr val="161B26"/>
                </a:solidFill>
                <a:latin typeface="Arial"/>
              </a:rPr>
              <a:t>Internal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2386584"/>
            <a:ext cx="1965960" cy="133502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070" b="0" i="0">
                <a:solidFill>
                  <a:srgbClr val="5B6372"/>
                </a:solidFill>
                <a:latin typeface="Arial"/>
              </a:rPr>
              <a:t>The same pattern looks and behaves the same across the product.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14400" y="3703320"/>
            <a:ext cx="1078992" cy="25603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3703320"/>
            <a:ext cx="1078992" cy="25603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1" i="0">
                <a:solidFill>
                  <a:srgbClr val="FFFFFF"/>
                </a:solidFill>
                <a:latin typeface="Arial"/>
              </a:rPr>
              <a:t>DESIGN LENS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401568" y="1691640"/>
            <a:ext cx="2487168" cy="233172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401568" y="1691640"/>
            <a:ext cx="82296" cy="2331720"/>
          </a:xfrm>
          <a:prstGeom prst="rect">
            <a:avLst/>
          </a:prstGeom>
          <a:solidFill>
            <a:srgbClr val="724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3621024" y="1874520"/>
            <a:ext cx="420624" cy="420624"/>
          </a:xfrm>
          <a:prstGeom prst="ellipse">
            <a:avLst/>
          </a:prstGeom>
          <a:solidFill>
            <a:srgbClr val="724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621024" y="1874520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151376" y="1819656"/>
            <a:ext cx="1508760" cy="43891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320" b="1" i="0">
                <a:solidFill>
                  <a:srgbClr val="161B26"/>
                </a:solidFill>
                <a:latin typeface="Arial"/>
              </a:rPr>
              <a:t>External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657600" y="2386584"/>
            <a:ext cx="1965960" cy="133502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070" b="0" i="0">
                <a:solidFill>
                  <a:srgbClr val="5B6372"/>
                </a:solidFill>
                <a:latin typeface="Arial"/>
              </a:rPr>
              <a:t>Conventions reduce relearning when they match user expectations.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657600" y="3703320"/>
            <a:ext cx="1078992" cy="256032"/>
          </a:xfrm>
          <a:prstGeom prst="rect">
            <a:avLst/>
          </a:prstGeom>
          <a:solidFill>
            <a:srgbClr val="724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657600" y="3703320"/>
            <a:ext cx="1078992" cy="25603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1" i="0">
                <a:solidFill>
                  <a:srgbClr val="FFFFFF"/>
                </a:solidFill>
                <a:latin typeface="Arial"/>
              </a:rPr>
              <a:t>DESIGN LENS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144768" y="1691640"/>
            <a:ext cx="2487168" cy="233172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144768" y="1691640"/>
            <a:ext cx="82296" cy="2331720"/>
          </a:xfrm>
          <a:prstGeom prst="rect">
            <a:avLst/>
          </a:prstGeom>
          <a:solidFill>
            <a:srgbClr val="1098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6364224" y="1874520"/>
            <a:ext cx="420624" cy="420624"/>
          </a:xfrm>
          <a:prstGeom prst="ellipse">
            <a:avLst/>
          </a:prstGeom>
          <a:solidFill>
            <a:srgbClr val="1098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364224" y="1874520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894576" y="1819656"/>
            <a:ext cx="1508760" cy="43891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320" b="1" i="0">
                <a:solidFill>
                  <a:srgbClr val="161B26"/>
                </a:solidFill>
                <a:latin typeface="Arial"/>
              </a:rPr>
              <a:t>Semantic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00800" y="2386584"/>
            <a:ext cx="1965960" cy="133502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070" b="0" i="0">
                <a:solidFill>
                  <a:srgbClr val="5B6372"/>
                </a:solidFill>
                <a:latin typeface="Arial"/>
              </a:rPr>
              <a:t>Colours, labels and icons keep the same meaning in every context.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400800" y="3703320"/>
            <a:ext cx="1078992" cy="256032"/>
          </a:xfrm>
          <a:prstGeom prst="rect">
            <a:avLst/>
          </a:prstGeom>
          <a:solidFill>
            <a:srgbClr val="1098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400800" y="3703320"/>
            <a:ext cx="1078992" cy="25603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1" i="0">
                <a:solidFill>
                  <a:srgbClr val="FFFFFF"/>
                </a:solidFill>
                <a:latin typeface="Arial"/>
              </a:rPr>
              <a:t>DESIGN LENS</a:t>
            </a:r>
          </a:p>
        </p:txBody>
      </p:sp>
      <p:sp>
        <p:nvSpPr>
          <p:cNvPr id="35" name="Rectangle 34"/>
          <p:cNvSpPr/>
          <p:nvPr/>
        </p:nvSpPr>
        <p:spPr>
          <a:xfrm>
            <a:off x="8887968" y="1691640"/>
            <a:ext cx="2487168" cy="233172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8887968" y="1691640"/>
            <a:ext cx="82296" cy="2331720"/>
          </a:xfrm>
          <a:prstGeom prst="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9107424" y="1874520"/>
            <a:ext cx="420624" cy="420624"/>
          </a:xfrm>
          <a:prstGeom prst="ellipse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107424" y="1874520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637776" y="1819656"/>
            <a:ext cx="1508760" cy="43891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320" b="1" i="0">
                <a:solidFill>
                  <a:srgbClr val="161B26"/>
                </a:solidFill>
                <a:latin typeface="Arial"/>
              </a:rPr>
              <a:t>Systemic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144000" y="2386584"/>
            <a:ext cx="1965960" cy="133502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070" b="0" i="0">
                <a:solidFill>
                  <a:srgbClr val="5B6372"/>
                </a:solidFill>
                <a:latin typeface="Arial"/>
              </a:rPr>
              <a:t>Tokens and components make consistency easier to maintain.</a:t>
            </a:r>
          </a:p>
        </p:txBody>
      </p:sp>
      <p:sp>
        <p:nvSpPr>
          <p:cNvPr id="41" name="Rectangle 40"/>
          <p:cNvSpPr/>
          <p:nvPr/>
        </p:nvSpPr>
        <p:spPr>
          <a:xfrm>
            <a:off x="9144000" y="3703320"/>
            <a:ext cx="1078992" cy="256032"/>
          </a:xfrm>
          <a:prstGeom prst="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9144000" y="3703320"/>
            <a:ext cx="1078992" cy="25603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1" i="0">
                <a:solidFill>
                  <a:srgbClr val="FFFFFF"/>
                </a:solidFill>
                <a:latin typeface="Arial"/>
              </a:rPr>
              <a:t>DESIGN LENS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58368" y="4315968"/>
            <a:ext cx="10835640" cy="13258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914400" y="4480560"/>
            <a:ext cx="1828800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 i="0">
                <a:solidFill>
                  <a:srgbClr val="1F6FEB"/>
                </a:solidFill>
                <a:latin typeface="Arial"/>
              </a:rPr>
              <a:t>SYNTHESIS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14400" y="4846320"/>
            <a:ext cx="10195560" cy="56692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 i="0">
                <a:solidFill>
                  <a:srgbClr val="161B26"/>
                </a:solidFill>
                <a:latin typeface="Arial"/>
              </a:rPr>
              <a:t>The same pattern looks and behaves the same across the product; tokens and components make consistency easier to maintain.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1F6FEB"/>
                </a:solidFill>
                <a:latin typeface="Arial"/>
              </a:rPr>
              <a:t>MODULE 1 · CASE LENS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21792"/>
            <a:ext cx="10835640" cy="6583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200" b="1" i="0">
                <a:solidFill>
                  <a:srgbClr val="161B26"/>
                </a:solidFill>
                <a:latin typeface="Arial"/>
              </a:rPr>
              <a:t>Consistency and familiarity build prediction — applied judgement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6419088"/>
            <a:ext cx="4663440" cy="2194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 i="0">
                <a:solidFill>
                  <a:srgbClr val="5B6372"/>
                </a:solidFill>
                <a:latin typeface="Arial"/>
              </a:rPr>
              <a:t>Claude Design for UX/UI · C744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89120" y="6419088"/>
            <a:ext cx="3657600" cy="2194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0" i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26679" y="6419088"/>
            <a:ext cx="2834640" cy="2194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730" b="0" i="1">
                <a:solidFill>
                  <a:srgbClr val="949DA9"/>
                </a:solidFill>
                <a:latin typeface="Arial"/>
              </a:rPr>
              <a:t>Microsoft; Maze; WeWeb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44200" y="6419088"/>
            <a:ext cx="731520" cy="2194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 i="0">
                <a:solidFill>
                  <a:srgbClr val="5B6372"/>
                </a:solidFill>
                <a:latin typeface="Arial"/>
              </a:rPr>
              <a:t>30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58368" y="1755648"/>
            <a:ext cx="3392424" cy="3127248"/>
          </a:xfrm>
          <a:prstGeom prst="rect">
            <a:avLst/>
          </a:prstGeom>
          <a:solidFill>
            <a:srgbClr val="FFFFFF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58368" y="1755648"/>
            <a:ext cx="3392424" cy="91440"/>
          </a:xfrm>
          <a:prstGeom prst="rect">
            <a:avLst/>
          </a:prstGeom>
          <a:solidFill>
            <a:srgbClr val="F06F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886968" y="2029968"/>
            <a:ext cx="493776" cy="493776"/>
          </a:xfrm>
          <a:prstGeom prst="ellipse">
            <a:avLst/>
          </a:prstGeom>
          <a:solidFill>
            <a:srgbClr val="F06F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86968" y="2029968"/>
            <a:ext cx="493776" cy="49377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17904" y="2020824"/>
            <a:ext cx="2240280" cy="51206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F06F61"/>
                </a:solidFill>
                <a:latin typeface="Arial"/>
              </a:rPr>
              <a:t>CONTEXT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2798063"/>
            <a:ext cx="2834640" cy="16459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161B26"/>
                </a:solidFill>
                <a:latin typeface="Arial"/>
              </a:rPr>
              <a:t>The same icon opens search on one page and filters on another.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14400" y="4526280"/>
            <a:ext cx="2834640" cy="27432"/>
          </a:xfrm>
          <a:prstGeom prst="rect">
            <a:avLst/>
          </a:prstGeom>
          <a:solidFill>
            <a:srgbClr val="F06F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315968" y="1755648"/>
            <a:ext cx="3392424" cy="3127248"/>
          </a:xfrm>
          <a:prstGeom prst="rect">
            <a:avLst/>
          </a:prstGeom>
          <a:solidFill>
            <a:srgbClr val="FFFFFF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315968" y="1755648"/>
            <a:ext cx="3392424" cy="91440"/>
          </a:xfrm>
          <a:prstGeom prst="rect">
            <a:avLst/>
          </a:prstGeom>
          <a:solidFill>
            <a:srgbClr val="1098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4544568" y="2029968"/>
            <a:ext cx="493776" cy="493776"/>
          </a:xfrm>
          <a:prstGeom prst="ellipse">
            <a:avLst/>
          </a:prstGeom>
          <a:solidFill>
            <a:srgbClr val="1098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544568" y="2029968"/>
            <a:ext cx="493776" cy="49377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175504" y="2020824"/>
            <a:ext cx="2240280" cy="51206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10988A"/>
                </a:solidFill>
                <a:latin typeface="Arial"/>
              </a:rPr>
              <a:t>DESIGN MOVE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0" y="2798063"/>
            <a:ext cx="2834640" cy="16459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161B26"/>
                </a:solidFill>
                <a:latin typeface="Arial"/>
              </a:rPr>
              <a:t>Standardise meaning and encode the pattern in a reusable component.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572000" y="4526280"/>
            <a:ext cx="2834640" cy="27432"/>
          </a:xfrm>
          <a:prstGeom prst="rect">
            <a:avLst/>
          </a:prstGeom>
          <a:solidFill>
            <a:srgbClr val="1098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7973568" y="1755648"/>
            <a:ext cx="3392424" cy="3127248"/>
          </a:xfrm>
          <a:prstGeom prst="rect">
            <a:avLst/>
          </a:prstGeom>
          <a:solidFill>
            <a:srgbClr val="FFFFFF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973568" y="1755648"/>
            <a:ext cx="3392424" cy="91440"/>
          </a:xfrm>
          <a:prstGeom prst="rect">
            <a:avLst/>
          </a:prstGeom>
          <a:solidFill>
            <a:srgbClr val="724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8202168" y="2029968"/>
            <a:ext cx="493776" cy="493776"/>
          </a:xfrm>
          <a:prstGeom prst="ellipse">
            <a:avLst/>
          </a:prstGeom>
          <a:solidFill>
            <a:srgbClr val="724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202168" y="2029968"/>
            <a:ext cx="493776" cy="49377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833104" y="2020824"/>
            <a:ext cx="2240280" cy="51206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724CD6"/>
                </a:solidFill>
                <a:latin typeface="Arial"/>
              </a:rPr>
              <a:t>EVIDENCE STANDARD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229600" y="2798063"/>
            <a:ext cx="2834640" cy="16459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161B26"/>
                </a:solidFill>
                <a:latin typeface="Arial"/>
              </a:rPr>
              <a:t>Consistency turns prior learning into speed and confidence.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8229600" y="4526280"/>
            <a:ext cx="2834640" cy="27432"/>
          </a:xfrm>
          <a:prstGeom prst="rect">
            <a:avLst/>
          </a:prstGeom>
          <a:solidFill>
            <a:srgbClr val="724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58368" y="5102352"/>
            <a:ext cx="10835640" cy="56692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14400" y="5239512"/>
            <a:ext cx="10241280" cy="29260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250" b="1" i="0">
                <a:solidFill>
                  <a:srgbClr val="161B26"/>
                </a:solidFill>
                <a:latin typeface="Arial"/>
              </a:rPr>
              <a:t>Ask: what user outcome changes, and what evidence would prove it?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1F6FEB"/>
                </a:solidFill>
                <a:latin typeface="Arial"/>
              </a:rPr>
              <a:t>MODULE 1 · PRINCIPLE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21792"/>
            <a:ext cx="10835640" cy="6583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 i="0">
                <a:solidFill>
                  <a:srgbClr val="161B26"/>
                </a:solidFill>
                <a:latin typeface="Arial"/>
              </a:rPr>
              <a:t>Simplicity and progressive disclosure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6419088"/>
            <a:ext cx="4663440" cy="2194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 i="0">
                <a:solidFill>
                  <a:srgbClr val="5B6372"/>
                </a:solidFill>
                <a:latin typeface="Arial"/>
              </a:rPr>
              <a:t>Claude Design for UX/UI · C744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89120" y="6419088"/>
            <a:ext cx="3657600" cy="2194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0" i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26679" y="6419088"/>
            <a:ext cx="2834640" cy="2194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730" b="0" i="1">
                <a:solidFill>
                  <a:srgbClr val="949DA9"/>
                </a:solidFill>
                <a:latin typeface="Arial"/>
              </a:rPr>
              <a:t>Figma; Dribbble; WeWeb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44200" y="6419088"/>
            <a:ext cx="731520" cy="2194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 i="0">
                <a:solidFill>
                  <a:srgbClr val="5B6372"/>
                </a:solidFill>
                <a:latin typeface="Arial"/>
              </a:rPr>
              <a:t>31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58368" y="1691640"/>
            <a:ext cx="2487168" cy="233172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58368" y="1691640"/>
            <a:ext cx="82296" cy="23317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877824" y="1874520"/>
            <a:ext cx="420624" cy="420624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77824" y="1874520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08176" y="1819656"/>
            <a:ext cx="1508760" cy="43891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320" b="1" i="0">
                <a:solidFill>
                  <a:srgbClr val="161B26"/>
                </a:solidFill>
                <a:latin typeface="Arial"/>
              </a:rPr>
              <a:t>Essential first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2386584"/>
            <a:ext cx="1965960" cy="133502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070" b="0" i="0">
                <a:solidFill>
                  <a:srgbClr val="5B6372"/>
                </a:solidFill>
                <a:latin typeface="Arial"/>
              </a:rPr>
              <a:t>Show what most users need to begin the task.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14400" y="3703320"/>
            <a:ext cx="1078992" cy="25603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3703320"/>
            <a:ext cx="1078992" cy="25603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1" i="0">
                <a:solidFill>
                  <a:srgbClr val="FFFFFF"/>
                </a:solidFill>
                <a:latin typeface="Arial"/>
              </a:rPr>
              <a:t>DESIGN LENS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401568" y="1691640"/>
            <a:ext cx="2487168" cy="233172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401568" y="1691640"/>
            <a:ext cx="82296" cy="2331720"/>
          </a:xfrm>
          <a:prstGeom prst="rect">
            <a:avLst/>
          </a:prstGeom>
          <a:solidFill>
            <a:srgbClr val="724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3621024" y="1874520"/>
            <a:ext cx="420624" cy="420624"/>
          </a:xfrm>
          <a:prstGeom prst="ellipse">
            <a:avLst/>
          </a:prstGeom>
          <a:solidFill>
            <a:srgbClr val="724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621024" y="1874520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151376" y="1819656"/>
            <a:ext cx="1508760" cy="43891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320" b="1" i="0">
                <a:solidFill>
                  <a:srgbClr val="161B26"/>
                </a:solidFill>
                <a:latin typeface="Arial"/>
              </a:rPr>
              <a:t>Advanced later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657600" y="2386584"/>
            <a:ext cx="1965960" cy="133502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070" b="0" i="0">
                <a:solidFill>
                  <a:srgbClr val="5B6372"/>
                </a:solidFill>
                <a:latin typeface="Arial"/>
              </a:rPr>
              <a:t>Reveal complexity when context or intent makes it useful.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657600" y="3703320"/>
            <a:ext cx="1078992" cy="256032"/>
          </a:xfrm>
          <a:prstGeom prst="rect">
            <a:avLst/>
          </a:prstGeom>
          <a:solidFill>
            <a:srgbClr val="724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657600" y="3703320"/>
            <a:ext cx="1078992" cy="25603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1" i="0">
                <a:solidFill>
                  <a:srgbClr val="FFFFFF"/>
                </a:solidFill>
                <a:latin typeface="Arial"/>
              </a:rPr>
              <a:t>DESIGN LENS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144768" y="1691640"/>
            <a:ext cx="2487168" cy="233172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144768" y="1691640"/>
            <a:ext cx="82296" cy="2331720"/>
          </a:xfrm>
          <a:prstGeom prst="rect">
            <a:avLst/>
          </a:prstGeom>
          <a:solidFill>
            <a:srgbClr val="1098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6364224" y="1874520"/>
            <a:ext cx="420624" cy="420624"/>
          </a:xfrm>
          <a:prstGeom prst="ellipse">
            <a:avLst/>
          </a:prstGeom>
          <a:solidFill>
            <a:srgbClr val="1098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364224" y="1874520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894576" y="1819656"/>
            <a:ext cx="1508760" cy="43891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320" b="1" i="0">
                <a:solidFill>
                  <a:srgbClr val="161B26"/>
                </a:solidFill>
                <a:latin typeface="Arial"/>
              </a:rPr>
              <a:t>Reduce decisions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00800" y="2386584"/>
            <a:ext cx="1965960" cy="133502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070" b="0" i="0">
                <a:solidFill>
                  <a:srgbClr val="5B6372"/>
                </a:solidFill>
                <a:latin typeface="Arial"/>
              </a:rPr>
              <a:t>Limit competing choices at each moment of the flow.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400800" y="3703320"/>
            <a:ext cx="1078992" cy="256032"/>
          </a:xfrm>
          <a:prstGeom prst="rect">
            <a:avLst/>
          </a:prstGeom>
          <a:solidFill>
            <a:srgbClr val="1098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400800" y="3703320"/>
            <a:ext cx="1078992" cy="25603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1" i="0">
                <a:solidFill>
                  <a:srgbClr val="FFFFFF"/>
                </a:solidFill>
                <a:latin typeface="Arial"/>
              </a:rPr>
              <a:t>DESIGN LENS</a:t>
            </a:r>
          </a:p>
        </p:txBody>
      </p:sp>
      <p:sp>
        <p:nvSpPr>
          <p:cNvPr id="35" name="Rectangle 34"/>
          <p:cNvSpPr/>
          <p:nvPr/>
        </p:nvSpPr>
        <p:spPr>
          <a:xfrm>
            <a:off x="8887968" y="1691640"/>
            <a:ext cx="2487168" cy="233172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8887968" y="1691640"/>
            <a:ext cx="82296" cy="2331720"/>
          </a:xfrm>
          <a:prstGeom prst="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9107424" y="1874520"/>
            <a:ext cx="420624" cy="420624"/>
          </a:xfrm>
          <a:prstGeom prst="ellipse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107424" y="1874520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637776" y="1819656"/>
            <a:ext cx="1508760" cy="43891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320" b="1" i="0">
                <a:solidFill>
                  <a:srgbClr val="161B26"/>
                </a:solidFill>
                <a:latin typeface="Arial"/>
              </a:rPr>
              <a:t>Preserve access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144000" y="2386584"/>
            <a:ext cx="1965960" cy="133502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070" b="0" i="0">
                <a:solidFill>
                  <a:srgbClr val="5B6372"/>
                </a:solidFill>
                <a:latin typeface="Arial"/>
              </a:rPr>
              <a:t>Do not hide frequently needed actions behind arbitrary layers.</a:t>
            </a:r>
          </a:p>
        </p:txBody>
      </p:sp>
      <p:sp>
        <p:nvSpPr>
          <p:cNvPr id="41" name="Rectangle 40"/>
          <p:cNvSpPr/>
          <p:nvPr/>
        </p:nvSpPr>
        <p:spPr>
          <a:xfrm>
            <a:off x="9144000" y="3703320"/>
            <a:ext cx="1078992" cy="256032"/>
          </a:xfrm>
          <a:prstGeom prst="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9144000" y="3703320"/>
            <a:ext cx="1078992" cy="25603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1" i="0">
                <a:solidFill>
                  <a:srgbClr val="FFFFFF"/>
                </a:solidFill>
                <a:latin typeface="Arial"/>
              </a:rPr>
              <a:t>DESIGN LENS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58368" y="4315968"/>
            <a:ext cx="10835640" cy="13258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914400" y="4480560"/>
            <a:ext cx="1828800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 i="0">
                <a:solidFill>
                  <a:srgbClr val="1F6FEB"/>
                </a:solidFill>
                <a:latin typeface="Arial"/>
              </a:rPr>
              <a:t>SYNTHESIS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14400" y="4846320"/>
            <a:ext cx="10195560" cy="56692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 i="0">
                <a:solidFill>
                  <a:srgbClr val="161B26"/>
                </a:solidFill>
                <a:latin typeface="Arial"/>
              </a:rPr>
              <a:t>Show what most users need to begin the task; do not hide frequently needed actions behind arbitrary layers.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1F6FEB"/>
                </a:solidFill>
                <a:latin typeface="Arial"/>
              </a:rPr>
              <a:t>MODULE 1 · CASE LENS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21792"/>
            <a:ext cx="10835640" cy="6583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500" b="1" i="0">
                <a:solidFill>
                  <a:srgbClr val="161B26"/>
                </a:solidFill>
                <a:latin typeface="Arial"/>
              </a:rPr>
              <a:t>Simplicity and progressive disclosure — applied judgement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6419088"/>
            <a:ext cx="4663440" cy="2194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 i="0">
                <a:solidFill>
                  <a:srgbClr val="5B6372"/>
                </a:solidFill>
                <a:latin typeface="Arial"/>
              </a:rPr>
              <a:t>Claude Design for UX/UI · C744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89120" y="6419088"/>
            <a:ext cx="3657600" cy="2194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0" i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26679" y="6419088"/>
            <a:ext cx="2834640" cy="2194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730" b="0" i="1">
                <a:solidFill>
                  <a:srgbClr val="949DA9"/>
                </a:solidFill>
                <a:latin typeface="Arial"/>
              </a:rPr>
              <a:t>Figma; Dribbble; WeWeb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44200" y="6419088"/>
            <a:ext cx="731520" cy="2194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 i="0">
                <a:solidFill>
                  <a:srgbClr val="5B6372"/>
                </a:solidFill>
                <a:latin typeface="Arial"/>
              </a:rPr>
              <a:t>32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58368" y="1755648"/>
            <a:ext cx="3392424" cy="3127248"/>
          </a:xfrm>
          <a:prstGeom prst="rect">
            <a:avLst/>
          </a:prstGeom>
          <a:solidFill>
            <a:srgbClr val="FFFFFF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58368" y="1755648"/>
            <a:ext cx="3392424" cy="91440"/>
          </a:xfrm>
          <a:prstGeom prst="rect">
            <a:avLst/>
          </a:prstGeom>
          <a:solidFill>
            <a:srgbClr val="F06F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886968" y="2029968"/>
            <a:ext cx="493776" cy="493776"/>
          </a:xfrm>
          <a:prstGeom prst="ellipse">
            <a:avLst/>
          </a:prstGeom>
          <a:solidFill>
            <a:srgbClr val="F06F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86968" y="2029968"/>
            <a:ext cx="493776" cy="49377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17904" y="2020824"/>
            <a:ext cx="2240280" cy="51206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F06F61"/>
                </a:solidFill>
                <a:latin typeface="Arial"/>
              </a:rPr>
              <a:t>CONTEXT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2798063"/>
            <a:ext cx="2834640" cy="16459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161B26"/>
                </a:solidFill>
                <a:latin typeface="Arial"/>
              </a:rPr>
              <a:t>A settings page exposes forty controls in one uninterrupted list.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14400" y="4526280"/>
            <a:ext cx="2834640" cy="27432"/>
          </a:xfrm>
          <a:prstGeom prst="rect">
            <a:avLst/>
          </a:prstGeom>
          <a:solidFill>
            <a:srgbClr val="F06F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315968" y="1755648"/>
            <a:ext cx="3392424" cy="3127248"/>
          </a:xfrm>
          <a:prstGeom prst="rect">
            <a:avLst/>
          </a:prstGeom>
          <a:solidFill>
            <a:srgbClr val="FFFFFF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315968" y="1755648"/>
            <a:ext cx="3392424" cy="91440"/>
          </a:xfrm>
          <a:prstGeom prst="rect">
            <a:avLst/>
          </a:prstGeom>
          <a:solidFill>
            <a:srgbClr val="1098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4544568" y="2029968"/>
            <a:ext cx="493776" cy="493776"/>
          </a:xfrm>
          <a:prstGeom prst="ellipse">
            <a:avLst/>
          </a:prstGeom>
          <a:solidFill>
            <a:srgbClr val="1098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544568" y="2029968"/>
            <a:ext cx="493776" cy="49377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175504" y="2020824"/>
            <a:ext cx="2240280" cy="51206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10988A"/>
                </a:solidFill>
                <a:latin typeface="Arial"/>
              </a:rPr>
              <a:t>DESIGN MOVE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0" y="2798063"/>
            <a:ext cx="2834640" cy="16459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161B26"/>
                </a:solidFill>
                <a:latin typeface="Arial"/>
              </a:rPr>
              <a:t>Group by user goal and reveal advanced options only when requested.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572000" y="4526280"/>
            <a:ext cx="2834640" cy="27432"/>
          </a:xfrm>
          <a:prstGeom prst="rect">
            <a:avLst/>
          </a:prstGeom>
          <a:solidFill>
            <a:srgbClr val="1098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7973568" y="1755648"/>
            <a:ext cx="3392424" cy="3127248"/>
          </a:xfrm>
          <a:prstGeom prst="rect">
            <a:avLst/>
          </a:prstGeom>
          <a:solidFill>
            <a:srgbClr val="FFFFFF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973568" y="1755648"/>
            <a:ext cx="3392424" cy="91440"/>
          </a:xfrm>
          <a:prstGeom prst="rect">
            <a:avLst/>
          </a:prstGeom>
          <a:solidFill>
            <a:srgbClr val="724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8202168" y="2029968"/>
            <a:ext cx="493776" cy="493776"/>
          </a:xfrm>
          <a:prstGeom prst="ellipse">
            <a:avLst/>
          </a:prstGeom>
          <a:solidFill>
            <a:srgbClr val="724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202168" y="2029968"/>
            <a:ext cx="493776" cy="49377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833104" y="2020824"/>
            <a:ext cx="2240280" cy="51206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724CD6"/>
                </a:solidFill>
                <a:latin typeface="Arial"/>
              </a:rPr>
              <a:t>EVIDENCE STANDARD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229600" y="2798063"/>
            <a:ext cx="2834640" cy="16459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161B26"/>
                </a:solidFill>
                <a:latin typeface="Arial"/>
              </a:rPr>
              <a:t>Simple means focused, not feature-poor.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8229600" y="4526280"/>
            <a:ext cx="2834640" cy="27432"/>
          </a:xfrm>
          <a:prstGeom prst="rect">
            <a:avLst/>
          </a:prstGeom>
          <a:solidFill>
            <a:srgbClr val="724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58368" y="5102352"/>
            <a:ext cx="10835640" cy="56692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14400" y="5239512"/>
            <a:ext cx="10241280" cy="29260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250" b="1" i="0">
                <a:solidFill>
                  <a:srgbClr val="161B26"/>
                </a:solidFill>
                <a:latin typeface="Arial"/>
              </a:rPr>
              <a:t>Ask: what user outcome changes, and what evidence would prove it?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1F6FEB"/>
                </a:solidFill>
                <a:latin typeface="Arial"/>
              </a:rPr>
              <a:t>MODULE 1 · PRINCIPLE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21792"/>
            <a:ext cx="10835640" cy="6583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 i="0">
                <a:solidFill>
                  <a:srgbClr val="161B26"/>
                </a:solidFill>
                <a:latin typeface="Arial"/>
              </a:rPr>
              <a:t>Accessibility is a design input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6419088"/>
            <a:ext cx="4663440" cy="2194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 i="0">
                <a:solidFill>
                  <a:srgbClr val="5B6372"/>
                </a:solidFill>
                <a:latin typeface="Arial"/>
              </a:rPr>
              <a:t>Claude Design for UX/UI · C744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89120" y="6419088"/>
            <a:ext cx="3657600" cy="2194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0" i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26679" y="6419088"/>
            <a:ext cx="2834640" cy="2194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730" b="0" i="1">
                <a:solidFill>
                  <a:srgbClr val="949DA9"/>
                </a:solidFill>
                <a:latin typeface="Arial"/>
              </a:rPr>
              <a:t>Figma; Microsoft; WeWeb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44200" y="6419088"/>
            <a:ext cx="731520" cy="2194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 i="0">
                <a:solidFill>
                  <a:srgbClr val="5B6372"/>
                </a:solidFill>
                <a:latin typeface="Arial"/>
              </a:rPr>
              <a:t>33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58368" y="1691640"/>
            <a:ext cx="2487168" cy="233172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58368" y="1691640"/>
            <a:ext cx="82296" cy="23317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877824" y="1874520"/>
            <a:ext cx="420624" cy="420624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77824" y="1874520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08176" y="1819656"/>
            <a:ext cx="1508760" cy="43891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320" b="1" i="0">
                <a:solidFill>
                  <a:srgbClr val="161B26"/>
                </a:solidFill>
                <a:latin typeface="Arial"/>
              </a:rPr>
              <a:t>Perceivable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2386584"/>
            <a:ext cx="1965960" cy="133502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070" b="0" i="0">
                <a:solidFill>
                  <a:srgbClr val="5B6372"/>
                </a:solidFill>
                <a:latin typeface="Arial"/>
              </a:rPr>
              <a:t>Contrast, text alternatives and scalable type support different senses.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14400" y="3703320"/>
            <a:ext cx="1078992" cy="25603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3703320"/>
            <a:ext cx="1078992" cy="25603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1" i="0">
                <a:solidFill>
                  <a:srgbClr val="FFFFFF"/>
                </a:solidFill>
                <a:latin typeface="Arial"/>
              </a:rPr>
              <a:t>DESIGN LENS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401568" y="1691640"/>
            <a:ext cx="2487168" cy="233172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401568" y="1691640"/>
            <a:ext cx="82296" cy="2331720"/>
          </a:xfrm>
          <a:prstGeom prst="rect">
            <a:avLst/>
          </a:prstGeom>
          <a:solidFill>
            <a:srgbClr val="724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3621024" y="1874520"/>
            <a:ext cx="420624" cy="420624"/>
          </a:xfrm>
          <a:prstGeom prst="ellipse">
            <a:avLst/>
          </a:prstGeom>
          <a:solidFill>
            <a:srgbClr val="724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621024" y="1874520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151376" y="1819656"/>
            <a:ext cx="1508760" cy="43891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320" b="1" i="0">
                <a:solidFill>
                  <a:srgbClr val="161B26"/>
                </a:solidFill>
                <a:latin typeface="Arial"/>
              </a:rPr>
              <a:t>Operable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657600" y="2386584"/>
            <a:ext cx="1965960" cy="133502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070" b="0" i="0">
                <a:solidFill>
                  <a:srgbClr val="5B6372"/>
                </a:solidFill>
                <a:latin typeface="Arial"/>
              </a:rPr>
              <a:t>Keyboard access, focus visibility and reachable targets support action.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657600" y="3703320"/>
            <a:ext cx="1078992" cy="256032"/>
          </a:xfrm>
          <a:prstGeom prst="rect">
            <a:avLst/>
          </a:prstGeom>
          <a:solidFill>
            <a:srgbClr val="724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657600" y="3703320"/>
            <a:ext cx="1078992" cy="25603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1" i="0">
                <a:solidFill>
                  <a:srgbClr val="FFFFFF"/>
                </a:solidFill>
                <a:latin typeface="Arial"/>
              </a:rPr>
              <a:t>DESIGN LENS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144768" y="1691640"/>
            <a:ext cx="2487168" cy="233172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144768" y="1691640"/>
            <a:ext cx="82296" cy="2331720"/>
          </a:xfrm>
          <a:prstGeom prst="rect">
            <a:avLst/>
          </a:prstGeom>
          <a:solidFill>
            <a:srgbClr val="1098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6364224" y="1874520"/>
            <a:ext cx="420624" cy="420624"/>
          </a:xfrm>
          <a:prstGeom prst="ellipse">
            <a:avLst/>
          </a:prstGeom>
          <a:solidFill>
            <a:srgbClr val="1098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364224" y="1874520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894576" y="1819656"/>
            <a:ext cx="1508760" cy="43891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320" b="1" i="0">
                <a:solidFill>
                  <a:srgbClr val="161B26"/>
                </a:solidFill>
                <a:latin typeface="Arial"/>
              </a:rPr>
              <a:t>Understandable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00800" y="2386584"/>
            <a:ext cx="1965960" cy="133502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070" b="0" i="0">
                <a:solidFill>
                  <a:srgbClr val="5B6372"/>
                </a:solidFill>
                <a:latin typeface="Arial"/>
              </a:rPr>
              <a:t>Plain language and predictable behaviour reduce confusion.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400800" y="3703320"/>
            <a:ext cx="1078992" cy="256032"/>
          </a:xfrm>
          <a:prstGeom prst="rect">
            <a:avLst/>
          </a:prstGeom>
          <a:solidFill>
            <a:srgbClr val="1098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400800" y="3703320"/>
            <a:ext cx="1078992" cy="25603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1" i="0">
                <a:solidFill>
                  <a:srgbClr val="FFFFFF"/>
                </a:solidFill>
                <a:latin typeface="Arial"/>
              </a:rPr>
              <a:t>DESIGN LENS</a:t>
            </a:r>
          </a:p>
        </p:txBody>
      </p:sp>
      <p:sp>
        <p:nvSpPr>
          <p:cNvPr id="35" name="Rectangle 34"/>
          <p:cNvSpPr/>
          <p:nvPr/>
        </p:nvSpPr>
        <p:spPr>
          <a:xfrm>
            <a:off x="8887968" y="1691640"/>
            <a:ext cx="2487168" cy="233172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8887968" y="1691640"/>
            <a:ext cx="82296" cy="2331720"/>
          </a:xfrm>
          <a:prstGeom prst="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9107424" y="1874520"/>
            <a:ext cx="420624" cy="420624"/>
          </a:xfrm>
          <a:prstGeom prst="ellipse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107424" y="1874520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637776" y="1819656"/>
            <a:ext cx="1508760" cy="43891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320" b="1" i="0">
                <a:solidFill>
                  <a:srgbClr val="161B26"/>
                </a:solidFill>
                <a:latin typeface="Arial"/>
              </a:rPr>
              <a:t>Robust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144000" y="2386584"/>
            <a:ext cx="1965960" cy="133502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070" b="0" i="0">
                <a:solidFill>
                  <a:srgbClr val="5B6372"/>
                </a:solidFill>
                <a:latin typeface="Arial"/>
              </a:rPr>
              <a:t>Semantic structure survives devices and assistive technology.</a:t>
            </a:r>
          </a:p>
        </p:txBody>
      </p:sp>
      <p:sp>
        <p:nvSpPr>
          <p:cNvPr id="41" name="Rectangle 40"/>
          <p:cNvSpPr/>
          <p:nvPr/>
        </p:nvSpPr>
        <p:spPr>
          <a:xfrm>
            <a:off x="9144000" y="3703320"/>
            <a:ext cx="1078992" cy="256032"/>
          </a:xfrm>
          <a:prstGeom prst="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9144000" y="3703320"/>
            <a:ext cx="1078992" cy="25603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1" i="0">
                <a:solidFill>
                  <a:srgbClr val="FFFFFF"/>
                </a:solidFill>
                <a:latin typeface="Arial"/>
              </a:rPr>
              <a:t>DESIGN LENS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58368" y="4315968"/>
            <a:ext cx="10835640" cy="13258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914400" y="4480560"/>
            <a:ext cx="1828800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 i="0">
                <a:solidFill>
                  <a:srgbClr val="1F6FEB"/>
                </a:solidFill>
                <a:latin typeface="Arial"/>
              </a:rPr>
              <a:t>SYNTHESIS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14400" y="4846320"/>
            <a:ext cx="10195560" cy="56692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 i="0">
                <a:solidFill>
                  <a:srgbClr val="161B26"/>
                </a:solidFill>
                <a:latin typeface="Arial"/>
              </a:rPr>
              <a:t>Contrast, text alternatives and scalable type support different senses; semantic structure survives devices and assistive technology.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1F6FEB"/>
                </a:solidFill>
                <a:latin typeface="Arial"/>
              </a:rPr>
              <a:t>MODULE 1 · CASE LENS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21792"/>
            <a:ext cx="10835640" cy="6583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 i="0">
                <a:solidFill>
                  <a:srgbClr val="161B26"/>
                </a:solidFill>
                <a:latin typeface="Arial"/>
              </a:rPr>
              <a:t>Accessibility is a design input — applied judgement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6419088"/>
            <a:ext cx="4663440" cy="2194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 i="0">
                <a:solidFill>
                  <a:srgbClr val="5B6372"/>
                </a:solidFill>
                <a:latin typeface="Arial"/>
              </a:rPr>
              <a:t>Claude Design for UX/UI · C744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89120" y="6419088"/>
            <a:ext cx="3657600" cy="2194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0" i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26679" y="6419088"/>
            <a:ext cx="2834640" cy="2194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730" b="0" i="1">
                <a:solidFill>
                  <a:srgbClr val="949DA9"/>
                </a:solidFill>
                <a:latin typeface="Arial"/>
              </a:rPr>
              <a:t>Figma; Microsoft; WeWeb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44200" y="6419088"/>
            <a:ext cx="731520" cy="2194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 i="0">
                <a:solidFill>
                  <a:srgbClr val="5B6372"/>
                </a:solidFill>
                <a:latin typeface="Arial"/>
              </a:rPr>
              <a:t>34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58368" y="1755648"/>
            <a:ext cx="3392424" cy="3127248"/>
          </a:xfrm>
          <a:prstGeom prst="rect">
            <a:avLst/>
          </a:prstGeom>
          <a:solidFill>
            <a:srgbClr val="FFFFFF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58368" y="1755648"/>
            <a:ext cx="3392424" cy="91440"/>
          </a:xfrm>
          <a:prstGeom prst="rect">
            <a:avLst/>
          </a:prstGeom>
          <a:solidFill>
            <a:srgbClr val="F06F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886968" y="2029968"/>
            <a:ext cx="493776" cy="493776"/>
          </a:xfrm>
          <a:prstGeom prst="ellipse">
            <a:avLst/>
          </a:prstGeom>
          <a:solidFill>
            <a:srgbClr val="F06F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86968" y="2029968"/>
            <a:ext cx="493776" cy="49377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17904" y="2020824"/>
            <a:ext cx="2240280" cy="51206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F06F61"/>
                </a:solidFill>
                <a:latin typeface="Arial"/>
              </a:rPr>
              <a:t>CONTEXT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2798063"/>
            <a:ext cx="2834640" cy="16459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161B26"/>
                </a:solidFill>
                <a:latin typeface="Arial"/>
              </a:rPr>
              <a:t>A status uses only red and green dots with no labels.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14400" y="4526280"/>
            <a:ext cx="2834640" cy="27432"/>
          </a:xfrm>
          <a:prstGeom prst="rect">
            <a:avLst/>
          </a:prstGeom>
          <a:solidFill>
            <a:srgbClr val="F06F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315968" y="1755648"/>
            <a:ext cx="3392424" cy="3127248"/>
          </a:xfrm>
          <a:prstGeom prst="rect">
            <a:avLst/>
          </a:prstGeom>
          <a:solidFill>
            <a:srgbClr val="FFFFFF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315968" y="1755648"/>
            <a:ext cx="3392424" cy="91440"/>
          </a:xfrm>
          <a:prstGeom prst="rect">
            <a:avLst/>
          </a:prstGeom>
          <a:solidFill>
            <a:srgbClr val="1098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4544568" y="2029968"/>
            <a:ext cx="493776" cy="493776"/>
          </a:xfrm>
          <a:prstGeom prst="ellipse">
            <a:avLst/>
          </a:prstGeom>
          <a:solidFill>
            <a:srgbClr val="1098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544568" y="2029968"/>
            <a:ext cx="493776" cy="49377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175504" y="2020824"/>
            <a:ext cx="2240280" cy="51206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10988A"/>
                </a:solidFill>
                <a:latin typeface="Arial"/>
              </a:rPr>
              <a:t>DESIGN MOVE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0" y="2798063"/>
            <a:ext cx="2834640" cy="16459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161B26"/>
                </a:solidFill>
                <a:latin typeface="Arial"/>
              </a:rPr>
              <a:t>Add text or shape cues, verify contrast and include a visible focus state.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572000" y="4526280"/>
            <a:ext cx="2834640" cy="27432"/>
          </a:xfrm>
          <a:prstGeom prst="rect">
            <a:avLst/>
          </a:prstGeom>
          <a:solidFill>
            <a:srgbClr val="1098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7973568" y="1755648"/>
            <a:ext cx="3392424" cy="3127248"/>
          </a:xfrm>
          <a:prstGeom prst="rect">
            <a:avLst/>
          </a:prstGeom>
          <a:solidFill>
            <a:srgbClr val="FFFFFF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973568" y="1755648"/>
            <a:ext cx="3392424" cy="91440"/>
          </a:xfrm>
          <a:prstGeom prst="rect">
            <a:avLst/>
          </a:prstGeom>
          <a:solidFill>
            <a:srgbClr val="724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8202168" y="2029968"/>
            <a:ext cx="493776" cy="493776"/>
          </a:xfrm>
          <a:prstGeom prst="ellipse">
            <a:avLst/>
          </a:prstGeom>
          <a:solidFill>
            <a:srgbClr val="724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202168" y="2029968"/>
            <a:ext cx="493776" cy="49377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833104" y="2020824"/>
            <a:ext cx="2240280" cy="51206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724CD6"/>
                </a:solidFill>
                <a:latin typeface="Arial"/>
              </a:rPr>
              <a:t>EVIDENCE STANDARD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229600" y="2798063"/>
            <a:ext cx="2834640" cy="16459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161B26"/>
                </a:solidFill>
                <a:latin typeface="Arial"/>
              </a:rPr>
              <a:t>Accessibility checks the interface under realistic variation.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8229600" y="4526280"/>
            <a:ext cx="2834640" cy="27432"/>
          </a:xfrm>
          <a:prstGeom prst="rect">
            <a:avLst/>
          </a:prstGeom>
          <a:solidFill>
            <a:srgbClr val="724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58368" y="5102352"/>
            <a:ext cx="10835640" cy="56692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14400" y="5239512"/>
            <a:ext cx="10241280" cy="29260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250" b="1" i="0">
                <a:solidFill>
                  <a:srgbClr val="161B26"/>
                </a:solidFill>
                <a:latin typeface="Arial"/>
              </a:rPr>
              <a:t>Ask: what user outcome changes, and what evidence would prove it?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1F6FEB"/>
                </a:solidFill>
                <a:latin typeface="Arial"/>
              </a:rPr>
              <a:t>MODULE 1 · PRINCIPLE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21792"/>
            <a:ext cx="10835640" cy="6583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 i="0">
                <a:solidFill>
                  <a:srgbClr val="161B26"/>
                </a:solidFill>
                <a:latin typeface="Arial"/>
              </a:rPr>
              <a:t>Feedback, error prevention and user control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6419088"/>
            <a:ext cx="4663440" cy="2194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 i="0">
                <a:solidFill>
                  <a:srgbClr val="5B6372"/>
                </a:solidFill>
                <a:latin typeface="Arial"/>
              </a:rPr>
              <a:t>Claude Design for UX/UI · C744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89120" y="6419088"/>
            <a:ext cx="3657600" cy="2194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0" i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26679" y="6419088"/>
            <a:ext cx="2834640" cy="2194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730" b="0" i="1">
                <a:solidFill>
                  <a:srgbClr val="949DA9"/>
                </a:solidFill>
                <a:latin typeface="Arial"/>
              </a:rPr>
              <a:t>UXPin; Dribbble; Microsoft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44200" y="6419088"/>
            <a:ext cx="731520" cy="2194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 i="0">
                <a:solidFill>
                  <a:srgbClr val="5B6372"/>
                </a:solidFill>
                <a:latin typeface="Arial"/>
              </a:rPr>
              <a:t>35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58368" y="1691640"/>
            <a:ext cx="2487168" cy="233172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58368" y="1691640"/>
            <a:ext cx="82296" cy="23317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877824" y="1874520"/>
            <a:ext cx="420624" cy="420624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77824" y="1874520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08176" y="1819656"/>
            <a:ext cx="1508760" cy="43891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320" b="1" i="0">
                <a:solidFill>
                  <a:srgbClr val="161B26"/>
                </a:solidFill>
                <a:latin typeface="Arial"/>
              </a:rPr>
              <a:t>Immediate feedback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2386584"/>
            <a:ext cx="1965960" cy="133502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070" b="0" i="0">
                <a:solidFill>
                  <a:srgbClr val="5B6372"/>
                </a:solidFill>
                <a:latin typeface="Arial"/>
              </a:rPr>
              <a:t>Every action receives a visible, proportional response.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14400" y="3703320"/>
            <a:ext cx="1078992" cy="25603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3703320"/>
            <a:ext cx="1078992" cy="25603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1" i="0">
                <a:solidFill>
                  <a:srgbClr val="FFFFFF"/>
                </a:solidFill>
                <a:latin typeface="Arial"/>
              </a:rPr>
              <a:t>DESIGN LENS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401568" y="1691640"/>
            <a:ext cx="2487168" cy="233172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401568" y="1691640"/>
            <a:ext cx="82296" cy="2331720"/>
          </a:xfrm>
          <a:prstGeom prst="rect">
            <a:avLst/>
          </a:prstGeom>
          <a:solidFill>
            <a:srgbClr val="724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3621024" y="1874520"/>
            <a:ext cx="420624" cy="420624"/>
          </a:xfrm>
          <a:prstGeom prst="ellipse">
            <a:avLst/>
          </a:prstGeom>
          <a:solidFill>
            <a:srgbClr val="724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621024" y="1874520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151376" y="1819656"/>
            <a:ext cx="1508760" cy="43891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320" b="1" i="0">
                <a:solidFill>
                  <a:srgbClr val="161B26"/>
                </a:solidFill>
                <a:latin typeface="Arial"/>
              </a:rPr>
              <a:t>Prevent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657600" y="2386584"/>
            <a:ext cx="1965960" cy="133502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070" b="0" i="0">
                <a:solidFill>
                  <a:srgbClr val="5B6372"/>
                </a:solidFill>
                <a:latin typeface="Arial"/>
              </a:rPr>
              <a:t>Constraints and defaults block invalid actions before submission.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657600" y="3703320"/>
            <a:ext cx="1078992" cy="256032"/>
          </a:xfrm>
          <a:prstGeom prst="rect">
            <a:avLst/>
          </a:prstGeom>
          <a:solidFill>
            <a:srgbClr val="724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657600" y="3703320"/>
            <a:ext cx="1078992" cy="25603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1" i="0">
                <a:solidFill>
                  <a:srgbClr val="FFFFFF"/>
                </a:solidFill>
                <a:latin typeface="Arial"/>
              </a:rPr>
              <a:t>DESIGN LENS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144768" y="1691640"/>
            <a:ext cx="2487168" cy="233172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144768" y="1691640"/>
            <a:ext cx="82296" cy="2331720"/>
          </a:xfrm>
          <a:prstGeom prst="rect">
            <a:avLst/>
          </a:prstGeom>
          <a:solidFill>
            <a:srgbClr val="1098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6364224" y="1874520"/>
            <a:ext cx="420624" cy="420624"/>
          </a:xfrm>
          <a:prstGeom prst="ellipse">
            <a:avLst/>
          </a:prstGeom>
          <a:solidFill>
            <a:srgbClr val="1098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364224" y="1874520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894576" y="1819656"/>
            <a:ext cx="1508760" cy="43891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320" b="1" i="0">
                <a:solidFill>
                  <a:srgbClr val="161B26"/>
                </a:solidFill>
                <a:latin typeface="Arial"/>
              </a:rPr>
              <a:t>Recover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00800" y="2386584"/>
            <a:ext cx="1965960" cy="133502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070" b="0" i="0">
                <a:solidFill>
                  <a:srgbClr val="5B6372"/>
                </a:solidFill>
                <a:latin typeface="Arial"/>
              </a:rPr>
              <a:t>Errors explain cause, preserve input and offer a direct next step.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400800" y="3703320"/>
            <a:ext cx="1078992" cy="256032"/>
          </a:xfrm>
          <a:prstGeom prst="rect">
            <a:avLst/>
          </a:prstGeom>
          <a:solidFill>
            <a:srgbClr val="1098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400800" y="3703320"/>
            <a:ext cx="1078992" cy="25603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1" i="0">
                <a:solidFill>
                  <a:srgbClr val="FFFFFF"/>
                </a:solidFill>
                <a:latin typeface="Arial"/>
              </a:rPr>
              <a:t>DESIGN LENS</a:t>
            </a:r>
          </a:p>
        </p:txBody>
      </p:sp>
      <p:sp>
        <p:nvSpPr>
          <p:cNvPr id="35" name="Rectangle 34"/>
          <p:cNvSpPr/>
          <p:nvPr/>
        </p:nvSpPr>
        <p:spPr>
          <a:xfrm>
            <a:off x="8887968" y="1691640"/>
            <a:ext cx="2487168" cy="233172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8887968" y="1691640"/>
            <a:ext cx="82296" cy="2331720"/>
          </a:xfrm>
          <a:prstGeom prst="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9107424" y="1874520"/>
            <a:ext cx="420624" cy="420624"/>
          </a:xfrm>
          <a:prstGeom prst="ellipse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107424" y="1874520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637776" y="1819656"/>
            <a:ext cx="1508760" cy="43891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320" b="1" i="0">
                <a:solidFill>
                  <a:srgbClr val="161B26"/>
                </a:solidFill>
                <a:latin typeface="Arial"/>
              </a:rPr>
              <a:t>Control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144000" y="2386584"/>
            <a:ext cx="1965960" cy="133502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070" b="0" i="0">
                <a:solidFill>
                  <a:srgbClr val="5B6372"/>
                </a:solidFill>
                <a:latin typeface="Arial"/>
              </a:rPr>
              <a:t>Undo, cancel and review reduce the cost of mistakes.</a:t>
            </a:r>
          </a:p>
        </p:txBody>
      </p:sp>
      <p:sp>
        <p:nvSpPr>
          <p:cNvPr id="41" name="Rectangle 40"/>
          <p:cNvSpPr/>
          <p:nvPr/>
        </p:nvSpPr>
        <p:spPr>
          <a:xfrm>
            <a:off x="9144000" y="3703320"/>
            <a:ext cx="1078992" cy="256032"/>
          </a:xfrm>
          <a:prstGeom prst="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9144000" y="3703320"/>
            <a:ext cx="1078992" cy="25603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1" i="0">
                <a:solidFill>
                  <a:srgbClr val="FFFFFF"/>
                </a:solidFill>
                <a:latin typeface="Arial"/>
              </a:rPr>
              <a:t>DESIGN LENS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58368" y="4315968"/>
            <a:ext cx="10835640" cy="13258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914400" y="4480560"/>
            <a:ext cx="1828800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 i="0">
                <a:solidFill>
                  <a:srgbClr val="1F6FEB"/>
                </a:solidFill>
                <a:latin typeface="Arial"/>
              </a:rPr>
              <a:t>SYNTHESIS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14400" y="4846320"/>
            <a:ext cx="10195560" cy="56692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 i="0">
                <a:solidFill>
                  <a:srgbClr val="161B26"/>
                </a:solidFill>
                <a:latin typeface="Arial"/>
              </a:rPr>
              <a:t>Every action receives a visible, proportional response; undo, cancel and review reduce the cost of mistakes.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1F6FEB"/>
                </a:solidFill>
                <a:latin typeface="Arial"/>
              </a:rPr>
              <a:t>MODULE 1 · CASE LENS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21792"/>
            <a:ext cx="10835640" cy="6583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200" b="1" i="0">
                <a:solidFill>
                  <a:srgbClr val="161B26"/>
                </a:solidFill>
                <a:latin typeface="Arial"/>
              </a:rPr>
              <a:t>Feedback, error prevention and user control — applied judgement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6419088"/>
            <a:ext cx="4663440" cy="2194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 i="0">
                <a:solidFill>
                  <a:srgbClr val="5B6372"/>
                </a:solidFill>
                <a:latin typeface="Arial"/>
              </a:rPr>
              <a:t>Claude Design for UX/UI · C744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89120" y="6419088"/>
            <a:ext cx="3657600" cy="2194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0" i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26679" y="6419088"/>
            <a:ext cx="2834640" cy="2194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730" b="0" i="1">
                <a:solidFill>
                  <a:srgbClr val="949DA9"/>
                </a:solidFill>
                <a:latin typeface="Arial"/>
              </a:rPr>
              <a:t>UXPin; Dribbble; Microsoft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44200" y="6419088"/>
            <a:ext cx="731520" cy="2194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 i="0">
                <a:solidFill>
                  <a:srgbClr val="5B6372"/>
                </a:solidFill>
                <a:latin typeface="Arial"/>
              </a:rPr>
              <a:t>36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58368" y="1755648"/>
            <a:ext cx="3392424" cy="3127248"/>
          </a:xfrm>
          <a:prstGeom prst="rect">
            <a:avLst/>
          </a:prstGeom>
          <a:solidFill>
            <a:srgbClr val="FFFFFF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58368" y="1755648"/>
            <a:ext cx="3392424" cy="91440"/>
          </a:xfrm>
          <a:prstGeom prst="rect">
            <a:avLst/>
          </a:prstGeom>
          <a:solidFill>
            <a:srgbClr val="F06F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886968" y="2029968"/>
            <a:ext cx="493776" cy="493776"/>
          </a:xfrm>
          <a:prstGeom prst="ellipse">
            <a:avLst/>
          </a:prstGeom>
          <a:solidFill>
            <a:srgbClr val="F06F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86968" y="2029968"/>
            <a:ext cx="493776" cy="49377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17904" y="2020824"/>
            <a:ext cx="2240280" cy="51206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F06F61"/>
                </a:solidFill>
                <a:latin typeface="Arial"/>
              </a:rPr>
              <a:t>CONTEXT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2798063"/>
            <a:ext cx="2834640" cy="16459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161B26"/>
                </a:solidFill>
                <a:latin typeface="Arial"/>
              </a:rPr>
              <a:t>A destructive action succeeds silently and cannot be undone.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14400" y="4526280"/>
            <a:ext cx="2834640" cy="27432"/>
          </a:xfrm>
          <a:prstGeom prst="rect">
            <a:avLst/>
          </a:prstGeom>
          <a:solidFill>
            <a:srgbClr val="F06F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315968" y="1755648"/>
            <a:ext cx="3392424" cy="3127248"/>
          </a:xfrm>
          <a:prstGeom prst="rect">
            <a:avLst/>
          </a:prstGeom>
          <a:solidFill>
            <a:srgbClr val="FFFFFF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315968" y="1755648"/>
            <a:ext cx="3392424" cy="91440"/>
          </a:xfrm>
          <a:prstGeom prst="rect">
            <a:avLst/>
          </a:prstGeom>
          <a:solidFill>
            <a:srgbClr val="1098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4544568" y="2029968"/>
            <a:ext cx="493776" cy="493776"/>
          </a:xfrm>
          <a:prstGeom prst="ellipse">
            <a:avLst/>
          </a:prstGeom>
          <a:solidFill>
            <a:srgbClr val="1098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544568" y="2029968"/>
            <a:ext cx="493776" cy="49377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175504" y="2020824"/>
            <a:ext cx="2240280" cy="51206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10988A"/>
                </a:solidFill>
                <a:latin typeface="Arial"/>
              </a:rPr>
              <a:t>DESIGN MOVE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0" y="2798063"/>
            <a:ext cx="2834640" cy="16459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161B26"/>
                </a:solidFill>
                <a:latin typeface="Arial"/>
              </a:rPr>
              <a:t>Add confirmation where risk is high, show completion and provide recovery when possible.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572000" y="4526280"/>
            <a:ext cx="2834640" cy="27432"/>
          </a:xfrm>
          <a:prstGeom prst="rect">
            <a:avLst/>
          </a:prstGeom>
          <a:solidFill>
            <a:srgbClr val="1098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7973568" y="1755648"/>
            <a:ext cx="3392424" cy="3127248"/>
          </a:xfrm>
          <a:prstGeom prst="rect">
            <a:avLst/>
          </a:prstGeom>
          <a:solidFill>
            <a:srgbClr val="FFFFFF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973568" y="1755648"/>
            <a:ext cx="3392424" cy="91440"/>
          </a:xfrm>
          <a:prstGeom prst="rect">
            <a:avLst/>
          </a:prstGeom>
          <a:solidFill>
            <a:srgbClr val="724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8202168" y="2029968"/>
            <a:ext cx="493776" cy="493776"/>
          </a:xfrm>
          <a:prstGeom prst="ellipse">
            <a:avLst/>
          </a:prstGeom>
          <a:solidFill>
            <a:srgbClr val="724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202168" y="2029968"/>
            <a:ext cx="493776" cy="49377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833104" y="2020824"/>
            <a:ext cx="2240280" cy="51206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724CD6"/>
                </a:solidFill>
                <a:latin typeface="Arial"/>
              </a:rPr>
              <a:t>EVIDENCE STANDARD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229600" y="2798063"/>
            <a:ext cx="2834640" cy="16459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161B26"/>
                </a:solidFill>
                <a:latin typeface="Arial"/>
              </a:rPr>
              <a:t>Good feedback keeps users oriented and in control.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8229600" y="4526280"/>
            <a:ext cx="2834640" cy="27432"/>
          </a:xfrm>
          <a:prstGeom prst="rect">
            <a:avLst/>
          </a:prstGeom>
          <a:solidFill>
            <a:srgbClr val="724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58368" y="5102352"/>
            <a:ext cx="10835640" cy="56692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14400" y="5239512"/>
            <a:ext cx="10241280" cy="29260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250" b="1" i="0">
                <a:solidFill>
                  <a:srgbClr val="161B26"/>
                </a:solidFill>
                <a:latin typeface="Arial"/>
              </a:rPr>
              <a:t>Ask: what user outcome changes, and what evidence would prove it?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098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10988A"/>
                </a:solidFill>
                <a:latin typeface="Arial"/>
              </a:rPr>
              <a:t>MODULE 1 · HANDS-ON ACTIVITY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21792"/>
            <a:ext cx="10835640" cy="6583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 i="0">
                <a:solidFill>
                  <a:srgbClr val="161B26"/>
                </a:solidFill>
                <a:latin typeface="Arial"/>
              </a:rPr>
              <a:t>Lab 1 · Research Brief and Requirements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6419088"/>
            <a:ext cx="4663440" cy="2194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 i="0">
                <a:solidFill>
                  <a:srgbClr val="5B6372"/>
                </a:solidFill>
                <a:latin typeface="Arial"/>
              </a:rPr>
              <a:t>Claude Design for UX/UI · C744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89120" y="6419088"/>
            <a:ext cx="3657600" cy="2194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0" i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44200" y="6419088"/>
            <a:ext cx="731520" cy="2194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 i="0">
                <a:solidFill>
                  <a:srgbClr val="5B6372"/>
                </a:solidFill>
                <a:latin typeface="Arial"/>
              </a:rPr>
              <a:t>37</a:t>
            </a:r>
          </a:p>
        </p:txBody>
      </p:sp>
      <p:sp>
        <p:nvSpPr>
          <p:cNvPr id="10" name="Rectangle 9"/>
          <p:cNvSpPr/>
          <p:nvPr/>
        </p:nvSpPr>
        <p:spPr>
          <a:xfrm>
            <a:off x="9692640" y="310896"/>
            <a:ext cx="1508760" cy="310896"/>
          </a:xfrm>
          <a:prstGeom prst="rect">
            <a:avLst/>
          </a:prstGeom>
          <a:solidFill>
            <a:srgbClr val="1098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92640" y="310896"/>
            <a:ext cx="1508760" cy="31089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 i="0">
                <a:solidFill>
                  <a:srgbClr val="FFFFFF"/>
                </a:solidFill>
                <a:latin typeface="Arial"/>
              </a:rPr>
              <a:t>25 MIN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49808" y="1755648"/>
            <a:ext cx="10378440" cy="80467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0" i="0">
                <a:solidFill>
                  <a:srgbClr val="161B26"/>
                </a:solidFill>
                <a:latin typeface="Arial"/>
              </a:rPr>
              <a:t>A neighbourhood wellness service needs a mobile experience for daily support and appointment booking.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49808" y="2770632"/>
            <a:ext cx="10725912" cy="138988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05840" y="2971800"/>
            <a:ext cx="2011680" cy="2560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 i="0">
                <a:solidFill>
                  <a:srgbClr val="10988A"/>
                </a:solidFill>
                <a:latin typeface="Arial"/>
              </a:rPr>
              <a:t>YOU WILL PRODUCE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05840" y="3401568"/>
            <a:ext cx="10012680" cy="47548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 i="0">
                <a:solidFill>
                  <a:srgbClr val="161B26"/>
                </a:solidFill>
                <a:latin typeface="Arial"/>
              </a:rPr>
              <a:t>research-backed product brief, required-function list and measurable success criteria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49808" y="4443984"/>
            <a:ext cx="10725912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05840" y="4626864"/>
            <a:ext cx="10012680" cy="31089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5B6372"/>
                </a:solidFill>
                <a:latin typeface="Arial"/>
              </a:rPr>
              <a:t>Tools: Claude Design · browser · supplied brief template · Full detailed procedure: Learner Guide and labs/lab-01-*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49808" y="5340096"/>
            <a:ext cx="2834640" cy="329184"/>
          </a:xfrm>
          <a:prstGeom prst="rect">
            <a:avLst/>
          </a:prstGeom>
          <a:solidFill>
            <a:srgbClr val="724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49808" y="5340096"/>
            <a:ext cx="2834640" cy="32918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1" i="0">
                <a:solidFill>
                  <a:srgbClr val="FFFFFF"/>
                </a:solidFill>
                <a:latin typeface="Arial"/>
              </a:rPr>
              <a:t>LO1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098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10988A"/>
                </a:solidFill>
                <a:latin typeface="Arial"/>
              </a:rPr>
              <a:t>MODULE 1 · CONCEPTUAL WORKFLOW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21792"/>
            <a:ext cx="10835640" cy="6583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 i="0">
                <a:solidFill>
                  <a:srgbClr val="161B26"/>
                </a:solidFill>
                <a:latin typeface="Arial"/>
              </a:rPr>
              <a:t>Lab 1 · Workflow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6419088"/>
            <a:ext cx="4663440" cy="2194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 i="0">
                <a:solidFill>
                  <a:srgbClr val="5B6372"/>
                </a:solidFill>
                <a:latin typeface="Arial"/>
              </a:rPr>
              <a:t>Claude Design for UX/UI · C744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89120" y="6419088"/>
            <a:ext cx="3657600" cy="2194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0" i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44200" y="6419088"/>
            <a:ext cx="731520" cy="2194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 i="0">
                <a:solidFill>
                  <a:srgbClr val="5B6372"/>
                </a:solidFill>
                <a:latin typeface="Arial"/>
              </a:rPr>
              <a:t>38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49808" y="1938528"/>
            <a:ext cx="1925726" cy="2423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49808" y="1938528"/>
            <a:ext cx="1925726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392631" y="2240280"/>
            <a:ext cx="640080" cy="64008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392631" y="2240280"/>
            <a:ext cx="640080" cy="6400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300" b="1" i="0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86968" y="3017520"/>
            <a:ext cx="1651406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 i="0">
                <a:solidFill>
                  <a:srgbClr val="1F6FEB"/>
                </a:solidFill>
                <a:latin typeface="Arial"/>
              </a:rPr>
              <a:t>Review evidence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96112" y="3474720"/>
            <a:ext cx="1633118" cy="6126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0" i="0">
                <a:solidFill>
                  <a:srgbClr val="5B6372"/>
                </a:solidFill>
                <a:latin typeface="Arial"/>
              </a:rPr>
              <a:t>High-level stage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2675534" y="3150108"/>
            <a:ext cx="274320" cy="0"/>
          </a:xfrm>
          <a:prstGeom prst="line">
            <a:avLst/>
          </a:prstGeom>
          <a:ln w="25400">
            <a:solidFill>
              <a:srgbClr val="10988A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2949854" y="1938528"/>
            <a:ext cx="1925726" cy="2423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2949854" y="1938528"/>
            <a:ext cx="1925726" cy="91440"/>
          </a:xfrm>
          <a:prstGeom prst="rect">
            <a:avLst/>
          </a:prstGeom>
          <a:solidFill>
            <a:srgbClr val="724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3592677" y="2240280"/>
            <a:ext cx="640080" cy="640080"/>
          </a:xfrm>
          <a:prstGeom prst="ellipse">
            <a:avLst/>
          </a:prstGeom>
          <a:solidFill>
            <a:srgbClr val="724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592677" y="2240280"/>
            <a:ext cx="640080" cy="6400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300" b="1" i="0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087014" y="3017520"/>
            <a:ext cx="1651406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 i="0">
                <a:solidFill>
                  <a:srgbClr val="724CD6"/>
                </a:solidFill>
                <a:latin typeface="Arial"/>
              </a:rPr>
              <a:t>Frame user job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096158" y="3474720"/>
            <a:ext cx="1633118" cy="6126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0" i="0">
                <a:solidFill>
                  <a:srgbClr val="5B6372"/>
                </a:solidFill>
                <a:latin typeface="Arial"/>
              </a:rPr>
              <a:t>High-level stage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4875580" y="3150108"/>
            <a:ext cx="274320" cy="0"/>
          </a:xfrm>
          <a:prstGeom prst="line">
            <a:avLst/>
          </a:prstGeom>
          <a:ln w="25400">
            <a:solidFill>
              <a:srgbClr val="10988A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23"/>
          <p:cNvSpPr/>
          <p:nvPr/>
        </p:nvSpPr>
        <p:spPr>
          <a:xfrm>
            <a:off x="5149900" y="1938528"/>
            <a:ext cx="1925726" cy="2423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5149900" y="1938528"/>
            <a:ext cx="1925726" cy="91440"/>
          </a:xfrm>
          <a:prstGeom prst="rect">
            <a:avLst/>
          </a:prstGeom>
          <a:solidFill>
            <a:srgbClr val="1098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5792724" y="2240280"/>
            <a:ext cx="640080" cy="640080"/>
          </a:xfrm>
          <a:prstGeom prst="ellipse">
            <a:avLst/>
          </a:prstGeom>
          <a:solidFill>
            <a:srgbClr val="1098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792724" y="2240280"/>
            <a:ext cx="640080" cy="6400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300" b="1" i="0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287060" y="3017520"/>
            <a:ext cx="1651406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 i="0">
                <a:solidFill>
                  <a:srgbClr val="10988A"/>
                </a:solidFill>
                <a:latin typeface="Arial"/>
              </a:rPr>
              <a:t>List needs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296204" y="3474720"/>
            <a:ext cx="1633118" cy="6126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0" i="0">
                <a:solidFill>
                  <a:srgbClr val="5B6372"/>
                </a:solidFill>
                <a:latin typeface="Arial"/>
              </a:rPr>
              <a:t>High-level stage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7075627" y="3150108"/>
            <a:ext cx="274320" cy="0"/>
          </a:xfrm>
          <a:prstGeom prst="line">
            <a:avLst/>
          </a:prstGeom>
          <a:ln w="25400">
            <a:solidFill>
              <a:srgbClr val="10988A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Rounded Rectangle 30"/>
          <p:cNvSpPr/>
          <p:nvPr/>
        </p:nvSpPr>
        <p:spPr>
          <a:xfrm>
            <a:off x="7349947" y="1938528"/>
            <a:ext cx="1925726" cy="2423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7349947" y="1938528"/>
            <a:ext cx="1925726" cy="91440"/>
          </a:xfrm>
          <a:prstGeom prst="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7992770" y="2240280"/>
            <a:ext cx="640080" cy="640080"/>
          </a:xfrm>
          <a:prstGeom prst="ellipse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992770" y="2240280"/>
            <a:ext cx="640080" cy="6400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300" b="1" i="0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487107" y="3017520"/>
            <a:ext cx="1651406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 i="0">
                <a:solidFill>
                  <a:srgbClr val="16845B"/>
                </a:solidFill>
                <a:latin typeface="Arial"/>
              </a:rPr>
              <a:t>Prioritise functions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496251" y="3474720"/>
            <a:ext cx="1633118" cy="6126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0" i="0">
                <a:solidFill>
                  <a:srgbClr val="5B6372"/>
                </a:solidFill>
                <a:latin typeface="Arial"/>
              </a:rPr>
              <a:t>High-level stage</a:t>
            </a:r>
          </a:p>
        </p:txBody>
      </p:sp>
      <p:cxnSp>
        <p:nvCxnSpPr>
          <p:cNvPr id="37" name="Connector 36"/>
          <p:cNvCxnSpPr/>
          <p:nvPr/>
        </p:nvCxnSpPr>
        <p:spPr>
          <a:xfrm>
            <a:off x="9275673" y="3150108"/>
            <a:ext cx="274320" cy="0"/>
          </a:xfrm>
          <a:prstGeom prst="line">
            <a:avLst/>
          </a:prstGeom>
          <a:ln w="25400">
            <a:solidFill>
              <a:srgbClr val="10988A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Rounded Rectangle 37"/>
          <p:cNvSpPr/>
          <p:nvPr/>
        </p:nvSpPr>
        <p:spPr>
          <a:xfrm>
            <a:off x="9549993" y="1938528"/>
            <a:ext cx="1925726" cy="2423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9549993" y="1938528"/>
            <a:ext cx="1925726" cy="91440"/>
          </a:xfrm>
          <a:prstGeom prst="rect">
            <a:avLst/>
          </a:prstGeom>
          <a:solidFill>
            <a:srgbClr val="C77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10192816" y="2240280"/>
            <a:ext cx="640080" cy="640080"/>
          </a:xfrm>
          <a:prstGeom prst="ellipse">
            <a:avLst/>
          </a:prstGeom>
          <a:solidFill>
            <a:srgbClr val="C77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10192816" y="2240280"/>
            <a:ext cx="640080" cy="6400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300" b="1" i="0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687153" y="3017520"/>
            <a:ext cx="1651406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 i="0">
                <a:solidFill>
                  <a:srgbClr val="C77600"/>
                </a:solidFill>
                <a:latin typeface="Arial"/>
              </a:rPr>
              <a:t>Define success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696297" y="3474720"/>
            <a:ext cx="1633118" cy="6126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0" i="0">
                <a:solidFill>
                  <a:srgbClr val="5B6372"/>
                </a:solidFill>
                <a:latin typeface="Arial"/>
              </a:rPr>
              <a:t>High-level stage</a:t>
            </a:r>
          </a:p>
        </p:txBody>
      </p:sp>
      <p:sp>
        <p:nvSpPr>
          <p:cNvPr id="44" name="Rectangle 43"/>
          <p:cNvSpPr/>
          <p:nvPr/>
        </p:nvSpPr>
        <p:spPr>
          <a:xfrm>
            <a:off x="749808" y="4754880"/>
            <a:ext cx="10725912" cy="80467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960120" y="4919472"/>
            <a:ext cx="182880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 i="0">
                <a:solidFill>
                  <a:srgbClr val="10988A"/>
                </a:solidFill>
                <a:latin typeface="Arial"/>
              </a:rPr>
              <a:t>THE POINT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2331720" y="4855464"/>
            <a:ext cx="8778240" cy="39319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20" b="1" i="0">
                <a:solidFill>
                  <a:srgbClr val="161B26"/>
                </a:solidFill>
                <a:latin typeface="Arial"/>
              </a:rPr>
              <a:t>Detailed click-by-click steps and files are in the Learner Guide and lab folder.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16845B"/>
                </a:solidFill>
                <a:latin typeface="Arial"/>
              </a:rPr>
              <a:t>MODULE 1 · VERIFY THE OUTCOME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21792"/>
            <a:ext cx="10835640" cy="6583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 i="0">
                <a:solidFill>
                  <a:srgbClr val="161B26"/>
                </a:solidFill>
                <a:latin typeface="Arial"/>
              </a:rPr>
              <a:t>Lab 1 · Evidence and acceptance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6419088"/>
            <a:ext cx="4663440" cy="2194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 i="0">
                <a:solidFill>
                  <a:srgbClr val="5B6372"/>
                </a:solidFill>
                <a:latin typeface="Arial"/>
              </a:rPr>
              <a:t>Claude Design for UX/UI · C744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89120" y="6419088"/>
            <a:ext cx="3657600" cy="2194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0" i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44200" y="6419088"/>
            <a:ext cx="731520" cy="2194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 i="0">
                <a:solidFill>
                  <a:srgbClr val="5B6372"/>
                </a:solidFill>
                <a:latin typeface="Arial"/>
              </a:rPr>
              <a:t>39</a:t>
            </a:r>
          </a:p>
        </p:txBody>
      </p:sp>
      <p:sp>
        <p:nvSpPr>
          <p:cNvPr id="10" name="Rectangle 9"/>
          <p:cNvSpPr/>
          <p:nvPr/>
        </p:nvSpPr>
        <p:spPr>
          <a:xfrm>
            <a:off x="658368" y="1828800"/>
            <a:ext cx="2487168" cy="2432304"/>
          </a:xfrm>
          <a:prstGeom prst="rect">
            <a:avLst/>
          </a:prstGeom>
          <a:solidFill>
            <a:srgbClr val="E8F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58368" y="1828800"/>
            <a:ext cx="82296" cy="2432304"/>
          </a:xfrm>
          <a:prstGeom prst="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896112" y="2084832"/>
            <a:ext cx="512064" cy="512064"/>
          </a:xfrm>
          <a:prstGeom prst="ellipse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96112" y="2084832"/>
            <a:ext cx="512064" cy="51206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1" i="0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05256" y="2834640"/>
            <a:ext cx="1965960" cy="10515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 i="0">
                <a:solidFill>
                  <a:srgbClr val="161B26"/>
                </a:solidFill>
                <a:latin typeface="Arial"/>
              </a:rPr>
              <a:t>Names a primary user and job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401568" y="1828800"/>
            <a:ext cx="2487168" cy="2432304"/>
          </a:xfrm>
          <a:prstGeom prst="rect">
            <a:avLst/>
          </a:prstGeom>
          <a:solidFill>
            <a:srgbClr val="E8F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401568" y="1828800"/>
            <a:ext cx="82296" cy="2432304"/>
          </a:xfrm>
          <a:prstGeom prst="rect">
            <a:avLst/>
          </a:prstGeom>
          <a:solidFill>
            <a:srgbClr val="1098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3639312" y="2084832"/>
            <a:ext cx="512064" cy="512064"/>
          </a:xfrm>
          <a:prstGeom prst="ellipse">
            <a:avLst/>
          </a:prstGeom>
          <a:solidFill>
            <a:srgbClr val="1098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639312" y="2084832"/>
            <a:ext cx="512064" cy="51206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1" i="0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48456" y="2834640"/>
            <a:ext cx="1965960" cy="10515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 i="0">
                <a:solidFill>
                  <a:srgbClr val="161B26"/>
                </a:solidFill>
                <a:latin typeface="Arial"/>
              </a:rPr>
              <a:t>Separates evidence from assumptions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144768" y="1828800"/>
            <a:ext cx="2487168" cy="2432304"/>
          </a:xfrm>
          <a:prstGeom prst="rect">
            <a:avLst/>
          </a:prstGeom>
          <a:solidFill>
            <a:srgbClr val="E8F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144768" y="1828800"/>
            <a:ext cx="82296" cy="243230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6382512" y="2084832"/>
            <a:ext cx="512064" cy="512064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382512" y="2084832"/>
            <a:ext cx="512064" cy="51206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1" i="0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91656" y="2834640"/>
            <a:ext cx="1965960" cy="10515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 i="0">
                <a:solidFill>
                  <a:srgbClr val="161B26"/>
                </a:solidFill>
                <a:latin typeface="Arial"/>
              </a:rPr>
              <a:t>Lists essential functions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887968" y="1828800"/>
            <a:ext cx="2487168" cy="2432304"/>
          </a:xfrm>
          <a:prstGeom prst="rect">
            <a:avLst/>
          </a:prstGeom>
          <a:solidFill>
            <a:srgbClr val="E8F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887968" y="1828800"/>
            <a:ext cx="82296" cy="2432304"/>
          </a:xfrm>
          <a:prstGeom prst="rect">
            <a:avLst/>
          </a:prstGeom>
          <a:solidFill>
            <a:srgbClr val="724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9125712" y="2084832"/>
            <a:ext cx="512064" cy="512064"/>
          </a:xfrm>
          <a:prstGeom prst="ellipse">
            <a:avLst/>
          </a:prstGeom>
          <a:solidFill>
            <a:srgbClr val="724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125712" y="2084832"/>
            <a:ext cx="512064" cy="51206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1" i="0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34856" y="2834640"/>
            <a:ext cx="1965960" cy="10515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 i="0">
                <a:solidFill>
                  <a:srgbClr val="161B26"/>
                </a:solidFill>
                <a:latin typeface="Arial"/>
              </a:rPr>
              <a:t>Defines observable success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58368" y="4617720"/>
            <a:ext cx="10835640" cy="868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32688" y="4800600"/>
            <a:ext cx="10287000" cy="4114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150" b="1" i="0">
                <a:solidFill>
                  <a:srgbClr val="5B6372"/>
                </a:solidFill>
                <a:latin typeface="Arial"/>
              </a:rPr>
              <a:t>Evidence package: brief-template.md, evidence-notes.csv, prompt.txt · capture the final Claude Design version link or export.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098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10988A"/>
                </a:solidFill>
                <a:latin typeface="Arial"/>
              </a:rPr>
              <a:t>MODULE 1 · HANDS-ON ACTIVITY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21792"/>
            <a:ext cx="10835640" cy="6583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 i="0">
                <a:solidFill>
                  <a:srgbClr val="161B26"/>
                </a:solidFill>
                <a:latin typeface="Arial"/>
              </a:rPr>
              <a:t>Lab 2 · Information Flow and Principle Audit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6419088"/>
            <a:ext cx="4663440" cy="2194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 i="0">
                <a:solidFill>
                  <a:srgbClr val="5B6372"/>
                </a:solidFill>
                <a:latin typeface="Arial"/>
              </a:rPr>
              <a:t>Claude Design for UX/UI · C744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89120" y="6419088"/>
            <a:ext cx="3657600" cy="2194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0" i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44200" y="6419088"/>
            <a:ext cx="731520" cy="2194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 i="0">
                <a:solidFill>
                  <a:srgbClr val="5B6372"/>
                </a:solidFill>
                <a:latin typeface="Arial"/>
              </a:rPr>
              <a:t>40</a:t>
            </a:r>
          </a:p>
        </p:txBody>
      </p:sp>
      <p:sp>
        <p:nvSpPr>
          <p:cNvPr id="10" name="Rectangle 9"/>
          <p:cNvSpPr/>
          <p:nvPr/>
        </p:nvSpPr>
        <p:spPr>
          <a:xfrm>
            <a:off x="9692640" y="310896"/>
            <a:ext cx="1508760" cy="310896"/>
          </a:xfrm>
          <a:prstGeom prst="rect">
            <a:avLst/>
          </a:prstGeom>
          <a:solidFill>
            <a:srgbClr val="1098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92640" y="310896"/>
            <a:ext cx="1508760" cy="31089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 i="0">
                <a:solidFill>
                  <a:srgbClr val="FFFFFF"/>
                </a:solidFill>
                <a:latin typeface="Arial"/>
              </a:rPr>
              <a:t>25 MIN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49808" y="1755648"/>
            <a:ext cx="10378440" cy="80467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0" i="0">
                <a:solidFill>
                  <a:srgbClr val="161B26"/>
                </a:solidFill>
                <a:latin typeface="Arial"/>
              </a:rPr>
              <a:t>Map the wellness appointment task and inspect a flawed flow against clarity, hierarchy, consistency, accessibility and feedback.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49808" y="2770632"/>
            <a:ext cx="10725912" cy="138988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05840" y="2971800"/>
            <a:ext cx="2011680" cy="2560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 i="0">
                <a:solidFill>
                  <a:srgbClr val="10988A"/>
                </a:solidFill>
                <a:latin typeface="Arial"/>
              </a:rPr>
              <a:t>YOU WILL PRODUCE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05840" y="3401568"/>
            <a:ext cx="10012680" cy="47548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 i="0">
                <a:solidFill>
                  <a:srgbClr val="161B26"/>
                </a:solidFill>
                <a:latin typeface="Arial"/>
              </a:rPr>
              <a:t>complete user flow with exception states and a prioritised UI audit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49808" y="4443984"/>
            <a:ext cx="10725912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05840" y="4626864"/>
            <a:ext cx="10012680" cy="31089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5B6372"/>
                </a:solidFill>
                <a:latin typeface="Arial"/>
              </a:rPr>
              <a:t>Tools: Claude Design · Mermaid-compatible flow sample · audit checklist · Full detailed procedure: Learner Guide and labs/lab-02-*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49808" y="5340096"/>
            <a:ext cx="2834640" cy="329184"/>
          </a:xfrm>
          <a:prstGeom prst="rect">
            <a:avLst/>
          </a:prstGeom>
          <a:solidFill>
            <a:srgbClr val="724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49808" y="5340096"/>
            <a:ext cx="2834640" cy="32918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1" i="0">
                <a:solidFill>
                  <a:srgbClr val="FFFFFF"/>
                </a:solidFill>
                <a:latin typeface="Arial"/>
              </a:rPr>
              <a:t>LO1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098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10988A"/>
                </a:solidFill>
                <a:latin typeface="Arial"/>
              </a:rPr>
              <a:t>MODULE 1 · CONCEPTUAL WORKFLOW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21792"/>
            <a:ext cx="10835640" cy="6583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 i="0">
                <a:solidFill>
                  <a:srgbClr val="161B26"/>
                </a:solidFill>
                <a:latin typeface="Arial"/>
              </a:rPr>
              <a:t>Lab 2 · Workflow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6419088"/>
            <a:ext cx="4663440" cy="2194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 i="0">
                <a:solidFill>
                  <a:srgbClr val="5B6372"/>
                </a:solidFill>
                <a:latin typeface="Arial"/>
              </a:rPr>
              <a:t>Claude Design for UX/UI · C744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89120" y="6419088"/>
            <a:ext cx="3657600" cy="2194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0" i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44200" y="6419088"/>
            <a:ext cx="731520" cy="2194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 i="0">
                <a:solidFill>
                  <a:srgbClr val="5B6372"/>
                </a:solidFill>
                <a:latin typeface="Arial"/>
              </a:rPr>
              <a:t>41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49808" y="1938528"/>
            <a:ext cx="1925726" cy="2423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49808" y="1938528"/>
            <a:ext cx="1925726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392631" y="2240280"/>
            <a:ext cx="640080" cy="64008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392631" y="2240280"/>
            <a:ext cx="640080" cy="6400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300" b="1" i="0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86968" y="3017520"/>
            <a:ext cx="1651406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 i="0">
                <a:solidFill>
                  <a:srgbClr val="1F6FEB"/>
                </a:solidFill>
                <a:latin typeface="Arial"/>
              </a:rPr>
              <a:t>Map entry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96112" y="3474720"/>
            <a:ext cx="1633118" cy="6126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0" i="0">
                <a:solidFill>
                  <a:srgbClr val="5B6372"/>
                </a:solidFill>
                <a:latin typeface="Arial"/>
              </a:rPr>
              <a:t>High-level stage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2675534" y="3150108"/>
            <a:ext cx="274320" cy="0"/>
          </a:xfrm>
          <a:prstGeom prst="line">
            <a:avLst/>
          </a:prstGeom>
          <a:ln w="25400">
            <a:solidFill>
              <a:srgbClr val="10988A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2949854" y="1938528"/>
            <a:ext cx="1925726" cy="2423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2949854" y="1938528"/>
            <a:ext cx="1925726" cy="91440"/>
          </a:xfrm>
          <a:prstGeom prst="rect">
            <a:avLst/>
          </a:prstGeom>
          <a:solidFill>
            <a:srgbClr val="724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3592677" y="2240280"/>
            <a:ext cx="640080" cy="640080"/>
          </a:xfrm>
          <a:prstGeom prst="ellipse">
            <a:avLst/>
          </a:prstGeom>
          <a:solidFill>
            <a:srgbClr val="724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592677" y="2240280"/>
            <a:ext cx="640080" cy="6400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300" b="1" i="0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087014" y="3017520"/>
            <a:ext cx="1651406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 i="0">
                <a:solidFill>
                  <a:srgbClr val="724CD6"/>
                </a:solidFill>
                <a:latin typeface="Arial"/>
              </a:rPr>
              <a:t>Draw happy path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096158" y="3474720"/>
            <a:ext cx="1633118" cy="6126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0" i="0">
                <a:solidFill>
                  <a:srgbClr val="5B6372"/>
                </a:solidFill>
                <a:latin typeface="Arial"/>
              </a:rPr>
              <a:t>High-level stage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4875580" y="3150108"/>
            <a:ext cx="274320" cy="0"/>
          </a:xfrm>
          <a:prstGeom prst="line">
            <a:avLst/>
          </a:prstGeom>
          <a:ln w="25400">
            <a:solidFill>
              <a:srgbClr val="10988A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23"/>
          <p:cNvSpPr/>
          <p:nvPr/>
        </p:nvSpPr>
        <p:spPr>
          <a:xfrm>
            <a:off x="5149900" y="1938528"/>
            <a:ext cx="1925726" cy="2423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5149900" y="1938528"/>
            <a:ext cx="1925726" cy="91440"/>
          </a:xfrm>
          <a:prstGeom prst="rect">
            <a:avLst/>
          </a:prstGeom>
          <a:solidFill>
            <a:srgbClr val="1098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5792724" y="2240280"/>
            <a:ext cx="640080" cy="640080"/>
          </a:xfrm>
          <a:prstGeom prst="ellipse">
            <a:avLst/>
          </a:prstGeom>
          <a:solidFill>
            <a:srgbClr val="1098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792724" y="2240280"/>
            <a:ext cx="640080" cy="6400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300" b="1" i="0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287060" y="3017520"/>
            <a:ext cx="1651406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 i="0">
                <a:solidFill>
                  <a:srgbClr val="10988A"/>
                </a:solidFill>
                <a:latin typeface="Arial"/>
              </a:rPr>
              <a:t>Add decisions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296204" y="3474720"/>
            <a:ext cx="1633118" cy="6126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0" i="0">
                <a:solidFill>
                  <a:srgbClr val="5B6372"/>
                </a:solidFill>
                <a:latin typeface="Arial"/>
              </a:rPr>
              <a:t>High-level stage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7075627" y="3150108"/>
            <a:ext cx="274320" cy="0"/>
          </a:xfrm>
          <a:prstGeom prst="line">
            <a:avLst/>
          </a:prstGeom>
          <a:ln w="25400">
            <a:solidFill>
              <a:srgbClr val="10988A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Rounded Rectangle 30"/>
          <p:cNvSpPr/>
          <p:nvPr/>
        </p:nvSpPr>
        <p:spPr>
          <a:xfrm>
            <a:off x="7349947" y="1938528"/>
            <a:ext cx="1925726" cy="2423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7349947" y="1938528"/>
            <a:ext cx="1925726" cy="91440"/>
          </a:xfrm>
          <a:prstGeom prst="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7992770" y="2240280"/>
            <a:ext cx="640080" cy="640080"/>
          </a:xfrm>
          <a:prstGeom prst="ellipse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992770" y="2240280"/>
            <a:ext cx="640080" cy="6400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300" b="1" i="0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487107" y="3017520"/>
            <a:ext cx="1651406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 i="0">
                <a:solidFill>
                  <a:srgbClr val="16845B"/>
                </a:solidFill>
                <a:latin typeface="Arial"/>
              </a:rPr>
              <a:t>Add exceptions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496251" y="3474720"/>
            <a:ext cx="1633118" cy="6126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0" i="0">
                <a:solidFill>
                  <a:srgbClr val="5B6372"/>
                </a:solidFill>
                <a:latin typeface="Arial"/>
              </a:rPr>
              <a:t>High-level stage</a:t>
            </a:r>
          </a:p>
        </p:txBody>
      </p:sp>
      <p:cxnSp>
        <p:nvCxnSpPr>
          <p:cNvPr id="37" name="Connector 36"/>
          <p:cNvCxnSpPr/>
          <p:nvPr/>
        </p:nvCxnSpPr>
        <p:spPr>
          <a:xfrm>
            <a:off x="9275673" y="3150108"/>
            <a:ext cx="274320" cy="0"/>
          </a:xfrm>
          <a:prstGeom prst="line">
            <a:avLst/>
          </a:prstGeom>
          <a:ln w="25400">
            <a:solidFill>
              <a:srgbClr val="10988A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Rounded Rectangle 37"/>
          <p:cNvSpPr/>
          <p:nvPr/>
        </p:nvSpPr>
        <p:spPr>
          <a:xfrm>
            <a:off x="9549993" y="1938528"/>
            <a:ext cx="1925726" cy="2423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9549993" y="1938528"/>
            <a:ext cx="1925726" cy="91440"/>
          </a:xfrm>
          <a:prstGeom prst="rect">
            <a:avLst/>
          </a:prstGeom>
          <a:solidFill>
            <a:srgbClr val="C77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10192816" y="2240280"/>
            <a:ext cx="640080" cy="640080"/>
          </a:xfrm>
          <a:prstGeom prst="ellipse">
            <a:avLst/>
          </a:prstGeom>
          <a:solidFill>
            <a:srgbClr val="C77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10192816" y="2240280"/>
            <a:ext cx="640080" cy="6400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300" b="1" i="0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687153" y="3017520"/>
            <a:ext cx="1651406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 i="0">
                <a:solidFill>
                  <a:srgbClr val="C77600"/>
                </a:solidFill>
                <a:latin typeface="Arial"/>
              </a:rPr>
              <a:t>Prioritise issues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696297" y="3474720"/>
            <a:ext cx="1633118" cy="6126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0" i="0">
                <a:solidFill>
                  <a:srgbClr val="5B6372"/>
                </a:solidFill>
                <a:latin typeface="Arial"/>
              </a:rPr>
              <a:t>High-level stage</a:t>
            </a:r>
          </a:p>
        </p:txBody>
      </p:sp>
      <p:sp>
        <p:nvSpPr>
          <p:cNvPr id="44" name="Rectangle 43"/>
          <p:cNvSpPr/>
          <p:nvPr/>
        </p:nvSpPr>
        <p:spPr>
          <a:xfrm>
            <a:off x="749808" y="4754880"/>
            <a:ext cx="10725912" cy="80467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960120" y="4919472"/>
            <a:ext cx="182880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 i="0">
                <a:solidFill>
                  <a:srgbClr val="10988A"/>
                </a:solidFill>
                <a:latin typeface="Arial"/>
              </a:rPr>
              <a:t>THE POINT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2331720" y="4855464"/>
            <a:ext cx="8778240" cy="39319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20" b="1" i="0">
                <a:solidFill>
                  <a:srgbClr val="161B26"/>
                </a:solidFill>
                <a:latin typeface="Arial"/>
              </a:rPr>
              <a:t>Detailed click-by-click steps and files are in the Learner Guide and lab folder.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16845B"/>
                </a:solidFill>
                <a:latin typeface="Arial"/>
              </a:rPr>
              <a:t>MODULE 1 · VERIFY THE OUTCOME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21792"/>
            <a:ext cx="10835640" cy="6583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 i="0">
                <a:solidFill>
                  <a:srgbClr val="161B26"/>
                </a:solidFill>
                <a:latin typeface="Arial"/>
              </a:rPr>
              <a:t>Lab 2 · Evidence and acceptance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6419088"/>
            <a:ext cx="4663440" cy="2194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 i="0">
                <a:solidFill>
                  <a:srgbClr val="5B6372"/>
                </a:solidFill>
                <a:latin typeface="Arial"/>
              </a:rPr>
              <a:t>Claude Design for UX/UI · C744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89120" y="6419088"/>
            <a:ext cx="3657600" cy="2194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0" i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44200" y="6419088"/>
            <a:ext cx="731520" cy="2194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 i="0">
                <a:solidFill>
                  <a:srgbClr val="5B6372"/>
                </a:solidFill>
                <a:latin typeface="Arial"/>
              </a:rPr>
              <a:t>42</a:t>
            </a:r>
          </a:p>
        </p:txBody>
      </p:sp>
      <p:sp>
        <p:nvSpPr>
          <p:cNvPr id="10" name="Rectangle 9"/>
          <p:cNvSpPr/>
          <p:nvPr/>
        </p:nvSpPr>
        <p:spPr>
          <a:xfrm>
            <a:off x="658368" y="1828800"/>
            <a:ext cx="2487168" cy="2432304"/>
          </a:xfrm>
          <a:prstGeom prst="rect">
            <a:avLst/>
          </a:prstGeom>
          <a:solidFill>
            <a:srgbClr val="E8F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58368" y="1828800"/>
            <a:ext cx="82296" cy="2432304"/>
          </a:xfrm>
          <a:prstGeom prst="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896112" y="2084832"/>
            <a:ext cx="512064" cy="512064"/>
          </a:xfrm>
          <a:prstGeom prst="ellipse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96112" y="2084832"/>
            <a:ext cx="512064" cy="51206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1" i="0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05256" y="2834640"/>
            <a:ext cx="1965960" cy="10515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 i="0">
                <a:solidFill>
                  <a:srgbClr val="161B26"/>
                </a:solidFill>
                <a:latin typeface="Arial"/>
              </a:rPr>
              <a:t>Flow includes success and recovery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401568" y="1828800"/>
            <a:ext cx="2487168" cy="2432304"/>
          </a:xfrm>
          <a:prstGeom prst="rect">
            <a:avLst/>
          </a:prstGeom>
          <a:solidFill>
            <a:srgbClr val="E8F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401568" y="1828800"/>
            <a:ext cx="82296" cy="2432304"/>
          </a:xfrm>
          <a:prstGeom prst="rect">
            <a:avLst/>
          </a:prstGeom>
          <a:solidFill>
            <a:srgbClr val="1098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3639312" y="2084832"/>
            <a:ext cx="512064" cy="512064"/>
          </a:xfrm>
          <a:prstGeom prst="ellipse">
            <a:avLst/>
          </a:prstGeom>
          <a:solidFill>
            <a:srgbClr val="1098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639312" y="2084832"/>
            <a:ext cx="512064" cy="51206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1" i="0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48456" y="2834640"/>
            <a:ext cx="1965960" cy="10515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 i="0">
                <a:solidFill>
                  <a:srgbClr val="161B26"/>
                </a:solidFill>
                <a:latin typeface="Arial"/>
              </a:rPr>
              <a:t>Every issue names a principle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144768" y="1828800"/>
            <a:ext cx="2487168" cy="2432304"/>
          </a:xfrm>
          <a:prstGeom prst="rect">
            <a:avLst/>
          </a:prstGeom>
          <a:solidFill>
            <a:srgbClr val="E8F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144768" y="1828800"/>
            <a:ext cx="82296" cy="243230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6382512" y="2084832"/>
            <a:ext cx="512064" cy="512064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382512" y="2084832"/>
            <a:ext cx="512064" cy="51206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1" i="0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91656" y="2834640"/>
            <a:ext cx="1965960" cy="10515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 i="0">
                <a:solidFill>
                  <a:srgbClr val="161B26"/>
                </a:solidFill>
                <a:latin typeface="Arial"/>
              </a:rPr>
              <a:t>Severity connects to task impact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887968" y="1828800"/>
            <a:ext cx="2487168" cy="2432304"/>
          </a:xfrm>
          <a:prstGeom prst="rect">
            <a:avLst/>
          </a:prstGeom>
          <a:solidFill>
            <a:srgbClr val="E8F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887968" y="1828800"/>
            <a:ext cx="82296" cy="2432304"/>
          </a:xfrm>
          <a:prstGeom prst="rect">
            <a:avLst/>
          </a:prstGeom>
          <a:solidFill>
            <a:srgbClr val="724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9125712" y="2084832"/>
            <a:ext cx="512064" cy="512064"/>
          </a:xfrm>
          <a:prstGeom prst="ellipse">
            <a:avLst/>
          </a:prstGeom>
          <a:solidFill>
            <a:srgbClr val="724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125712" y="2084832"/>
            <a:ext cx="512064" cy="51206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1" i="0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34856" y="2834640"/>
            <a:ext cx="1965960" cy="10515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 i="0">
                <a:solidFill>
                  <a:srgbClr val="161B26"/>
                </a:solidFill>
                <a:latin typeface="Arial"/>
              </a:rPr>
              <a:t>Recommendations are testable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58368" y="4617720"/>
            <a:ext cx="10835640" cy="868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32688" y="4800600"/>
            <a:ext cx="10287000" cy="4114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150" b="1" i="0">
                <a:solidFill>
                  <a:srgbClr val="5B6372"/>
                </a:solidFill>
                <a:latin typeface="Arial"/>
              </a:rPr>
              <a:t>Evidence package: user-flow.mmd, audit-checklist.csv, prompt.txt · capture the final Claude Design version link or export.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1F6FEB"/>
                </a:solidFill>
                <a:latin typeface="Arial"/>
              </a:rPr>
              <a:t>MODULE 1 · NATIVE CHART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21792"/>
            <a:ext cx="10835640" cy="6583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 i="0">
                <a:solidFill>
                  <a:srgbClr val="161B26"/>
                </a:solidFill>
                <a:latin typeface="Arial"/>
              </a:rPr>
              <a:t>Choice load grows faster than perceived simplicity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6419088"/>
            <a:ext cx="4663440" cy="2194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 i="0">
                <a:solidFill>
                  <a:srgbClr val="5B6372"/>
                </a:solidFill>
                <a:latin typeface="Arial"/>
              </a:rPr>
              <a:t>Claude Design for UX/UI · C744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89120" y="6419088"/>
            <a:ext cx="3657600" cy="2194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0" i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26679" y="6419088"/>
            <a:ext cx="2834640" cy="2194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730" b="0" i="1">
                <a:solidFill>
                  <a:srgbClr val="949DA9"/>
                </a:solidFill>
                <a:latin typeface="Arial"/>
              </a:rPr>
              <a:t>Indicative teaching data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44200" y="6419088"/>
            <a:ext cx="731520" cy="2194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 i="0">
                <a:solidFill>
                  <a:srgbClr val="5B6372"/>
                </a:solidFill>
                <a:latin typeface="Arial"/>
              </a:rPr>
              <a:t>43</a:t>
            </a:r>
          </a:p>
        </p:txBody>
      </p:sp>
      <p:graphicFrame>
        <p:nvGraphicFramePr>
          <p:cNvPr id="11" name="Chart 10"/>
          <p:cNvGraphicFramePr>
            <a:graphicFrameLocks noGrp="1"/>
          </p:cNvGraphicFramePr>
          <p:nvPr/>
        </p:nvGraphicFramePr>
        <p:xfrm>
          <a:off x="868680" y="1737360"/>
          <a:ext cx="6629400" cy="37033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2" name="Rectangle 11"/>
          <p:cNvSpPr/>
          <p:nvPr/>
        </p:nvSpPr>
        <p:spPr>
          <a:xfrm>
            <a:off x="7818120" y="1755648"/>
            <a:ext cx="3657600" cy="368503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818120" y="1755648"/>
            <a:ext cx="91440" cy="368503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156448" y="2084831"/>
            <a:ext cx="2880360" cy="31089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 i="0">
                <a:solidFill>
                  <a:srgbClr val="1F6FEB"/>
                </a:solidFill>
                <a:latin typeface="Arial"/>
              </a:rPr>
              <a:t>WHAT THE DATA SHOWS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56448" y="2670048"/>
            <a:ext cx="2880360" cy="16002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 i="0">
                <a:solidFill>
                  <a:srgbClr val="161B26"/>
                </a:solidFill>
                <a:latin typeface="Arial"/>
              </a:rPr>
              <a:t>Indicative teaching figures: more competing choices increase search and decision effort.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156448" y="4617720"/>
            <a:ext cx="2880360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 i="0">
                <a:solidFill>
                  <a:srgbClr val="5B6372"/>
                </a:solidFill>
                <a:latin typeface="Arial"/>
              </a:rPr>
              <a:t>Use charts to support a decision—not as decoration.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1F6FEB"/>
                </a:solidFill>
                <a:latin typeface="Arial"/>
              </a:rPr>
              <a:t>MODULE 1 · RETRIEVE AND APPLY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21792"/>
            <a:ext cx="10835640" cy="6583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 i="0">
                <a:solidFill>
                  <a:srgbClr val="161B26"/>
                </a:solidFill>
                <a:latin typeface="Arial"/>
              </a:rPr>
              <a:t>Module 1 · Decision recap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6419088"/>
            <a:ext cx="4663440" cy="2194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 i="0">
                <a:solidFill>
                  <a:srgbClr val="5B6372"/>
                </a:solidFill>
                <a:latin typeface="Arial"/>
              </a:rPr>
              <a:t>Claude Design for UX/UI · C744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89120" y="6419088"/>
            <a:ext cx="3657600" cy="2194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0" i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44200" y="6419088"/>
            <a:ext cx="731520" cy="2194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 i="0">
                <a:solidFill>
                  <a:srgbClr val="5B6372"/>
                </a:solidFill>
                <a:latin typeface="Arial"/>
              </a:rPr>
              <a:t>44</a:t>
            </a:r>
          </a:p>
        </p:txBody>
      </p:sp>
      <p:sp>
        <p:nvSpPr>
          <p:cNvPr id="10" name="Rectangle 9"/>
          <p:cNvSpPr/>
          <p:nvPr/>
        </p:nvSpPr>
        <p:spPr>
          <a:xfrm>
            <a:off x="658368" y="1691640"/>
            <a:ext cx="2487168" cy="233172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58368" y="1691640"/>
            <a:ext cx="82296" cy="23317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877824" y="1874520"/>
            <a:ext cx="420624" cy="420624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77824" y="1874520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08176" y="1819656"/>
            <a:ext cx="1508760" cy="43891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320" b="1" i="0">
                <a:solidFill>
                  <a:srgbClr val="161B26"/>
                </a:solidFill>
                <a:latin typeface="Arial"/>
              </a:rPr>
              <a:t>UI and UX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2386584"/>
            <a:ext cx="1965960" cy="133502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070" b="0" i="0">
                <a:solidFill>
                  <a:srgbClr val="5B6372"/>
                </a:solidFill>
                <a:latin typeface="Arial"/>
              </a:rPr>
              <a:t>Task completion and error evidence outrank aesthetic preference.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14400" y="3703320"/>
            <a:ext cx="1078992" cy="25603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4400" y="3703320"/>
            <a:ext cx="1078992" cy="25603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1" i="0">
                <a:solidFill>
                  <a:srgbClr val="FFFFFF"/>
                </a:solidFill>
                <a:latin typeface="Arial"/>
              </a:rPr>
              <a:t>DESIGN LENS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401568" y="1691640"/>
            <a:ext cx="2487168" cy="233172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3401568" y="1691640"/>
            <a:ext cx="82296" cy="2331720"/>
          </a:xfrm>
          <a:prstGeom prst="rect">
            <a:avLst/>
          </a:prstGeom>
          <a:solidFill>
            <a:srgbClr val="724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3621024" y="1874520"/>
            <a:ext cx="420624" cy="420624"/>
          </a:xfrm>
          <a:prstGeom prst="ellipse">
            <a:avLst/>
          </a:prstGeom>
          <a:solidFill>
            <a:srgbClr val="724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621024" y="1874520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151376" y="1819656"/>
            <a:ext cx="1508760" cy="43891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320" b="1" i="0">
                <a:solidFill>
                  <a:srgbClr val="161B26"/>
                </a:solidFill>
                <a:latin typeface="Arial"/>
              </a:rPr>
              <a:t>User-centricity begins w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657600" y="2386584"/>
            <a:ext cx="1965960" cy="133502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070" b="0" i="0">
                <a:solidFill>
                  <a:srgbClr val="5B6372"/>
                </a:solidFill>
                <a:latin typeface="Arial"/>
              </a:rPr>
              <a:t>A strong brief connects business intent to a real user outcome.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657600" y="3703320"/>
            <a:ext cx="1078992" cy="256032"/>
          </a:xfrm>
          <a:prstGeom prst="rect">
            <a:avLst/>
          </a:prstGeom>
          <a:solidFill>
            <a:srgbClr val="724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657600" y="3703320"/>
            <a:ext cx="1078992" cy="25603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1" i="0">
                <a:solidFill>
                  <a:srgbClr val="FFFFFF"/>
                </a:solidFill>
                <a:latin typeface="Arial"/>
              </a:rPr>
              <a:t>DESIGN LENS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144768" y="1691640"/>
            <a:ext cx="2487168" cy="233172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144768" y="1691640"/>
            <a:ext cx="82296" cy="2331720"/>
          </a:xfrm>
          <a:prstGeom prst="rect">
            <a:avLst/>
          </a:prstGeom>
          <a:solidFill>
            <a:srgbClr val="1098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6364224" y="1874520"/>
            <a:ext cx="420624" cy="420624"/>
          </a:xfrm>
          <a:prstGeom prst="ellipse">
            <a:avLst/>
          </a:prstGeom>
          <a:solidFill>
            <a:srgbClr val="1098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364224" y="1874520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894576" y="1819656"/>
            <a:ext cx="1508760" cy="43891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320" b="1" i="0">
                <a:solidFill>
                  <a:srgbClr val="161B26"/>
                </a:solidFill>
                <a:latin typeface="Arial"/>
              </a:rPr>
              <a:t>Design thinking with AI 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00800" y="2386584"/>
            <a:ext cx="1965960" cy="133502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070" b="0" i="0">
                <a:solidFill>
                  <a:srgbClr val="5B6372"/>
                </a:solidFill>
                <a:latin typeface="Arial"/>
              </a:rPr>
              <a:t>AI accelerates options; humans remain accountable for evidence and judgement.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400800" y="3703320"/>
            <a:ext cx="1078992" cy="256032"/>
          </a:xfrm>
          <a:prstGeom prst="rect">
            <a:avLst/>
          </a:prstGeom>
          <a:solidFill>
            <a:srgbClr val="1098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400800" y="3703320"/>
            <a:ext cx="1078992" cy="25603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1" i="0">
                <a:solidFill>
                  <a:srgbClr val="FFFFFF"/>
                </a:solidFill>
                <a:latin typeface="Arial"/>
              </a:rPr>
              <a:t>DESIGN LENS</a:t>
            </a:r>
          </a:p>
        </p:txBody>
      </p:sp>
      <p:sp>
        <p:nvSpPr>
          <p:cNvPr id="34" name="Rectangle 33"/>
          <p:cNvSpPr/>
          <p:nvPr/>
        </p:nvSpPr>
        <p:spPr>
          <a:xfrm>
            <a:off x="8887968" y="1691640"/>
            <a:ext cx="2487168" cy="233172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8887968" y="1691640"/>
            <a:ext cx="82296" cy="2331720"/>
          </a:xfrm>
          <a:prstGeom prst="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9107424" y="1874520"/>
            <a:ext cx="420624" cy="420624"/>
          </a:xfrm>
          <a:prstGeom prst="ellipse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107424" y="1874520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637776" y="1819656"/>
            <a:ext cx="1508760" cy="43891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320" b="1" i="0">
                <a:solidFill>
                  <a:srgbClr val="161B26"/>
                </a:solidFill>
                <a:latin typeface="Arial"/>
              </a:rPr>
              <a:t>Research evidence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144000" y="2386584"/>
            <a:ext cx="1965960" cy="133502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070" b="0" i="0">
                <a:solidFill>
                  <a:srgbClr val="5B6372"/>
                </a:solidFill>
                <a:latin typeface="Arial"/>
              </a:rPr>
              <a:t>A single source is a clue, not a conclusion.</a:t>
            </a:r>
          </a:p>
        </p:txBody>
      </p:sp>
      <p:sp>
        <p:nvSpPr>
          <p:cNvPr id="40" name="Rectangle 39"/>
          <p:cNvSpPr/>
          <p:nvPr/>
        </p:nvSpPr>
        <p:spPr>
          <a:xfrm>
            <a:off x="9144000" y="3703320"/>
            <a:ext cx="1078992" cy="256032"/>
          </a:xfrm>
          <a:prstGeom prst="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9144000" y="3703320"/>
            <a:ext cx="1078992" cy="25603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1" i="0">
                <a:solidFill>
                  <a:srgbClr val="FFFFFF"/>
                </a:solidFill>
                <a:latin typeface="Arial"/>
              </a:rPr>
              <a:t>DESIGN LENS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58368" y="4315968"/>
            <a:ext cx="10835640" cy="13258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914400" y="4480560"/>
            <a:ext cx="1828800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 i="0">
                <a:solidFill>
                  <a:srgbClr val="1F6FEB"/>
                </a:solidFill>
                <a:latin typeface="Arial"/>
              </a:rPr>
              <a:t>SYNTHESIS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14400" y="4846320"/>
            <a:ext cx="10195560" cy="56692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 i="0">
                <a:solidFill>
                  <a:srgbClr val="161B26"/>
                </a:solidFill>
                <a:latin typeface="Arial"/>
              </a:rPr>
              <a:t>Task completion and error evidence outrank aesthetic preference; a single source is a clue, not a conclusion.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58368" y="1737360"/>
            <a:ext cx="10835640" cy="329184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58368" y="1737360"/>
            <a:ext cx="128016" cy="3291840"/>
          </a:xfrm>
          <a:prstGeom prst="rect">
            <a:avLst/>
          </a:prstGeom>
          <a:solidFill>
            <a:srgbClr val="724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280160" y="2148840"/>
            <a:ext cx="8229600" cy="34747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 i="0">
                <a:solidFill>
                  <a:srgbClr val="724CD6"/>
                </a:solidFill>
                <a:latin typeface="Arial"/>
              </a:rPr>
              <a:t>MODULE 2 · LO2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80160" y="2606040"/>
            <a:ext cx="9098280" cy="8412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3400" b="1" i="0">
                <a:solidFill>
                  <a:srgbClr val="161B26"/>
                </a:solidFill>
                <a:latin typeface="Arial"/>
              </a:rPr>
              <a:t>Claude Design Workflow and Design Systems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80160" y="3703320"/>
            <a:ext cx="8869680" cy="6583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0" i="0">
                <a:solidFill>
                  <a:srgbClr val="5B6372"/>
                </a:solidFill>
                <a:latin typeface="Arial"/>
              </a:rPr>
              <a:t>Context-rich prompting, systematic exploration and controlled refinement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46920" y="2103120"/>
            <a:ext cx="1234440" cy="10972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5400" b="1" i="0">
                <a:solidFill>
                  <a:srgbClr val="E2E8F0"/>
                </a:solidFill>
                <a:latin typeface="Arial"/>
              </a:rPr>
              <a:t>02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6419088"/>
            <a:ext cx="4663440" cy="2194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 i="0">
                <a:solidFill>
                  <a:srgbClr val="5B6372"/>
                </a:solidFill>
                <a:latin typeface="Arial"/>
              </a:rPr>
              <a:t>Claude Design for UX/UI · C744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389120" y="6419088"/>
            <a:ext cx="3657600" cy="2194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0" i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744200" y="6419088"/>
            <a:ext cx="731520" cy="2194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 i="0">
                <a:solidFill>
                  <a:srgbClr val="5B6372"/>
                </a:solidFill>
                <a:latin typeface="Arial"/>
              </a:rPr>
              <a:t>45</a:t>
            </a:r>
          </a:p>
        </p:txBody>
      </p:sp>
    </p:spTree>
  </p:cSld>
  <p:clrMapOvr>
    <a:masterClrMapping/>
  </p:clrMapOvr>
  <p:transition spd="med" advClick="1">
    <p:push dir="l"/>
  </p:transition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724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724CD6"/>
                </a:solidFill>
                <a:latin typeface="Arial"/>
              </a:rPr>
              <a:t>MODULE 2 · PRINCIPLE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21792"/>
            <a:ext cx="10835640" cy="6583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 i="0">
                <a:solidFill>
                  <a:srgbClr val="161B26"/>
                </a:solidFill>
                <a:latin typeface="Arial"/>
              </a:rPr>
              <a:t>What Claude Design is—and is not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6419088"/>
            <a:ext cx="4663440" cy="2194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 i="0">
                <a:solidFill>
                  <a:srgbClr val="5B6372"/>
                </a:solidFill>
                <a:latin typeface="Arial"/>
              </a:rPr>
              <a:t>Claude Design for UX/UI · C744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89120" y="6419088"/>
            <a:ext cx="3657600" cy="2194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0" i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26679" y="6419088"/>
            <a:ext cx="2834640" cy="2194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730" b="0" i="1">
                <a:solidFill>
                  <a:srgbClr val="949DA9"/>
                </a:solidFill>
                <a:latin typeface="Arial"/>
              </a:rPr>
              <a:t>Anthropic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44200" y="6419088"/>
            <a:ext cx="731520" cy="2194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 i="0">
                <a:solidFill>
                  <a:srgbClr val="5B6372"/>
                </a:solidFill>
                <a:latin typeface="Arial"/>
              </a:rPr>
              <a:t>46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58368" y="1691640"/>
            <a:ext cx="2487168" cy="233172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58368" y="1691640"/>
            <a:ext cx="82296" cy="23317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877824" y="1874520"/>
            <a:ext cx="420624" cy="420624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77824" y="1874520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08176" y="1819656"/>
            <a:ext cx="1508760" cy="43891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320" b="1" i="0">
                <a:solidFill>
                  <a:srgbClr val="161B26"/>
                </a:solidFill>
                <a:latin typeface="Arial"/>
              </a:rPr>
              <a:t>Design surface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2386584"/>
            <a:ext cx="1965960" cy="133502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070" b="0" i="0">
                <a:solidFill>
                  <a:srgbClr val="5B6372"/>
                </a:solidFill>
                <a:latin typeface="Arial"/>
              </a:rPr>
              <a:t>Conversation and a live canvas support visual exploration.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14400" y="3703320"/>
            <a:ext cx="1078992" cy="25603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3703320"/>
            <a:ext cx="1078992" cy="25603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1" i="0">
                <a:solidFill>
                  <a:srgbClr val="FFFFFF"/>
                </a:solidFill>
                <a:latin typeface="Arial"/>
              </a:rPr>
              <a:t>DESIGN LENS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401568" y="1691640"/>
            <a:ext cx="2487168" cy="233172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401568" y="1691640"/>
            <a:ext cx="82296" cy="2331720"/>
          </a:xfrm>
          <a:prstGeom prst="rect">
            <a:avLst/>
          </a:prstGeom>
          <a:solidFill>
            <a:srgbClr val="724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3621024" y="1874520"/>
            <a:ext cx="420624" cy="420624"/>
          </a:xfrm>
          <a:prstGeom prst="ellipse">
            <a:avLst/>
          </a:prstGeom>
          <a:solidFill>
            <a:srgbClr val="724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621024" y="1874520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151376" y="1819656"/>
            <a:ext cx="1508760" cy="43891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320" b="1" i="0">
                <a:solidFill>
                  <a:srgbClr val="161B26"/>
                </a:solidFill>
                <a:latin typeface="Arial"/>
              </a:rPr>
              <a:t>Prototype engine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657600" y="2386584"/>
            <a:ext cx="1965960" cy="133502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070" b="0" i="0">
                <a:solidFill>
                  <a:srgbClr val="5B6372"/>
                </a:solidFill>
                <a:latin typeface="Arial"/>
              </a:rPr>
              <a:t>Outputs can be interactive and shared for feedback.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657600" y="3703320"/>
            <a:ext cx="1078992" cy="256032"/>
          </a:xfrm>
          <a:prstGeom prst="rect">
            <a:avLst/>
          </a:prstGeom>
          <a:solidFill>
            <a:srgbClr val="724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657600" y="3703320"/>
            <a:ext cx="1078992" cy="25603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1" i="0">
                <a:solidFill>
                  <a:srgbClr val="FFFFFF"/>
                </a:solidFill>
                <a:latin typeface="Arial"/>
              </a:rPr>
              <a:t>DESIGN LENS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144768" y="1691640"/>
            <a:ext cx="2487168" cy="233172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144768" y="1691640"/>
            <a:ext cx="82296" cy="2331720"/>
          </a:xfrm>
          <a:prstGeom prst="rect">
            <a:avLst/>
          </a:prstGeom>
          <a:solidFill>
            <a:srgbClr val="1098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6364224" y="1874520"/>
            <a:ext cx="420624" cy="420624"/>
          </a:xfrm>
          <a:prstGeom prst="ellipse">
            <a:avLst/>
          </a:prstGeom>
          <a:solidFill>
            <a:srgbClr val="1098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364224" y="1874520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894576" y="1819656"/>
            <a:ext cx="1508760" cy="43891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320" b="1" i="0">
                <a:solidFill>
                  <a:srgbClr val="161B26"/>
                </a:solidFill>
                <a:latin typeface="Arial"/>
              </a:rPr>
              <a:t>System-aware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00800" y="2386584"/>
            <a:ext cx="1965960" cy="133502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070" b="0" i="0">
                <a:solidFill>
                  <a:srgbClr val="5B6372"/>
                </a:solidFill>
                <a:latin typeface="Arial"/>
              </a:rPr>
              <a:t>Projects can inherit or import real design-system context.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400800" y="3703320"/>
            <a:ext cx="1078992" cy="256032"/>
          </a:xfrm>
          <a:prstGeom prst="rect">
            <a:avLst/>
          </a:prstGeom>
          <a:solidFill>
            <a:srgbClr val="1098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400800" y="3703320"/>
            <a:ext cx="1078992" cy="25603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1" i="0">
                <a:solidFill>
                  <a:srgbClr val="FFFFFF"/>
                </a:solidFill>
                <a:latin typeface="Arial"/>
              </a:rPr>
              <a:t>DESIGN LENS</a:t>
            </a:r>
          </a:p>
        </p:txBody>
      </p:sp>
      <p:sp>
        <p:nvSpPr>
          <p:cNvPr id="35" name="Rectangle 34"/>
          <p:cNvSpPr/>
          <p:nvPr/>
        </p:nvSpPr>
        <p:spPr>
          <a:xfrm>
            <a:off x="8887968" y="1691640"/>
            <a:ext cx="2487168" cy="233172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8887968" y="1691640"/>
            <a:ext cx="82296" cy="2331720"/>
          </a:xfrm>
          <a:prstGeom prst="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9107424" y="1874520"/>
            <a:ext cx="420624" cy="420624"/>
          </a:xfrm>
          <a:prstGeom prst="ellipse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107424" y="1874520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637776" y="1819656"/>
            <a:ext cx="1508760" cy="43891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320" b="1" i="0">
                <a:solidFill>
                  <a:srgbClr val="161B26"/>
                </a:solidFill>
                <a:latin typeface="Arial"/>
              </a:rPr>
              <a:t>Not autopilot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144000" y="2386584"/>
            <a:ext cx="1965960" cy="133502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070" b="0" i="0">
                <a:solidFill>
                  <a:srgbClr val="5B6372"/>
                </a:solidFill>
                <a:latin typeface="Arial"/>
              </a:rPr>
              <a:t>Research validity, accessibility and acceptance remain human duties.</a:t>
            </a:r>
          </a:p>
        </p:txBody>
      </p:sp>
      <p:sp>
        <p:nvSpPr>
          <p:cNvPr id="41" name="Rectangle 40"/>
          <p:cNvSpPr/>
          <p:nvPr/>
        </p:nvSpPr>
        <p:spPr>
          <a:xfrm>
            <a:off x="9144000" y="3703320"/>
            <a:ext cx="1078992" cy="256032"/>
          </a:xfrm>
          <a:prstGeom prst="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9144000" y="3703320"/>
            <a:ext cx="1078992" cy="25603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1" i="0">
                <a:solidFill>
                  <a:srgbClr val="FFFFFF"/>
                </a:solidFill>
                <a:latin typeface="Arial"/>
              </a:rPr>
              <a:t>DESIGN LENS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58368" y="4315968"/>
            <a:ext cx="10835640" cy="13258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914400" y="4480560"/>
            <a:ext cx="1828800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 i="0">
                <a:solidFill>
                  <a:srgbClr val="724CD6"/>
                </a:solidFill>
                <a:latin typeface="Arial"/>
              </a:rPr>
              <a:t>SYNTHESIS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14400" y="4846320"/>
            <a:ext cx="10195560" cy="56692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 i="0">
                <a:solidFill>
                  <a:srgbClr val="161B26"/>
                </a:solidFill>
                <a:latin typeface="Arial"/>
              </a:rPr>
              <a:t>Conversation and a live canvas support visual exploration; research validity, accessibility and acceptance remain human duties.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724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724CD6"/>
                </a:solidFill>
                <a:latin typeface="Arial"/>
              </a:rPr>
              <a:t>MODULE 2 · CASE LENS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21792"/>
            <a:ext cx="10835640" cy="6583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 i="0">
                <a:solidFill>
                  <a:srgbClr val="161B26"/>
                </a:solidFill>
                <a:latin typeface="Arial"/>
              </a:rPr>
              <a:t>What Claude Design is—and is not — applied judgement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6419088"/>
            <a:ext cx="4663440" cy="2194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 i="0">
                <a:solidFill>
                  <a:srgbClr val="5B6372"/>
                </a:solidFill>
                <a:latin typeface="Arial"/>
              </a:rPr>
              <a:t>Claude Design for UX/UI · C744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89120" y="6419088"/>
            <a:ext cx="3657600" cy="2194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0" i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26679" y="6419088"/>
            <a:ext cx="2834640" cy="2194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730" b="0" i="1">
                <a:solidFill>
                  <a:srgbClr val="949DA9"/>
                </a:solidFill>
                <a:latin typeface="Arial"/>
              </a:rPr>
              <a:t>Anthropic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44200" y="6419088"/>
            <a:ext cx="731520" cy="2194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 i="0">
                <a:solidFill>
                  <a:srgbClr val="5B6372"/>
                </a:solidFill>
                <a:latin typeface="Arial"/>
              </a:rPr>
              <a:t>47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58368" y="1755648"/>
            <a:ext cx="3392424" cy="3127248"/>
          </a:xfrm>
          <a:prstGeom prst="rect">
            <a:avLst/>
          </a:prstGeom>
          <a:solidFill>
            <a:srgbClr val="FFFFFF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58368" y="1755648"/>
            <a:ext cx="3392424" cy="91440"/>
          </a:xfrm>
          <a:prstGeom prst="rect">
            <a:avLst/>
          </a:prstGeom>
          <a:solidFill>
            <a:srgbClr val="F06F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886968" y="2029968"/>
            <a:ext cx="493776" cy="493776"/>
          </a:xfrm>
          <a:prstGeom prst="ellipse">
            <a:avLst/>
          </a:prstGeom>
          <a:solidFill>
            <a:srgbClr val="F06F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86968" y="2029968"/>
            <a:ext cx="493776" cy="49377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17904" y="2020824"/>
            <a:ext cx="2240280" cy="51206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F06F61"/>
                </a:solidFill>
                <a:latin typeface="Arial"/>
              </a:rPr>
              <a:t>CONTEXT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2798063"/>
            <a:ext cx="2834640" cy="16459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161B26"/>
                </a:solidFill>
                <a:latin typeface="Arial"/>
              </a:rPr>
              <a:t>A stakeholder treats the first generated screen as a finished product.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14400" y="4526280"/>
            <a:ext cx="2834640" cy="27432"/>
          </a:xfrm>
          <a:prstGeom prst="rect">
            <a:avLst/>
          </a:prstGeom>
          <a:solidFill>
            <a:srgbClr val="F06F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315968" y="1755648"/>
            <a:ext cx="3392424" cy="3127248"/>
          </a:xfrm>
          <a:prstGeom prst="rect">
            <a:avLst/>
          </a:prstGeom>
          <a:solidFill>
            <a:srgbClr val="FFFFFF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315968" y="1755648"/>
            <a:ext cx="3392424" cy="91440"/>
          </a:xfrm>
          <a:prstGeom prst="rect">
            <a:avLst/>
          </a:prstGeom>
          <a:solidFill>
            <a:srgbClr val="1098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4544568" y="2029968"/>
            <a:ext cx="493776" cy="493776"/>
          </a:xfrm>
          <a:prstGeom prst="ellipse">
            <a:avLst/>
          </a:prstGeom>
          <a:solidFill>
            <a:srgbClr val="1098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544568" y="2029968"/>
            <a:ext cx="493776" cy="49377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175504" y="2020824"/>
            <a:ext cx="2240280" cy="51206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10988A"/>
                </a:solidFill>
                <a:latin typeface="Arial"/>
              </a:rPr>
              <a:t>DESIGN MOVE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0" y="2798063"/>
            <a:ext cx="2834640" cy="16459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161B26"/>
                </a:solidFill>
                <a:latin typeface="Arial"/>
              </a:rPr>
              <a:t>Position generation as a hypothesis and define the review evidence required before approval.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572000" y="4526280"/>
            <a:ext cx="2834640" cy="27432"/>
          </a:xfrm>
          <a:prstGeom prst="rect">
            <a:avLst/>
          </a:prstGeom>
          <a:solidFill>
            <a:srgbClr val="1098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7973568" y="1755648"/>
            <a:ext cx="3392424" cy="3127248"/>
          </a:xfrm>
          <a:prstGeom prst="rect">
            <a:avLst/>
          </a:prstGeom>
          <a:solidFill>
            <a:srgbClr val="FFFFFF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973568" y="1755648"/>
            <a:ext cx="3392424" cy="91440"/>
          </a:xfrm>
          <a:prstGeom prst="rect">
            <a:avLst/>
          </a:prstGeom>
          <a:solidFill>
            <a:srgbClr val="724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8202168" y="2029968"/>
            <a:ext cx="493776" cy="493776"/>
          </a:xfrm>
          <a:prstGeom prst="ellipse">
            <a:avLst/>
          </a:prstGeom>
          <a:solidFill>
            <a:srgbClr val="724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202168" y="2029968"/>
            <a:ext cx="493776" cy="49377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833104" y="2020824"/>
            <a:ext cx="2240280" cy="51206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724CD6"/>
                </a:solidFill>
                <a:latin typeface="Arial"/>
              </a:rPr>
              <a:t>EVIDENCE STANDARD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229600" y="2798063"/>
            <a:ext cx="2834640" cy="16459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161B26"/>
                </a:solidFill>
                <a:latin typeface="Arial"/>
              </a:rPr>
              <a:t>The first generation is a starting point, not a sign-off.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8229600" y="4526280"/>
            <a:ext cx="2834640" cy="27432"/>
          </a:xfrm>
          <a:prstGeom prst="rect">
            <a:avLst/>
          </a:prstGeom>
          <a:solidFill>
            <a:srgbClr val="724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58368" y="5102352"/>
            <a:ext cx="10835640" cy="56692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14400" y="5239512"/>
            <a:ext cx="10241280" cy="29260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250" b="1" i="0">
                <a:solidFill>
                  <a:srgbClr val="161B26"/>
                </a:solidFill>
                <a:latin typeface="Arial"/>
              </a:rPr>
              <a:t>Ask: what user outcome changes, and what evidence would prove it?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724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724CD6"/>
                </a:solidFill>
                <a:latin typeface="Arial"/>
              </a:rPr>
              <a:t>MODULE 2 · PRINCIPLE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21792"/>
            <a:ext cx="10835640" cy="6583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 i="0">
                <a:solidFill>
                  <a:srgbClr val="161B26"/>
                </a:solidFill>
                <a:latin typeface="Arial"/>
              </a:rPr>
              <a:t>Access, interface and beta boundaries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6419088"/>
            <a:ext cx="4663440" cy="2194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 i="0">
                <a:solidFill>
                  <a:srgbClr val="5B6372"/>
                </a:solidFill>
                <a:latin typeface="Arial"/>
              </a:rPr>
              <a:t>Claude Design for UX/UI · C744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89120" y="6419088"/>
            <a:ext cx="3657600" cy="2194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0" i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26679" y="6419088"/>
            <a:ext cx="2834640" cy="2194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730" b="0" i="1">
                <a:solidFill>
                  <a:srgbClr val="949DA9"/>
                </a:solidFill>
                <a:latin typeface="Arial"/>
              </a:rPr>
              <a:t>Anthropic Help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44200" y="6419088"/>
            <a:ext cx="731520" cy="2194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 i="0">
                <a:solidFill>
                  <a:srgbClr val="5B6372"/>
                </a:solidFill>
                <a:latin typeface="Arial"/>
              </a:rPr>
              <a:t>48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58368" y="1691640"/>
            <a:ext cx="2487168" cy="233172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58368" y="1691640"/>
            <a:ext cx="82296" cy="23317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877824" y="1874520"/>
            <a:ext cx="420624" cy="420624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77824" y="1874520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08176" y="1819656"/>
            <a:ext cx="1508760" cy="43891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320" b="1" i="0">
                <a:solidFill>
                  <a:srgbClr val="161B26"/>
                </a:solidFill>
                <a:latin typeface="Arial"/>
              </a:rPr>
              <a:t>Availability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2386584"/>
            <a:ext cx="1965960" cy="133502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070" b="0" i="0">
                <a:solidFill>
                  <a:srgbClr val="5B6372"/>
                </a:solidFill>
                <a:latin typeface="Arial"/>
              </a:rPr>
              <a:t>Web and desktop access for supported Pro, Max, Team and Enterprise plans.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14400" y="3703320"/>
            <a:ext cx="1078992" cy="25603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3703320"/>
            <a:ext cx="1078992" cy="25603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1" i="0">
                <a:solidFill>
                  <a:srgbClr val="FFFFFF"/>
                </a:solidFill>
                <a:latin typeface="Arial"/>
              </a:rPr>
              <a:t>DESIGN LENS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401568" y="1691640"/>
            <a:ext cx="2487168" cy="233172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401568" y="1691640"/>
            <a:ext cx="82296" cy="2331720"/>
          </a:xfrm>
          <a:prstGeom prst="rect">
            <a:avLst/>
          </a:prstGeom>
          <a:solidFill>
            <a:srgbClr val="724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3621024" y="1874520"/>
            <a:ext cx="420624" cy="420624"/>
          </a:xfrm>
          <a:prstGeom prst="ellipse">
            <a:avLst/>
          </a:prstGeom>
          <a:solidFill>
            <a:srgbClr val="724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621024" y="1874520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151376" y="1819656"/>
            <a:ext cx="1508760" cy="43891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320" b="1" i="0">
                <a:solidFill>
                  <a:srgbClr val="161B26"/>
                </a:solidFill>
                <a:latin typeface="Arial"/>
              </a:rPr>
              <a:t>Workspace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657600" y="2386584"/>
            <a:ext cx="1965960" cy="133502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070" b="0" i="0">
                <a:solidFill>
                  <a:srgbClr val="5B6372"/>
                </a:solidFill>
                <a:latin typeface="Arial"/>
              </a:rPr>
              <a:t>Chat on the left; a working design canvas on the right.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657600" y="3703320"/>
            <a:ext cx="1078992" cy="256032"/>
          </a:xfrm>
          <a:prstGeom prst="rect">
            <a:avLst/>
          </a:prstGeom>
          <a:solidFill>
            <a:srgbClr val="724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657600" y="3703320"/>
            <a:ext cx="1078992" cy="25603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1" i="0">
                <a:solidFill>
                  <a:srgbClr val="FFFFFF"/>
                </a:solidFill>
                <a:latin typeface="Arial"/>
              </a:rPr>
              <a:t>DESIGN LENS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144768" y="1691640"/>
            <a:ext cx="2487168" cy="233172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144768" y="1691640"/>
            <a:ext cx="82296" cy="2331720"/>
          </a:xfrm>
          <a:prstGeom prst="rect">
            <a:avLst/>
          </a:prstGeom>
          <a:solidFill>
            <a:srgbClr val="1098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6364224" y="1874520"/>
            <a:ext cx="420624" cy="420624"/>
          </a:xfrm>
          <a:prstGeom prst="ellipse">
            <a:avLst/>
          </a:prstGeom>
          <a:solidFill>
            <a:srgbClr val="1098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364224" y="1874520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894576" y="1819656"/>
            <a:ext cx="1508760" cy="43891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320" b="1" i="0">
                <a:solidFill>
                  <a:srgbClr val="161B26"/>
                </a:solidFill>
                <a:latin typeface="Arial"/>
              </a:rPr>
              <a:t>Enterprise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00800" y="2386584"/>
            <a:ext cx="1965960" cy="133502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070" b="0" i="0">
                <a:solidFill>
                  <a:srgbClr val="5B6372"/>
                </a:solidFill>
                <a:latin typeface="Arial"/>
              </a:rPr>
              <a:t>The feature may require administrator enablement.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400800" y="3703320"/>
            <a:ext cx="1078992" cy="256032"/>
          </a:xfrm>
          <a:prstGeom prst="rect">
            <a:avLst/>
          </a:prstGeom>
          <a:solidFill>
            <a:srgbClr val="1098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400800" y="3703320"/>
            <a:ext cx="1078992" cy="25603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1" i="0">
                <a:solidFill>
                  <a:srgbClr val="FFFFFF"/>
                </a:solidFill>
                <a:latin typeface="Arial"/>
              </a:rPr>
              <a:t>DESIGN LENS</a:t>
            </a:r>
          </a:p>
        </p:txBody>
      </p:sp>
      <p:sp>
        <p:nvSpPr>
          <p:cNvPr id="35" name="Rectangle 34"/>
          <p:cNvSpPr/>
          <p:nvPr/>
        </p:nvSpPr>
        <p:spPr>
          <a:xfrm>
            <a:off x="8887968" y="1691640"/>
            <a:ext cx="2487168" cy="233172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8887968" y="1691640"/>
            <a:ext cx="82296" cy="2331720"/>
          </a:xfrm>
          <a:prstGeom prst="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9107424" y="1874520"/>
            <a:ext cx="420624" cy="420624"/>
          </a:xfrm>
          <a:prstGeom prst="ellipse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107424" y="1874520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637776" y="1819656"/>
            <a:ext cx="1508760" cy="43891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320" b="1" i="0">
                <a:solidFill>
                  <a:srgbClr val="161B26"/>
                </a:solidFill>
                <a:latin typeface="Arial"/>
              </a:rPr>
              <a:t>Beta limits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144000" y="2386584"/>
            <a:ext cx="1965960" cy="133502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070" b="0" i="0">
                <a:solidFill>
                  <a:srgbClr val="5B6372"/>
                </a:solidFill>
                <a:latin typeface="Arial"/>
              </a:rPr>
              <a:t>Expect evolving comments, large-repo and multi-editor behaviour.</a:t>
            </a:r>
          </a:p>
        </p:txBody>
      </p:sp>
      <p:sp>
        <p:nvSpPr>
          <p:cNvPr id="41" name="Rectangle 40"/>
          <p:cNvSpPr/>
          <p:nvPr/>
        </p:nvSpPr>
        <p:spPr>
          <a:xfrm>
            <a:off x="9144000" y="3703320"/>
            <a:ext cx="1078992" cy="256032"/>
          </a:xfrm>
          <a:prstGeom prst="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9144000" y="3703320"/>
            <a:ext cx="1078992" cy="25603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1" i="0">
                <a:solidFill>
                  <a:srgbClr val="FFFFFF"/>
                </a:solidFill>
                <a:latin typeface="Arial"/>
              </a:rPr>
              <a:t>DESIGN LENS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58368" y="4315968"/>
            <a:ext cx="10835640" cy="13258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914400" y="4480560"/>
            <a:ext cx="1828800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 i="0">
                <a:solidFill>
                  <a:srgbClr val="724CD6"/>
                </a:solidFill>
                <a:latin typeface="Arial"/>
              </a:rPr>
              <a:t>SYNTHESIS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14400" y="4846320"/>
            <a:ext cx="10195560" cy="56692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 i="0">
                <a:solidFill>
                  <a:srgbClr val="161B26"/>
                </a:solidFill>
                <a:latin typeface="Arial"/>
              </a:rPr>
              <a:t>Web and desktop access for supported Pro, Max, Team and Enterprise plans; expect evolving comments, large-repo and multi-editor behaviour.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724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724CD6"/>
                </a:solidFill>
                <a:latin typeface="Arial"/>
              </a:rPr>
              <a:t>MODULE 2 · CASE LENS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21792"/>
            <a:ext cx="10835640" cy="6583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500" b="1" i="0">
                <a:solidFill>
                  <a:srgbClr val="161B26"/>
                </a:solidFill>
                <a:latin typeface="Arial"/>
              </a:rPr>
              <a:t>Access, interface and beta boundaries — applied judgement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6419088"/>
            <a:ext cx="4663440" cy="2194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 i="0">
                <a:solidFill>
                  <a:srgbClr val="5B6372"/>
                </a:solidFill>
                <a:latin typeface="Arial"/>
              </a:rPr>
              <a:t>Claude Design for UX/UI · C744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89120" y="6419088"/>
            <a:ext cx="3657600" cy="2194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0" i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26679" y="6419088"/>
            <a:ext cx="2834640" cy="2194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730" b="0" i="1">
                <a:solidFill>
                  <a:srgbClr val="949DA9"/>
                </a:solidFill>
                <a:latin typeface="Arial"/>
              </a:rPr>
              <a:t>Anthropic Help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44200" y="6419088"/>
            <a:ext cx="731520" cy="2194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 i="0">
                <a:solidFill>
                  <a:srgbClr val="5B6372"/>
                </a:solidFill>
                <a:latin typeface="Arial"/>
              </a:rPr>
              <a:t>49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58368" y="1755648"/>
            <a:ext cx="3392424" cy="3127248"/>
          </a:xfrm>
          <a:prstGeom prst="rect">
            <a:avLst/>
          </a:prstGeom>
          <a:solidFill>
            <a:srgbClr val="FFFFFF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58368" y="1755648"/>
            <a:ext cx="3392424" cy="91440"/>
          </a:xfrm>
          <a:prstGeom prst="rect">
            <a:avLst/>
          </a:prstGeom>
          <a:solidFill>
            <a:srgbClr val="F06F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886968" y="2029968"/>
            <a:ext cx="493776" cy="493776"/>
          </a:xfrm>
          <a:prstGeom prst="ellipse">
            <a:avLst/>
          </a:prstGeom>
          <a:solidFill>
            <a:srgbClr val="F06F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86968" y="2029968"/>
            <a:ext cx="493776" cy="49377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17904" y="2020824"/>
            <a:ext cx="2240280" cy="51206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F06F61"/>
                </a:solidFill>
                <a:latin typeface="Arial"/>
              </a:rPr>
              <a:t>CONTEXT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2798063"/>
            <a:ext cx="2834640" cy="16459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161B26"/>
                </a:solidFill>
                <a:latin typeface="Arial"/>
              </a:rPr>
              <a:t>A class cannot see Claude Design even though accounts are active.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14400" y="4526280"/>
            <a:ext cx="2834640" cy="27432"/>
          </a:xfrm>
          <a:prstGeom prst="rect">
            <a:avLst/>
          </a:prstGeom>
          <a:solidFill>
            <a:srgbClr val="F06F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315968" y="1755648"/>
            <a:ext cx="3392424" cy="3127248"/>
          </a:xfrm>
          <a:prstGeom prst="rect">
            <a:avLst/>
          </a:prstGeom>
          <a:solidFill>
            <a:srgbClr val="FFFFFF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315968" y="1755648"/>
            <a:ext cx="3392424" cy="91440"/>
          </a:xfrm>
          <a:prstGeom prst="rect">
            <a:avLst/>
          </a:prstGeom>
          <a:solidFill>
            <a:srgbClr val="1098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4544568" y="2029968"/>
            <a:ext cx="493776" cy="493776"/>
          </a:xfrm>
          <a:prstGeom prst="ellipse">
            <a:avLst/>
          </a:prstGeom>
          <a:solidFill>
            <a:srgbClr val="1098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544568" y="2029968"/>
            <a:ext cx="493776" cy="49377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175504" y="2020824"/>
            <a:ext cx="2240280" cy="51206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10988A"/>
                </a:solidFill>
                <a:latin typeface="Arial"/>
              </a:rPr>
              <a:t>DESIGN MOVE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0" y="2798063"/>
            <a:ext cx="2834640" cy="16459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161B26"/>
                </a:solidFill>
                <a:latin typeface="Arial"/>
              </a:rPr>
              <a:t>Check plan eligibility, enterprise settings and web/desktop availability before the lab.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572000" y="4526280"/>
            <a:ext cx="2834640" cy="27432"/>
          </a:xfrm>
          <a:prstGeom prst="rect">
            <a:avLst/>
          </a:prstGeom>
          <a:solidFill>
            <a:srgbClr val="1098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7973568" y="1755648"/>
            <a:ext cx="3392424" cy="3127248"/>
          </a:xfrm>
          <a:prstGeom prst="rect">
            <a:avLst/>
          </a:prstGeom>
          <a:solidFill>
            <a:srgbClr val="FFFFFF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973568" y="1755648"/>
            <a:ext cx="3392424" cy="91440"/>
          </a:xfrm>
          <a:prstGeom prst="rect">
            <a:avLst/>
          </a:prstGeom>
          <a:solidFill>
            <a:srgbClr val="724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8202168" y="2029968"/>
            <a:ext cx="493776" cy="493776"/>
          </a:xfrm>
          <a:prstGeom prst="ellipse">
            <a:avLst/>
          </a:prstGeom>
          <a:solidFill>
            <a:srgbClr val="724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202168" y="2029968"/>
            <a:ext cx="493776" cy="49377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833104" y="2020824"/>
            <a:ext cx="2240280" cy="51206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724CD6"/>
                </a:solidFill>
                <a:latin typeface="Arial"/>
              </a:rPr>
              <a:t>EVIDENCE STANDARD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229600" y="2798063"/>
            <a:ext cx="2834640" cy="16459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161B26"/>
                </a:solidFill>
                <a:latin typeface="Arial"/>
              </a:rPr>
              <a:t>Tool readiness is part of instructional readiness.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8229600" y="4526280"/>
            <a:ext cx="2834640" cy="27432"/>
          </a:xfrm>
          <a:prstGeom prst="rect">
            <a:avLst/>
          </a:prstGeom>
          <a:solidFill>
            <a:srgbClr val="724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58368" y="5102352"/>
            <a:ext cx="10835640" cy="56692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14400" y="5239512"/>
            <a:ext cx="10241280" cy="29260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250" b="1" i="0">
                <a:solidFill>
                  <a:srgbClr val="161B26"/>
                </a:solidFill>
                <a:latin typeface="Arial"/>
              </a:rPr>
              <a:t>Ask: what user outcome changes, and what evidence would prove it?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724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724CD6"/>
                </a:solidFill>
                <a:latin typeface="Arial"/>
              </a:rPr>
              <a:t>MODULE 2 · PRINCIPLE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21792"/>
            <a:ext cx="10835640" cy="6583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 i="0">
                <a:solidFill>
                  <a:srgbClr val="161B26"/>
                </a:solidFill>
                <a:latin typeface="Arial"/>
              </a:rPr>
              <a:t>A project is a context boundary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6419088"/>
            <a:ext cx="4663440" cy="2194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 i="0">
                <a:solidFill>
                  <a:srgbClr val="5B6372"/>
                </a:solidFill>
                <a:latin typeface="Arial"/>
              </a:rPr>
              <a:t>Claude Design for UX/UI · C744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89120" y="6419088"/>
            <a:ext cx="3657600" cy="2194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0" i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26679" y="6419088"/>
            <a:ext cx="2834640" cy="2194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730" b="0" i="1">
                <a:solidFill>
                  <a:srgbClr val="949DA9"/>
                </a:solidFill>
                <a:latin typeface="Arial"/>
              </a:rPr>
              <a:t>Anthropic Help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44200" y="6419088"/>
            <a:ext cx="731520" cy="2194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 i="0">
                <a:solidFill>
                  <a:srgbClr val="5B6372"/>
                </a:solidFill>
                <a:latin typeface="Arial"/>
              </a:rPr>
              <a:t>50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58368" y="1691640"/>
            <a:ext cx="2487168" cy="233172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58368" y="1691640"/>
            <a:ext cx="82296" cy="23317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877824" y="1874520"/>
            <a:ext cx="420624" cy="420624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77824" y="1874520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08176" y="1819656"/>
            <a:ext cx="1508760" cy="43891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320" b="1" i="0">
                <a:solidFill>
                  <a:srgbClr val="161B26"/>
                </a:solidFill>
                <a:latin typeface="Arial"/>
              </a:rPr>
              <a:t>Purpose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2386584"/>
            <a:ext cx="1965960" cy="133502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070" b="0" i="0">
                <a:solidFill>
                  <a:srgbClr val="5B6372"/>
                </a:solidFill>
                <a:latin typeface="Arial"/>
              </a:rPr>
              <a:t>One project holds a coherent design goal and its evolving decisions.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14400" y="3703320"/>
            <a:ext cx="1078992" cy="25603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3703320"/>
            <a:ext cx="1078992" cy="25603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1" i="0">
                <a:solidFill>
                  <a:srgbClr val="FFFFFF"/>
                </a:solidFill>
                <a:latin typeface="Arial"/>
              </a:rPr>
              <a:t>DESIGN LENS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401568" y="1691640"/>
            <a:ext cx="2487168" cy="233172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401568" y="1691640"/>
            <a:ext cx="82296" cy="2331720"/>
          </a:xfrm>
          <a:prstGeom prst="rect">
            <a:avLst/>
          </a:prstGeom>
          <a:solidFill>
            <a:srgbClr val="724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3621024" y="1874520"/>
            <a:ext cx="420624" cy="420624"/>
          </a:xfrm>
          <a:prstGeom prst="ellipse">
            <a:avLst/>
          </a:prstGeom>
          <a:solidFill>
            <a:srgbClr val="724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621024" y="1874520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151376" y="1819656"/>
            <a:ext cx="1508760" cy="43891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320" b="1" i="0">
                <a:solidFill>
                  <a:srgbClr val="161B26"/>
                </a:solidFill>
                <a:latin typeface="Arial"/>
              </a:rPr>
              <a:t>System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657600" y="2386584"/>
            <a:ext cx="1965960" cy="133502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070" b="0" i="0">
                <a:solidFill>
                  <a:srgbClr val="5B6372"/>
                </a:solidFill>
                <a:latin typeface="Arial"/>
              </a:rPr>
              <a:t>The project can inherit an organisation design system.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657600" y="3703320"/>
            <a:ext cx="1078992" cy="256032"/>
          </a:xfrm>
          <a:prstGeom prst="rect">
            <a:avLst/>
          </a:prstGeom>
          <a:solidFill>
            <a:srgbClr val="724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657600" y="3703320"/>
            <a:ext cx="1078992" cy="25603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1" i="0">
                <a:solidFill>
                  <a:srgbClr val="FFFFFF"/>
                </a:solidFill>
                <a:latin typeface="Arial"/>
              </a:rPr>
              <a:t>DESIGN LENS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144768" y="1691640"/>
            <a:ext cx="2487168" cy="233172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144768" y="1691640"/>
            <a:ext cx="82296" cy="2331720"/>
          </a:xfrm>
          <a:prstGeom prst="rect">
            <a:avLst/>
          </a:prstGeom>
          <a:solidFill>
            <a:srgbClr val="1098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6364224" y="1874520"/>
            <a:ext cx="420624" cy="420624"/>
          </a:xfrm>
          <a:prstGeom prst="ellipse">
            <a:avLst/>
          </a:prstGeom>
          <a:solidFill>
            <a:srgbClr val="1098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364224" y="1874520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894576" y="1819656"/>
            <a:ext cx="1508760" cy="43891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320" b="1" i="0">
                <a:solidFill>
                  <a:srgbClr val="161B26"/>
                </a:solidFill>
                <a:latin typeface="Arial"/>
              </a:rPr>
              <a:t>Inputs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00800" y="2386584"/>
            <a:ext cx="1965960" cy="133502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070" b="0" i="0">
                <a:solidFill>
                  <a:srgbClr val="5B6372"/>
                </a:solidFill>
                <a:latin typeface="Arial"/>
              </a:rPr>
              <a:t>Screenshots, documents, codebases and design files add concrete context.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400800" y="3703320"/>
            <a:ext cx="1078992" cy="256032"/>
          </a:xfrm>
          <a:prstGeom prst="rect">
            <a:avLst/>
          </a:prstGeom>
          <a:solidFill>
            <a:srgbClr val="1098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400800" y="3703320"/>
            <a:ext cx="1078992" cy="25603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1" i="0">
                <a:solidFill>
                  <a:srgbClr val="FFFFFF"/>
                </a:solidFill>
                <a:latin typeface="Arial"/>
              </a:rPr>
              <a:t>DESIGN LENS</a:t>
            </a:r>
          </a:p>
        </p:txBody>
      </p:sp>
      <p:sp>
        <p:nvSpPr>
          <p:cNvPr id="35" name="Rectangle 34"/>
          <p:cNvSpPr/>
          <p:nvPr/>
        </p:nvSpPr>
        <p:spPr>
          <a:xfrm>
            <a:off x="8887968" y="1691640"/>
            <a:ext cx="2487168" cy="233172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8887968" y="1691640"/>
            <a:ext cx="82296" cy="2331720"/>
          </a:xfrm>
          <a:prstGeom prst="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9107424" y="1874520"/>
            <a:ext cx="420624" cy="420624"/>
          </a:xfrm>
          <a:prstGeom prst="ellipse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107424" y="1874520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637776" y="1819656"/>
            <a:ext cx="1508760" cy="43891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320" b="1" i="0">
                <a:solidFill>
                  <a:srgbClr val="161B26"/>
                </a:solidFill>
                <a:latin typeface="Arial"/>
              </a:rPr>
              <a:t>Outputs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144000" y="2386584"/>
            <a:ext cx="1965960" cy="133502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070" b="0" i="0">
                <a:solidFill>
                  <a:srgbClr val="5B6372"/>
                </a:solidFill>
                <a:latin typeface="Arial"/>
              </a:rPr>
              <a:t>Versions, comments, exports and handoff remain linked to the work.</a:t>
            </a:r>
          </a:p>
        </p:txBody>
      </p:sp>
      <p:sp>
        <p:nvSpPr>
          <p:cNvPr id="41" name="Rectangle 40"/>
          <p:cNvSpPr/>
          <p:nvPr/>
        </p:nvSpPr>
        <p:spPr>
          <a:xfrm>
            <a:off x="9144000" y="3703320"/>
            <a:ext cx="1078992" cy="256032"/>
          </a:xfrm>
          <a:prstGeom prst="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9144000" y="3703320"/>
            <a:ext cx="1078992" cy="25603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1" i="0">
                <a:solidFill>
                  <a:srgbClr val="FFFFFF"/>
                </a:solidFill>
                <a:latin typeface="Arial"/>
              </a:rPr>
              <a:t>DESIGN LENS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58368" y="4315968"/>
            <a:ext cx="10835640" cy="13258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914400" y="4480560"/>
            <a:ext cx="1828800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 i="0">
                <a:solidFill>
                  <a:srgbClr val="724CD6"/>
                </a:solidFill>
                <a:latin typeface="Arial"/>
              </a:rPr>
              <a:t>SYNTHESIS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14400" y="4846320"/>
            <a:ext cx="10195560" cy="56692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 i="0">
                <a:solidFill>
                  <a:srgbClr val="161B26"/>
                </a:solidFill>
                <a:latin typeface="Arial"/>
              </a:rPr>
              <a:t>One project holds a coherent design goal and its evolving decisions; versions, comments, exports and handoff remain linked to the work.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724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724CD6"/>
                </a:solidFill>
                <a:latin typeface="Arial"/>
              </a:rPr>
              <a:t>MODULE 2 · CASE LENS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21792"/>
            <a:ext cx="10835640" cy="6583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 i="0">
                <a:solidFill>
                  <a:srgbClr val="161B26"/>
                </a:solidFill>
                <a:latin typeface="Arial"/>
              </a:rPr>
              <a:t>A project is a context boundary — applied judgement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6419088"/>
            <a:ext cx="4663440" cy="2194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 i="0">
                <a:solidFill>
                  <a:srgbClr val="5B6372"/>
                </a:solidFill>
                <a:latin typeface="Arial"/>
              </a:rPr>
              <a:t>Claude Design for UX/UI · C744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89120" y="6419088"/>
            <a:ext cx="3657600" cy="2194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0" i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26679" y="6419088"/>
            <a:ext cx="2834640" cy="2194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730" b="0" i="1">
                <a:solidFill>
                  <a:srgbClr val="949DA9"/>
                </a:solidFill>
                <a:latin typeface="Arial"/>
              </a:rPr>
              <a:t>Anthropic Help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44200" y="6419088"/>
            <a:ext cx="731520" cy="2194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 i="0">
                <a:solidFill>
                  <a:srgbClr val="5B6372"/>
                </a:solidFill>
                <a:latin typeface="Arial"/>
              </a:rPr>
              <a:t>51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58368" y="1755648"/>
            <a:ext cx="3392424" cy="3127248"/>
          </a:xfrm>
          <a:prstGeom prst="rect">
            <a:avLst/>
          </a:prstGeom>
          <a:solidFill>
            <a:srgbClr val="FFFFFF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58368" y="1755648"/>
            <a:ext cx="3392424" cy="91440"/>
          </a:xfrm>
          <a:prstGeom prst="rect">
            <a:avLst/>
          </a:prstGeom>
          <a:solidFill>
            <a:srgbClr val="F06F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886968" y="2029968"/>
            <a:ext cx="493776" cy="493776"/>
          </a:xfrm>
          <a:prstGeom prst="ellipse">
            <a:avLst/>
          </a:prstGeom>
          <a:solidFill>
            <a:srgbClr val="F06F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86968" y="2029968"/>
            <a:ext cx="493776" cy="49377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17904" y="2020824"/>
            <a:ext cx="2240280" cy="51206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F06F61"/>
                </a:solidFill>
                <a:latin typeface="Arial"/>
              </a:rPr>
              <a:t>CONTEXT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2798063"/>
            <a:ext cx="2834640" cy="16459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161B26"/>
                </a:solidFill>
                <a:latin typeface="Arial"/>
              </a:rPr>
              <a:t>Unrelated product concepts accumulate in one project and influence later generations.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14400" y="4526280"/>
            <a:ext cx="2834640" cy="27432"/>
          </a:xfrm>
          <a:prstGeom prst="rect">
            <a:avLst/>
          </a:prstGeom>
          <a:solidFill>
            <a:srgbClr val="F06F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315968" y="1755648"/>
            <a:ext cx="3392424" cy="3127248"/>
          </a:xfrm>
          <a:prstGeom prst="rect">
            <a:avLst/>
          </a:prstGeom>
          <a:solidFill>
            <a:srgbClr val="FFFFFF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315968" y="1755648"/>
            <a:ext cx="3392424" cy="91440"/>
          </a:xfrm>
          <a:prstGeom prst="rect">
            <a:avLst/>
          </a:prstGeom>
          <a:solidFill>
            <a:srgbClr val="1098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4544568" y="2029968"/>
            <a:ext cx="493776" cy="493776"/>
          </a:xfrm>
          <a:prstGeom prst="ellipse">
            <a:avLst/>
          </a:prstGeom>
          <a:solidFill>
            <a:srgbClr val="1098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544568" y="2029968"/>
            <a:ext cx="493776" cy="49377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175504" y="2020824"/>
            <a:ext cx="2240280" cy="51206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10988A"/>
                </a:solidFill>
                <a:latin typeface="Arial"/>
              </a:rPr>
              <a:t>DESIGN MOVE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0" y="2798063"/>
            <a:ext cx="2834640" cy="16459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161B26"/>
                </a:solidFill>
                <a:latin typeface="Arial"/>
              </a:rPr>
              <a:t>Separate goals into projects and keep context specific to the intended product.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572000" y="4526280"/>
            <a:ext cx="2834640" cy="27432"/>
          </a:xfrm>
          <a:prstGeom prst="rect">
            <a:avLst/>
          </a:prstGeom>
          <a:solidFill>
            <a:srgbClr val="1098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7973568" y="1755648"/>
            <a:ext cx="3392424" cy="3127248"/>
          </a:xfrm>
          <a:prstGeom prst="rect">
            <a:avLst/>
          </a:prstGeom>
          <a:solidFill>
            <a:srgbClr val="FFFFFF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973568" y="1755648"/>
            <a:ext cx="3392424" cy="91440"/>
          </a:xfrm>
          <a:prstGeom prst="rect">
            <a:avLst/>
          </a:prstGeom>
          <a:solidFill>
            <a:srgbClr val="724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8202168" y="2029968"/>
            <a:ext cx="493776" cy="493776"/>
          </a:xfrm>
          <a:prstGeom prst="ellipse">
            <a:avLst/>
          </a:prstGeom>
          <a:solidFill>
            <a:srgbClr val="724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202168" y="2029968"/>
            <a:ext cx="493776" cy="49377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833104" y="2020824"/>
            <a:ext cx="2240280" cy="51206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724CD6"/>
                </a:solidFill>
                <a:latin typeface="Arial"/>
              </a:rPr>
              <a:t>EVIDENCE STANDARD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229600" y="2798063"/>
            <a:ext cx="2834640" cy="16459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161B26"/>
                </a:solidFill>
                <a:latin typeface="Arial"/>
              </a:rPr>
              <a:t>Good boundaries reduce accidental design drift.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8229600" y="4526280"/>
            <a:ext cx="2834640" cy="27432"/>
          </a:xfrm>
          <a:prstGeom prst="rect">
            <a:avLst/>
          </a:prstGeom>
          <a:solidFill>
            <a:srgbClr val="724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58368" y="5102352"/>
            <a:ext cx="10835640" cy="56692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14400" y="5239512"/>
            <a:ext cx="10241280" cy="29260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250" b="1" i="0">
                <a:solidFill>
                  <a:srgbClr val="161B26"/>
                </a:solidFill>
                <a:latin typeface="Arial"/>
              </a:rPr>
              <a:t>Ask: what user outcome changes, and what evidence would prove it?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724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724CD6"/>
                </a:solidFill>
                <a:latin typeface="Arial"/>
              </a:rPr>
              <a:t>MODULE 2 · PRINCIPLE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21792"/>
            <a:ext cx="10835640" cy="6583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 i="0">
                <a:solidFill>
                  <a:srgbClr val="161B26"/>
                </a:solidFill>
                <a:latin typeface="Arial"/>
              </a:rPr>
              <a:t>Import a design system before generating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6419088"/>
            <a:ext cx="4663440" cy="2194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 i="0">
                <a:solidFill>
                  <a:srgbClr val="5B6372"/>
                </a:solidFill>
                <a:latin typeface="Arial"/>
              </a:rPr>
              <a:t>Claude Design for UX/UI · C744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89120" y="6419088"/>
            <a:ext cx="3657600" cy="2194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0" i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26679" y="6419088"/>
            <a:ext cx="2834640" cy="2194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730" b="0" i="1">
                <a:solidFill>
                  <a:srgbClr val="949DA9"/>
                </a:solidFill>
                <a:latin typeface="Arial"/>
              </a:rPr>
              <a:t>Anthropic Help; Interface Design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44200" y="6419088"/>
            <a:ext cx="731520" cy="2194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 i="0">
                <a:solidFill>
                  <a:srgbClr val="5B6372"/>
                </a:solidFill>
                <a:latin typeface="Arial"/>
              </a:rPr>
              <a:t>52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58368" y="1691640"/>
            <a:ext cx="2487168" cy="233172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58368" y="1691640"/>
            <a:ext cx="82296" cy="23317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877824" y="1874520"/>
            <a:ext cx="420624" cy="420624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77824" y="1874520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08176" y="1819656"/>
            <a:ext cx="1508760" cy="43891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320" b="1" i="0">
                <a:solidFill>
                  <a:srgbClr val="161B26"/>
                </a:solidFill>
                <a:latin typeface="Arial"/>
              </a:rPr>
              <a:t>Tokens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2386584"/>
            <a:ext cx="1965960" cy="133502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070" b="0" i="0">
                <a:solidFill>
                  <a:srgbClr val="5B6372"/>
                </a:solidFill>
                <a:latin typeface="Arial"/>
              </a:rPr>
              <a:t>Colour, type, spacing, radius and elevation define visual decisions.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14400" y="3703320"/>
            <a:ext cx="1078992" cy="25603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3703320"/>
            <a:ext cx="1078992" cy="25603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1" i="0">
                <a:solidFill>
                  <a:srgbClr val="FFFFFF"/>
                </a:solidFill>
                <a:latin typeface="Arial"/>
              </a:rPr>
              <a:t>DESIGN LENS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401568" y="1691640"/>
            <a:ext cx="2487168" cy="233172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401568" y="1691640"/>
            <a:ext cx="82296" cy="2331720"/>
          </a:xfrm>
          <a:prstGeom prst="rect">
            <a:avLst/>
          </a:prstGeom>
          <a:solidFill>
            <a:srgbClr val="724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3621024" y="1874520"/>
            <a:ext cx="420624" cy="420624"/>
          </a:xfrm>
          <a:prstGeom prst="ellipse">
            <a:avLst/>
          </a:prstGeom>
          <a:solidFill>
            <a:srgbClr val="724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621024" y="1874520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151376" y="1819656"/>
            <a:ext cx="1508760" cy="43891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320" b="1" i="0">
                <a:solidFill>
                  <a:srgbClr val="161B26"/>
                </a:solidFill>
                <a:latin typeface="Arial"/>
              </a:rPr>
              <a:t>Components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657600" y="2386584"/>
            <a:ext cx="1965960" cy="133502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070" b="0" i="0">
                <a:solidFill>
                  <a:srgbClr val="5B6372"/>
                </a:solidFill>
                <a:latin typeface="Arial"/>
              </a:rPr>
              <a:t>Reusable structures encode interaction and accessibility patterns.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657600" y="3703320"/>
            <a:ext cx="1078992" cy="256032"/>
          </a:xfrm>
          <a:prstGeom prst="rect">
            <a:avLst/>
          </a:prstGeom>
          <a:solidFill>
            <a:srgbClr val="724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657600" y="3703320"/>
            <a:ext cx="1078992" cy="25603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1" i="0">
                <a:solidFill>
                  <a:srgbClr val="FFFFFF"/>
                </a:solidFill>
                <a:latin typeface="Arial"/>
              </a:rPr>
              <a:t>DESIGN LENS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144768" y="1691640"/>
            <a:ext cx="2487168" cy="233172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144768" y="1691640"/>
            <a:ext cx="82296" cy="2331720"/>
          </a:xfrm>
          <a:prstGeom prst="rect">
            <a:avLst/>
          </a:prstGeom>
          <a:solidFill>
            <a:srgbClr val="1098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6364224" y="1874520"/>
            <a:ext cx="420624" cy="420624"/>
          </a:xfrm>
          <a:prstGeom prst="ellipse">
            <a:avLst/>
          </a:prstGeom>
          <a:solidFill>
            <a:srgbClr val="1098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364224" y="1874520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894576" y="1819656"/>
            <a:ext cx="1508760" cy="43891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320" b="1" i="0">
                <a:solidFill>
                  <a:srgbClr val="161B26"/>
                </a:solidFill>
                <a:latin typeface="Arial"/>
              </a:rPr>
              <a:t>Guidelines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00800" y="2386584"/>
            <a:ext cx="1965960" cy="133502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070" b="0" i="0">
                <a:solidFill>
                  <a:srgbClr val="5B6372"/>
                </a:solidFill>
                <a:latin typeface="Arial"/>
              </a:rPr>
              <a:t>Voice, layout rules and do/don't criteria preserve intent.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400800" y="3703320"/>
            <a:ext cx="1078992" cy="256032"/>
          </a:xfrm>
          <a:prstGeom prst="rect">
            <a:avLst/>
          </a:prstGeom>
          <a:solidFill>
            <a:srgbClr val="1098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400800" y="3703320"/>
            <a:ext cx="1078992" cy="25603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1" i="0">
                <a:solidFill>
                  <a:srgbClr val="FFFFFF"/>
                </a:solidFill>
                <a:latin typeface="Arial"/>
              </a:rPr>
              <a:t>DESIGN LENS</a:t>
            </a:r>
          </a:p>
        </p:txBody>
      </p:sp>
      <p:sp>
        <p:nvSpPr>
          <p:cNvPr id="35" name="Rectangle 34"/>
          <p:cNvSpPr/>
          <p:nvPr/>
        </p:nvSpPr>
        <p:spPr>
          <a:xfrm>
            <a:off x="8887968" y="1691640"/>
            <a:ext cx="2487168" cy="233172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8887968" y="1691640"/>
            <a:ext cx="82296" cy="2331720"/>
          </a:xfrm>
          <a:prstGeom prst="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9107424" y="1874520"/>
            <a:ext cx="420624" cy="420624"/>
          </a:xfrm>
          <a:prstGeom prst="ellipse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107424" y="1874520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637776" y="1819656"/>
            <a:ext cx="1508760" cy="43891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320" b="1" i="0">
                <a:solidFill>
                  <a:srgbClr val="161B26"/>
                </a:solidFill>
                <a:latin typeface="Arial"/>
              </a:rPr>
              <a:t>Quality of source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144000" y="2386584"/>
            <a:ext cx="1965960" cy="133502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070" b="0" i="0">
                <a:solidFill>
                  <a:srgbClr val="5B6372"/>
                </a:solidFill>
                <a:latin typeface="Arial"/>
              </a:rPr>
              <a:t>Incomplete or messy inputs produce inconsistent outputs.</a:t>
            </a:r>
          </a:p>
        </p:txBody>
      </p:sp>
      <p:sp>
        <p:nvSpPr>
          <p:cNvPr id="41" name="Rectangle 40"/>
          <p:cNvSpPr/>
          <p:nvPr/>
        </p:nvSpPr>
        <p:spPr>
          <a:xfrm>
            <a:off x="9144000" y="3703320"/>
            <a:ext cx="1078992" cy="256032"/>
          </a:xfrm>
          <a:prstGeom prst="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9144000" y="3703320"/>
            <a:ext cx="1078992" cy="25603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1" i="0">
                <a:solidFill>
                  <a:srgbClr val="FFFFFF"/>
                </a:solidFill>
                <a:latin typeface="Arial"/>
              </a:rPr>
              <a:t>DESIGN LENS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58368" y="4315968"/>
            <a:ext cx="10835640" cy="13258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914400" y="4480560"/>
            <a:ext cx="1828800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 i="0">
                <a:solidFill>
                  <a:srgbClr val="724CD6"/>
                </a:solidFill>
                <a:latin typeface="Arial"/>
              </a:rPr>
              <a:t>SYNTHESIS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14400" y="4846320"/>
            <a:ext cx="10195560" cy="56692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 i="0">
                <a:solidFill>
                  <a:srgbClr val="161B26"/>
                </a:solidFill>
                <a:latin typeface="Arial"/>
              </a:rPr>
              <a:t>Colour, type, spacing, radius and elevation define visual decisions; incomplete or messy inputs produce inconsistent outputs.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724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724CD6"/>
                </a:solidFill>
                <a:latin typeface="Arial"/>
              </a:rPr>
              <a:t>MODULE 2 · WORKED EXAMPLE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21792"/>
            <a:ext cx="10835640" cy="6583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500" b="1" i="0">
                <a:solidFill>
                  <a:srgbClr val="161B26"/>
                </a:solidFill>
                <a:latin typeface="Arial"/>
              </a:rPr>
              <a:t>Import a design system before generating — applied pattern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6419088"/>
            <a:ext cx="4663440" cy="2194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 i="0">
                <a:solidFill>
                  <a:srgbClr val="5B6372"/>
                </a:solidFill>
                <a:latin typeface="Arial"/>
              </a:rPr>
              <a:t>Claude Design for UX/UI · C744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89120" y="6419088"/>
            <a:ext cx="3657600" cy="2194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0" i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26679" y="6419088"/>
            <a:ext cx="2834640" cy="2194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730" b="0" i="1">
                <a:solidFill>
                  <a:srgbClr val="949DA9"/>
                </a:solidFill>
                <a:latin typeface="Arial"/>
              </a:rPr>
              <a:t>Anthropic Help; Interface Design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44200" y="6419088"/>
            <a:ext cx="731520" cy="2194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 i="0">
                <a:solidFill>
                  <a:srgbClr val="5B6372"/>
                </a:solidFill>
                <a:latin typeface="Arial"/>
              </a:rPr>
              <a:t>53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58368" y="1719072"/>
            <a:ext cx="6446520" cy="416052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58368" y="1719072"/>
            <a:ext cx="91440" cy="4160520"/>
          </a:xfrm>
          <a:prstGeom prst="rect">
            <a:avLst/>
          </a:prstGeom>
          <a:solidFill>
            <a:srgbClr val="724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32688" y="1938528"/>
            <a:ext cx="5897880" cy="35204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0"/>
              </a:spcAft>
            </a:pPr>
            <a:r>
              <a:rPr sz="1220" b="0" i="0">
                <a:solidFill>
                  <a:srgbClr val="D6E4FF"/>
                </a:solidFill>
                <a:latin typeface="Consolas"/>
              </a:rPr>
              <a:t>:root {
  --color-action: #724cd6;
  --space-1: 4px;
  --space-2: 8px;
  --radius-control: 8px;
}
.button { min-height: 44px; padding: var(--space-2) 16px; }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388352" y="1719072"/>
            <a:ext cx="4105656" cy="120700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388352" y="1719072"/>
            <a:ext cx="82296" cy="120700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7626096" y="1920240"/>
            <a:ext cx="411480" cy="41148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626096" y="1920240"/>
            <a:ext cx="411480" cy="4114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11312" y="1883664"/>
            <a:ext cx="2944368" cy="76809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161B26"/>
                </a:solidFill>
                <a:latin typeface="Arial"/>
              </a:rPr>
              <a:t>Tokens name decisions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388352" y="3099815"/>
            <a:ext cx="4105656" cy="120700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7388352" y="3099815"/>
            <a:ext cx="82296" cy="1207008"/>
          </a:xfrm>
          <a:prstGeom prst="rect">
            <a:avLst/>
          </a:prstGeom>
          <a:solidFill>
            <a:srgbClr val="724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7626096" y="3300984"/>
            <a:ext cx="411480" cy="411480"/>
          </a:xfrm>
          <a:prstGeom prst="ellipse">
            <a:avLst/>
          </a:prstGeom>
          <a:solidFill>
            <a:srgbClr val="724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626096" y="3300984"/>
            <a:ext cx="411480" cy="4114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11312" y="3264408"/>
            <a:ext cx="2944368" cy="76809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161B26"/>
                </a:solidFill>
                <a:latin typeface="Arial"/>
              </a:rPr>
              <a:t>Components consume tokens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388352" y="4480559"/>
            <a:ext cx="4105656" cy="120700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7388352" y="4480559"/>
            <a:ext cx="82296" cy="1207008"/>
          </a:xfrm>
          <a:prstGeom prst="rect">
            <a:avLst/>
          </a:prstGeom>
          <a:solidFill>
            <a:srgbClr val="1098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7626096" y="4681727"/>
            <a:ext cx="411480" cy="411480"/>
          </a:xfrm>
          <a:prstGeom prst="ellipse">
            <a:avLst/>
          </a:prstGeom>
          <a:solidFill>
            <a:srgbClr val="1098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626096" y="4681727"/>
            <a:ext cx="411480" cy="4114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211312" y="4645151"/>
            <a:ext cx="2944368" cy="76809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161B26"/>
                </a:solidFill>
                <a:latin typeface="Arial"/>
              </a:rPr>
              <a:t>The source must be clean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724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724CD6"/>
                </a:solidFill>
                <a:latin typeface="Arial"/>
              </a:rPr>
              <a:t>MODULE 2 · PRINCIPLE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21792"/>
            <a:ext cx="10835640" cy="6583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 i="0">
                <a:solidFill>
                  <a:srgbClr val="161B26"/>
                </a:solidFill>
                <a:latin typeface="Arial"/>
              </a:rPr>
              <a:t>Prompt anatomy for interface work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6419088"/>
            <a:ext cx="4663440" cy="2194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 i="0">
                <a:solidFill>
                  <a:srgbClr val="5B6372"/>
                </a:solidFill>
                <a:latin typeface="Arial"/>
              </a:rPr>
              <a:t>Claude Design for UX/UI · C744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89120" y="6419088"/>
            <a:ext cx="3657600" cy="2194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0" i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26679" y="6419088"/>
            <a:ext cx="2834640" cy="2194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730" b="0" i="1">
                <a:solidFill>
                  <a:srgbClr val="949DA9"/>
                </a:solidFill>
                <a:latin typeface="Arial"/>
              </a:rPr>
              <a:t>Anthropic Help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44200" y="6419088"/>
            <a:ext cx="731520" cy="2194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 i="0">
                <a:solidFill>
                  <a:srgbClr val="5B6372"/>
                </a:solidFill>
                <a:latin typeface="Arial"/>
              </a:rPr>
              <a:t>54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58368" y="1691640"/>
            <a:ext cx="2487168" cy="233172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58368" y="1691640"/>
            <a:ext cx="82296" cy="23317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877824" y="1874520"/>
            <a:ext cx="420624" cy="420624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77824" y="1874520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08176" y="1819656"/>
            <a:ext cx="1508760" cy="43891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320" b="1" i="0">
                <a:solidFill>
                  <a:srgbClr val="161B26"/>
                </a:solidFill>
                <a:latin typeface="Arial"/>
              </a:rPr>
              <a:t>Goal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2386584"/>
            <a:ext cx="1965960" cy="133502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070" b="0" i="0">
                <a:solidFill>
                  <a:srgbClr val="5B6372"/>
                </a:solidFill>
                <a:latin typeface="Arial"/>
              </a:rPr>
              <a:t>Name the product outcome and the screen or flow to create.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14400" y="3703320"/>
            <a:ext cx="1078992" cy="25603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3703320"/>
            <a:ext cx="1078992" cy="25603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1" i="0">
                <a:solidFill>
                  <a:srgbClr val="FFFFFF"/>
                </a:solidFill>
                <a:latin typeface="Arial"/>
              </a:rPr>
              <a:t>DESIGN LENS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401568" y="1691640"/>
            <a:ext cx="2487168" cy="233172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401568" y="1691640"/>
            <a:ext cx="82296" cy="2331720"/>
          </a:xfrm>
          <a:prstGeom prst="rect">
            <a:avLst/>
          </a:prstGeom>
          <a:solidFill>
            <a:srgbClr val="724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3621024" y="1874520"/>
            <a:ext cx="420624" cy="420624"/>
          </a:xfrm>
          <a:prstGeom prst="ellipse">
            <a:avLst/>
          </a:prstGeom>
          <a:solidFill>
            <a:srgbClr val="724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621024" y="1874520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151376" y="1819656"/>
            <a:ext cx="1508760" cy="43891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320" b="1" i="0">
                <a:solidFill>
                  <a:srgbClr val="161B26"/>
                </a:solidFill>
                <a:latin typeface="Arial"/>
              </a:rPr>
              <a:t>Audience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657600" y="2386584"/>
            <a:ext cx="1965960" cy="133502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070" b="0" i="0">
                <a:solidFill>
                  <a:srgbClr val="5B6372"/>
                </a:solidFill>
                <a:latin typeface="Arial"/>
              </a:rPr>
              <a:t>Describe the primary user, context and accessibility needs.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657600" y="3703320"/>
            <a:ext cx="1078992" cy="256032"/>
          </a:xfrm>
          <a:prstGeom prst="rect">
            <a:avLst/>
          </a:prstGeom>
          <a:solidFill>
            <a:srgbClr val="724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657600" y="3703320"/>
            <a:ext cx="1078992" cy="25603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1" i="0">
                <a:solidFill>
                  <a:srgbClr val="FFFFFF"/>
                </a:solidFill>
                <a:latin typeface="Arial"/>
              </a:rPr>
              <a:t>DESIGN LENS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144768" y="1691640"/>
            <a:ext cx="2487168" cy="233172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144768" y="1691640"/>
            <a:ext cx="82296" cy="2331720"/>
          </a:xfrm>
          <a:prstGeom prst="rect">
            <a:avLst/>
          </a:prstGeom>
          <a:solidFill>
            <a:srgbClr val="1098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6364224" y="1874520"/>
            <a:ext cx="420624" cy="420624"/>
          </a:xfrm>
          <a:prstGeom prst="ellipse">
            <a:avLst/>
          </a:prstGeom>
          <a:solidFill>
            <a:srgbClr val="1098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364224" y="1874520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894576" y="1819656"/>
            <a:ext cx="1508760" cy="43891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320" b="1" i="0">
                <a:solidFill>
                  <a:srgbClr val="161B26"/>
                </a:solidFill>
                <a:latin typeface="Arial"/>
              </a:rPr>
              <a:t>Content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00800" y="2386584"/>
            <a:ext cx="1965960" cy="133502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070" b="0" i="0">
                <a:solidFill>
                  <a:srgbClr val="5B6372"/>
                </a:solidFill>
                <a:latin typeface="Arial"/>
              </a:rPr>
              <a:t>Provide real labels, entities, states and data priorities.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400800" y="3703320"/>
            <a:ext cx="1078992" cy="256032"/>
          </a:xfrm>
          <a:prstGeom prst="rect">
            <a:avLst/>
          </a:prstGeom>
          <a:solidFill>
            <a:srgbClr val="1098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400800" y="3703320"/>
            <a:ext cx="1078992" cy="25603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1" i="0">
                <a:solidFill>
                  <a:srgbClr val="FFFFFF"/>
                </a:solidFill>
                <a:latin typeface="Arial"/>
              </a:rPr>
              <a:t>DESIGN LENS</a:t>
            </a:r>
          </a:p>
        </p:txBody>
      </p:sp>
      <p:sp>
        <p:nvSpPr>
          <p:cNvPr id="35" name="Rectangle 34"/>
          <p:cNvSpPr/>
          <p:nvPr/>
        </p:nvSpPr>
        <p:spPr>
          <a:xfrm>
            <a:off x="8887968" y="1691640"/>
            <a:ext cx="2487168" cy="233172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8887968" y="1691640"/>
            <a:ext cx="82296" cy="2331720"/>
          </a:xfrm>
          <a:prstGeom prst="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9107424" y="1874520"/>
            <a:ext cx="420624" cy="420624"/>
          </a:xfrm>
          <a:prstGeom prst="ellipse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107424" y="1874520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637776" y="1819656"/>
            <a:ext cx="1508760" cy="43891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320" b="1" i="0">
                <a:solidFill>
                  <a:srgbClr val="161B26"/>
                </a:solidFill>
                <a:latin typeface="Arial"/>
              </a:rPr>
              <a:t>Constraints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144000" y="2386584"/>
            <a:ext cx="1965960" cy="133502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070" b="0" i="0">
                <a:solidFill>
                  <a:srgbClr val="5B6372"/>
                </a:solidFill>
                <a:latin typeface="Arial"/>
              </a:rPr>
              <a:t>Specify system, breakpoints, required states and acceptance checks.</a:t>
            </a:r>
          </a:p>
        </p:txBody>
      </p:sp>
      <p:sp>
        <p:nvSpPr>
          <p:cNvPr id="41" name="Rectangle 40"/>
          <p:cNvSpPr/>
          <p:nvPr/>
        </p:nvSpPr>
        <p:spPr>
          <a:xfrm>
            <a:off x="9144000" y="3703320"/>
            <a:ext cx="1078992" cy="256032"/>
          </a:xfrm>
          <a:prstGeom prst="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9144000" y="3703320"/>
            <a:ext cx="1078992" cy="25603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1" i="0">
                <a:solidFill>
                  <a:srgbClr val="FFFFFF"/>
                </a:solidFill>
                <a:latin typeface="Arial"/>
              </a:rPr>
              <a:t>DESIGN LENS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58368" y="4315968"/>
            <a:ext cx="10835640" cy="13258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914400" y="4480560"/>
            <a:ext cx="1828800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 i="0">
                <a:solidFill>
                  <a:srgbClr val="724CD6"/>
                </a:solidFill>
                <a:latin typeface="Arial"/>
              </a:rPr>
              <a:t>SYNTHESIS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14400" y="4846320"/>
            <a:ext cx="10195560" cy="56692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 i="0">
                <a:solidFill>
                  <a:srgbClr val="161B26"/>
                </a:solidFill>
                <a:latin typeface="Arial"/>
              </a:rPr>
              <a:t>Name the product outcome and the screen or flow to create; specify system, breakpoints, required states and acceptance checks.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724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724CD6"/>
                </a:solidFill>
                <a:latin typeface="Arial"/>
              </a:rPr>
              <a:t>MODULE 2 · WORKED EXAMPLE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21792"/>
            <a:ext cx="10835640" cy="6583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 i="0">
                <a:solidFill>
                  <a:srgbClr val="161B26"/>
                </a:solidFill>
                <a:latin typeface="Arial"/>
              </a:rPr>
              <a:t>Prompt anatomy for interface work — applied pattern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6419088"/>
            <a:ext cx="4663440" cy="2194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 i="0">
                <a:solidFill>
                  <a:srgbClr val="5B6372"/>
                </a:solidFill>
                <a:latin typeface="Arial"/>
              </a:rPr>
              <a:t>Claude Design for UX/UI · C744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89120" y="6419088"/>
            <a:ext cx="3657600" cy="2194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0" i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26679" y="6419088"/>
            <a:ext cx="2834640" cy="2194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730" b="0" i="1">
                <a:solidFill>
                  <a:srgbClr val="949DA9"/>
                </a:solidFill>
                <a:latin typeface="Arial"/>
              </a:rPr>
              <a:t>Anthropic Help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44200" y="6419088"/>
            <a:ext cx="731520" cy="2194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 i="0">
                <a:solidFill>
                  <a:srgbClr val="5B6372"/>
                </a:solidFill>
                <a:latin typeface="Arial"/>
              </a:rPr>
              <a:t>55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58368" y="1719072"/>
            <a:ext cx="6446520" cy="416052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58368" y="1719072"/>
            <a:ext cx="91440" cy="4160520"/>
          </a:xfrm>
          <a:prstGeom prst="rect">
            <a:avLst/>
          </a:prstGeom>
          <a:solidFill>
            <a:srgbClr val="724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32688" y="1938528"/>
            <a:ext cx="5897880" cy="35204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0"/>
              </a:spcAft>
            </a:pPr>
            <a:r>
              <a:rPr sz="1220" b="0" i="0">
                <a:solidFill>
                  <a:srgbClr val="D6E4FF"/>
                </a:solidFill>
                <a:latin typeface="Consolas"/>
              </a:rPr>
              <a:t>Goal: Design a 4-screen booking flow
Audience: Adults with varied digital confidence
Content: Real services, times, error and success states
Constraints: Mobile-first, WCAG contrast, 44px targets
Acceptance: Task completes and conflict recovery preserves input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388352" y="1719072"/>
            <a:ext cx="4105656" cy="120700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388352" y="1719072"/>
            <a:ext cx="82296" cy="120700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7626096" y="1920240"/>
            <a:ext cx="411480" cy="41148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626096" y="1920240"/>
            <a:ext cx="411480" cy="4114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11312" y="1883664"/>
            <a:ext cx="2944368" cy="76809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161B26"/>
                </a:solidFill>
                <a:latin typeface="Arial"/>
              </a:rPr>
              <a:t>State the job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388352" y="3099815"/>
            <a:ext cx="4105656" cy="120700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7388352" y="3099815"/>
            <a:ext cx="82296" cy="1207008"/>
          </a:xfrm>
          <a:prstGeom prst="rect">
            <a:avLst/>
          </a:prstGeom>
          <a:solidFill>
            <a:srgbClr val="724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7626096" y="3300984"/>
            <a:ext cx="411480" cy="411480"/>
          </a:xfrm>
          <a:prstGeom prst="ellipse">
            <a:avLst/>
          </a:prstGeom>
          <a:solidFill>
            <a:srgbClr val="724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626096" y="3300984"/>
            <a:ext cx="411480" cy="4114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11312" y="3264408"/>
            <a:ext cx="2944368" cy="76809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161B26"/>
                </a:solidFill>
                <a:latin typeface="Arial"/>
              </a:rPr>
              <a:t>Supply real content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388352" y="4480559"/>
            <a:ext cx="4105656" cy="120700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7388352" y="4480559"/>
            <a:ext cx="82296" cy="1207008"/>
          </a:xfrm>
          <a:prstGeom prst="rect">
            <a:avLst/>
          </a:prstGeom>
          <a:solidFill>
            <a:srgbClr val="1098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7626096" y="4681727"/>
            <a:ext cx="411480" cy="411480"/>
          </a:xfrm>
          <a:prstGeom prst="ellipse">
            <a:avLst/>
          </a:prstGeom>
          <a:solidFill>
            <a:srgbClr val="1098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626096" y="4681727"/>
            <a:ext cx="411480" cy="4114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211312" y="4645151"/>
            <a:ext cx="2944368" cy="76809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161B26"/>
                </a:solidFill>
                <a:latin typeface="Arial"/>
              </a:rPr>
              <a:t>Define acceptance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724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724CD6"/>
                </a:solidFill>
                <a:latin typeface="Arial"/>
              </a:rPr>
              <a:t>MODULE 2 · PRINCIPLE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21792"/>
            <a:ext cx="10835640" cy="6583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 i="0">
                <a:solidFill>
                  <a:srgbClr val="161B26"/>
                </a:solidFill>
                <a:latin typeface="Arial"/>
              </a:rPr>
              <a:t>Direction without AI design slop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6419088"/>
            <a:ext cx="4663440" cy="2194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 i="0">
                <a:solidFill>
                  <a:srgbClr val="5B6372"/>
                </a:solidFill>
                <a:latin typeface="Arial"/>
              </a:rPr>
              <a:t>Claude Design for UX/UI · C744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89120" y="6419088"/>
            <a:ext cx="3657600" cy="2194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0" i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26679" y="6419088"/>
            <a:ext cx="2834640" cy="2194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730" b="0" i="1">
                <a:solidFill>
                  <a:srgbClr val="949DA9"/>
                </a:solidFill>
                <a:latin typeface="Arial"/>
              </a:rPr>
              <a:t>Interface Design; Developers Digest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44200" y="6419088"/>
            <a:ext cx="731520" cy="2194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 i="0">
                <a:solidFill>
                  <a:srgbClr val="5B6372"/>
                </a:solidFill>
                <a:latin typeface="Arial"/>
              </a:rPr>
              <a:t>56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58368" y="1691640"/>
            <a:ext cx="2487168" cy="233172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58368" y="1691640"/>
            <a:ext cx="82296" cy="23317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877824" y="1874520"/>
            <a:ext cx="420624" cy="420624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77824" y="1874520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08176" y="1819656"/>
            <a:ext cx="1508760" cy="43891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320" b="1" i="0">
                <a:solidFill>
                  <a:srgbClr val="161B26"/>
                </a:solidFill>
                <a:latin typeface="Arial"/>
              </a:rPr>
              <a:t>One personality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2386584"/>
            <a:ext cx="1965960" cy="133502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070" b="0" i="0">
                <a:solidFill>
                  <a:srgbClr val="5B6372"/>
                </a:solidFill>
                <a:latin typeface="Arial"/>
              </a:rPr>
              <a:t>Choose a clear product character: precise, calm, warm or expressive.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14400" y="3703320"/>
            <a:ext cx="1078992" cy="25603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3703320"/>
            <a:ext cx="1078992" cy="25603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1" i="0">
                <a:solidFill>
                  <a:srgbClr val="FFFFFF"/>
                </a:solidFill>
                <a:latin typeface="Arial"/>
              </a:rPr>
              <a:t>DESIGN LENS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401568" y="1691640"/>
            <a:ext cx="2487168" cy="233172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401568" y="1691640"/>
            <a:ext cx="82296" cy="2331720"/>
          </a:xfrm>
          <a:prstGeom prst="rect">
            <a:avLst/>
          </a:prstGeom>
          <a:solidFill>
            <a:srgbClr val="724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3621024" y="1874520"/>
            <a:ext cx="420624" cy="420624"/>
          </a:xfrm>
          <a:prstGeom prst="ellipse">
            <a:avLst/>
          </a:prstGeom>
          <a:solidFill>
            <a:srgbClr val="724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621024" y="1874520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151376" y="1819656"/>
            <a:ext cx="1508760" cy="43891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320" b="1" i="0">
                <a:solidFill>
                  <a:srgbClr val="161B26"/>
                </a:solidFill>
                <a:latin typeface="Arial"/>
              </a:rPr>
              <a:t>One depth model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657600" y="2386584"/>
            <a:ext cx="1965960" cy="133502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070" b="0" i="0">
                <a:solidFill>
                  <a:srgbClr val="5B6372"/>
                </a:solidFill>
                <a:latin typeface="Arial"/>
              </a:rPr>
              <a:t>Use borders, tonal surfaces or shadows consistently.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657600" y="3703320"/>
            <a:ext cx="1078992" cy="256032"/>
          </a:xfrm>
          <a:prstGeom prst="rect">
            <a:avLst/>
          </a:prstGeom>
          <a:solidFill>
            <a:srgbClr val="724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657600" y="3703320"/>
            <a:ext cx="1078992" cy="25603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1" i="0">
                <a:solidFill>
                  <a:srgbClr val="FFFFFF"/>
                </a:solidFill>
                <a:latin typeface="Arial"/>
              </a:rPr>
              <a:t>DESIGN LENS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144768" y="1691640"/>
            <a:ext cx="2487168" cy="233172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144768" y="1691640"/>
            <a:ext cx="82296" cy="2331720"/>
          </a:xfrm>
          <a:prstGeom prst="rect">
            <a:avLst/>
          </a:prstGeom>
          <a:solidFill>
            <a:srgbClr val="1098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6364224" y="1874520"/>
            <a:ext cx="420624" cy="420624"/>
          </a:xfrm>
          <a:prstGeom prst="ellipse">
            <a:avLst/>
          </a:prstGeom>
          <a:solidFill>
            <a:srgbClr val="1098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364224" y="1874520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894576" y="1819656"/>
            <a:ext cx="1508760" cy="43891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320" b="1" i="0">
                <a:solidFill>
                  <a:srgbClr val="161B26"/>
                </a:solidFill>
                <a:latin typeface="Arial"/>
              </a:rPr>
              <a:t>One spacing system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00800" y="2386584"/>
            <a:ext cx="1965960" cy="133502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070" b="0" i="0">
                <a:solidFill>
                  <a:srgbClr val="5B6372"/>
                </a:solidFill>
                <a:latin typeface="Arial"/>
              </a:rPr>
              <a:t>A small scale prevents random gaps and component drift.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400800" y="3703320"/>
            <a:ext cx="1078992" cy="256032"/>
          </a:xfrm>
          <a:prstGeom prst="rect">
            <a:avLst/>
          </a:prstGeom>
          <a:solidFill>
            <a:srgbClr val="1098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400800" y="3703320"/>
            <a:ext cx="1078992" cy="25603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1" i="0">
                <a:solidFill>
                  <a:srgbClr val="FFFFFF"/>
                </a:solidFill>
                <a:latin typeface="Arial"/>
              </a:rPr>
              <a:t>DESIGN LENS</a:t>
            </a:r>
          </a:p>
        </p:txBody>
      </p:sp>
      <p:sp>
        <p:nvSpPr>
          <p:cNvPr id="35" name="Rectangle 34"/>
          <p:cNvSpPr/>
          <p:nvPr/>
        </p:nvSpPr>
        <p:spPr>
          <a:xfrm>
            <a:off x="8887968" y="1691640"/>
            <a:ext cx="2487168" cy="233172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8887968" y="1691640"/>
            <a:ext cx="82296" cy="2331720"/>
          </a:xfrm>
          <a:prstGeom prst="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9107424" y="1874520"/>
            <a:ext cx="420624" cy="420624"/>
          </a:xfrm>
          <a:prstGeom prst="ellipse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107424" y="1874520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637776" y="1819656"/>
            <a:ext cx="1508760" cy="43891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320" b="1" i="0">
                <a:solidFill>
                  <a:srgbClr val="161B26"/>
                </a:solidFill>
                <a:latin typeface="Arial"/>
              </a:rPr>
              <a:t>Explicit exclusions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144000" y="2386584"/>
            <a:ext cx="1965960" cy="133502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070" b="0" i="0">
                <a:solidFill>
                  <a:srgbClr val="5B6372"/>
                </a:solidFill>
                <a:latin typeface="Arial"/>
              </a:rPr>
              <a:t>Name patterns to avoid when they conflict with product intent.</a:t>
            </a:r>
          </a:p>
        </p:txBody>
      </p:sp>
      <p:sp>
        <p:nvSpPr>
          <p:cNvPr id="41" name="Rectangle 40"/>
          <p:cNvSpPr/>
          <p:nvPr/>
        </p:nvSpPr>
        <p:spPr>
          <a:xfrm>
            <a:off x="9144000" y="3703320"/>
            <a:ext cx="1078992" cy="256032"/>
          </a:xfrm>
          <a:prstGeom prst="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9144000" y="3703320"/>
            <a:ext cx="1078992" cy="25603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1" i="0">
                <a:solidFill>
                  <a:srgbClr val="FFFFFF"/>
                </a:solidFill>
                <a:latin typeface="Arial"/>
              </a:rPr>
              <a:t>DESIGN LENS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58368" y="4315968"/>
            <a:ext cx="10835640" cy="13258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914400" y="4480560"/>
            <a:ext cx="1828800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 i="0">
                <a:solidFill>
                  <a:srgbClr val="724CD6"/>
                </a:solidFill>
                <a:latin typeface="Arial"/>
              </a:rPr>
              <a:t>SYNTHESIS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14400" y="4846320"/>
            <a:ext cx="10195560" cy="56692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 i="0">
                <a:solidFill>
                  <a:srgbClr val="161B26"/>
                </a:solidFill>
                <a:latin typeface="Arial"/>
              </a:rPr>
              <a:t>Choose a clear product character: precise, calm, warm or expressive; name patterns to avoid when they conflict with product intent.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724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724CD6"/>
                </a:solidFill>
                <a:latin typeface="Arial"/>
              </a:rPr>
              <a:t>MODULE 2 · CASE LENS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21792"/>
            <a:ext cx="10835640" cy="6583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 i="0">
                <a:solidFill>
                  <a:srgbClr val="161B26"/>
                </a:solidFill>
                <a:latin typeface="Arial"/>
              </a:rPr>
              <a:t>Direction without AI design slop — applied judgement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6419088"/>
            <a:ext cx="4663440" cy="2194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 i="0">
                <a:solidFill>
                  <a:srgbClr val="5B6372"/>
                </a:solidFill>
                <a:latin typeface="Arial"/>
              </a:rPr>
              <a:t>Claude Design for UX/UI · C744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89120" y="6419088"/>
            <a:ext cx="3657600" cy="2194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0" i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26679" y="6419088"/>
            <a:ext cx="2834640" cy="2194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730" b="0" i="1">
                <a:solidFill>
                  <a:srgbClr val="949DA9"/>
                </a:solidFill>
                <a:latin typeface="Arial"/>
              </a:rPr>
              <a:t>Interface Design; Developers Digest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44200" y="6419088"/>
            <a:ext cx="731520" cy="2194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 i="0">
                <a:solidFill>
                  <a:srgbClr val="5B6372"/>
                </a:solidFill>
                <a:latin typeface="Arial"/>
              </a:rPr>
              <a:t>57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58368" y="1755648"/>
            <a:ext cx="3392424" cy="3127248"/>
          </a:xfrm>
          <a:prstGeom prst="rect">
            <a:avLst/>
          </a:prstGeom>
          <a:solidFill>
            <a:srgbClr val="FFFFFF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58368" y="1755648"/>
            <a:ext cx="3392424" cy="91440"/>
          </a:xfrm>
          <a:prstGeom prst="rect">
            <a:avLst/>
          </a:prstGeom>
          <a:solidFill>
            <a:srgbClr val="F06F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886968" y="2029968"/>
            <a:ext cx="493776" cy="493776"/>
          </a:xfrm>
          <a:prstGeom prst="ellipse">
            <a:avLst/>
          </a:prstGeom>
          <a:solidFill>
            <a:srgbClr val="F06F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86968" y="2029968"/>
            <a:ext cx="493776" cy="49377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17904" y="2020824"/>
            <a:ext cx="2240280" cy="51206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F06F61"/>
                </a:solidFill>
                <a:latin typeface="Arial"/>
              </a:rPr>
              <a:t>CONTEXT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2798063"/>
            <a:ext cx="2834640" cy="16459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161B26"/>
                </a:solidFill>
                <a:latin typeface="Arial"/>
              </a:rPr>
              <a:t>Every generated page uses gradient headlines, floating blobs and oversized rounded cards.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14400" y="4526280"/>
            <a:ext cx="2834640" cy="27432"/>
          </a:xfrm>
          <a:prstGeom prst="rect">
            <a:avLst/>
          </a:prstGeom>
          <a:solidFill>
            <a:srgbClr val="F06F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315968" y="1755648"/>
            <a:ext cx="3392424" cy="3127248"/>
          </a:xfrm>
          <a:prstGeom prst="rect">
            <a:avLst/>
          </a:prstGeom>
          <a:solidFill>
            <a:srgbClr val="FFFFFF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315968" y="1755648"/>
            <a:ext cx="3392424" cy="91440"/>
          </a:xfrm>
          <a:prstGeom prst="rect">
            <a:avLst/>
          </a:prstGeom>
          <a:solidFill>
            <a:srgbClr val="1098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4544568" y="2029968"/>
            <a:ext cx="493776" cy="493776"/>
          </a:xfrm>
          <a:prstGeom prst="ellipse">
            <a:avLst/>
          </a:prstGeom>
          <a:solidFill>
            <a:srgbClr val="1098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544568" y="2029968"/>
            <a:ext cx="493776" cy="49377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175504" y="2020824"/>
            <a:ext cx="2240280" cy="51206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10988A"/>
                </a:solidFill>
                <a:latin typeface="Arial"/>
              </a:rPr>
              <a:t>DESIGN MOVE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0" y="2798063"/>
            <a:ext cx="2834640" cy="16459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161B26"/>
                </a:solidFill>
                <a:latin typeface="Arial"/>
              </a:rPr>
              <a:t>Set a restrained direction and tie each visual treatment to product meaning.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572000" y="4526280"/>
            <a:ext cx="2834640" cy="27432"/>
          </a:xfrm>
          <a:prstGeom prst="rect">
            <a:avLst/>
          </a:prstGeom>
          <a:solidFill>
            <a:srgbClr val="1098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7973568" y="1755648"/>
            <a:ext cx="3392424" cy="3127248"/>
          </a:xfrm>
          <a:prstGeom prst="rect">
            <a:avLst/>
          </a:prstGeom>
          <a:solidFill>
            <a:srgbClr val="FFFFFF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973568" y="1755648"/>
            <a:ext cx="3392424" cy="91440"/>
          </a:xfrm>
          <a:prstGeom prst="rect">
            <a:avLst/>
          </a:prstGeom>
          <a:solidFill>
            <a:srgbClr val="724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8202168" y="2029968"/>
            <a:ext cx="493776" cy="493776"/>
          </a:xfrm>
          <a:prstGeom prst="ellipse">
            <a:avLst/>
          </a:prstGeom>
          <a:solidFill>
            <a:srgbClr val="724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202168" y="2029968"/>
            <a:ext cx="493776" cy="49377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833104" y="2020824"/>
            <a:ext cx="2240280" cy="51206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724CD6"/>
                </a:solidFill>
                <a:latin typeface="Arial"/>
              </a:rPr>
              <a:t>EVIDENCE STANDARD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229600" y="2798063"/>
            <a:ext cx="2834640" cy="16459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161B26"/>
                </a:solidFill>
                <a:latin typeface="Arial"/>
              </a:rPr>
              <a:t>Polish comes from coherent decisions, not accumulated decoration.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8229600" y="4526280"/>
            <a:ext cx="2834640" cy="27432"/>
          </a:xfrm>
          <a:prstGeom prst="rect">
            <a:avLst/>
          </a:prstGeom>
          <a:solidFill>
            <a:srgbClr val="724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58368" y="5102352"/>
            <a:ext cx="10835640" cy="56692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14400" y="5239512"/>
            <a:ext cx="10241280" cy="29260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250" b="1" i="0">
                <a:solidFill>
                  <a:srgbClr val="161B26"/>
                </a:solidFill>
                <a:latin typeface="Arial"/>
              </a:rPr>
              <a:t>Ask: what user outcome changes, and what evidence would prove it?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724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724CD6"/>
                </a:solidFill>
                <a:latin typeface="Arial"/>
              </a:rPr>
              <a:t>MODULE 2 · PRINCIPLE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21792"/>
            <a:ext cx="10835640" cy="6583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 i="0">
                <a:solidFill>
                  <a:srgbClr val="161B26"/>
                </a:solidFill>
                <a:latin typeface="Arial"/>
              </a:rPr>
              <a:t>Move from structure to fidelity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6419088"/>
            <a:ext cx="4663440" cy="2194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 i="0">
                <a:solidFill>
                  <a:srgbClr val="5B6372"/>
                </a:solidFill>
                <a:latin typeface="Arial"/>
              </a:rPr>
              <a:t>Claude Design for UX/UI · C744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89120" y="6419088"/>
            <a:ext cx="3657600" cy="2194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0" i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26679" y="6419088"/>
            <a:ext cx="2834640" cy="2194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730" b="0" i="1">
                <a:solidFill>
                  <a:srgbClr val="949DA9"/>
                </a:solidFill>
                <a:latin typeface="Arial"/>
              </a:rPr>
              <a:t>Maze; Figma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44200" y="6419088"/>
            <a:ext cx="731520" cy="2194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 i="0">
                <a:solidFill>
                  <a:srgbClr val="5B6372"/>
                </a:solidFill>
                <a:latin typeface="Arial"/>
              </a:rPr>
              <a:t>58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58368" y="1691640"/>
            <a:ext cx="2487168" cy="233172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58368" y="1691640"/>
            <a:ext cx="82296" cy="23317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877824" y="1874520"/>
            <a:ext cx="420624" cy="420624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77824" y="1874520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08176" y="1819656"/>
            <a:ext cx="1508760" cy="43891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320" b="1" i="0">
                <a:solidFill>
                  <a:srgbClr val="161B26"/>
                </a:solidFill>
                <a:latin typeface="Arial"/>
              </a:rPr>
              <a:t>Low fidelity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2386584"/>
            <a:ext cx="1965960" cy="133502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070" b="0" i="0">
                <a:solidFill>
                  <a:srgbClr val="5B6372"/>
                </a:solidFill>
                <a:latin typeface="Arial"/>
              </a:rPr>
              <a:t>Validate content, hierarchy, flow and screen coverage quickly.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14400" y="3703320"/>
            <a:ext cx="1078992" cy="25603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3703320"/>
            <a:ext cx="1078992" cy="25603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1" i="0">
                <a:solidFill>
                  <a:srgbClr val="FFFFFF"/>
                </a:solidFill>
                <a:latin typeface="Arial"/>
              </a:rPr>
              <a:t>DESIGN LENS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401568" y="1691640"/>
            <a:ext cx="2487168" cy="233172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401568" y="1691640"/>
            <a:ext cx="82296" cy="2331720"/>
          </a:xfrm>
          <a:prstGeom prst="rect">
            <a:avLst/>
          </a:prstGeom>
          <a:solidFill>
            <a:srgbClr val="724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3621024" y="1874520"/>
            <a:ext cx="420624" cy="420624"/>
          </a:xfrm>
          <a:prstGeom prst="ellipse">
            <a:avLst/>
          </a:prstGeom>
          <a:solidFill>
            <a:srgbClr val="724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621024" y="1874520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151376" y="1819656"/>
            <a:ext cx="1508760" cy="43891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320" b="1" i="0">
                <a:solidFill>
                  <a:srgbClr val="161B26"/>
                </a:solidFill>
                <a:latin typeface="Arial"/>
              </a:rPr>
              <a:t>Mid fidelity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657600" y="2386584"/>
            <a:ext cx="1965960" cy="133502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070" b="0" i="0">
                <a:solidFill>
                  <a:srgbClr val="5B6372"/>
                </a:solidFill>
                <a:latin typeface="Arial"/>
              </a:rPr>
              <a:t>Introduce components, realistic content and interaction states.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657600" y="3703320"/>
            <a:ext cx="1078992" cy="256032"/>
          </a:xfrm>
          <a:prstGeom prst="rect">
            <a:avLst/>
          </a:prstGeom>
          <a:solidFill>
            <a:srgbClr val="724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657600" y="3703320"/>
            <a:ext cx="1078992" cy="25603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1" i="0">
                <a:solidFill>
                  <a:srgbClr val="FFFFFF"/>
                </a:solidFill>
                <a:latin typeface="Arial"/>
              </a:rPr>
              <a:t>DESIGN LENS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144768" y="1691640"/>
            <a:ext cx="2487168" cy="233172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144768" y="1691640"/>
            <a:ext cx="82296" cy="2331720"/>
          </a:xfrm>
          <a:prstGeom prst="rect">
            <a:avLst/>
          </a:prstGeom>
          <a:solidFill>
            <a:srgbClr val="1098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6364224" y="1874520"/>
            <a:ext cx="420624" cy="420624"/>
          </a:xfrm>
          <a:prstGeom prst="ellipse">
            <a:avLst/>
          </a:prstGeom>
          <a:solidFill>
            <a:srgbClr val="1098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364224" y="1874520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894576" y="1819656"/>
            <a:ext cx="1508760" cy="43891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320" b="1" i="0">
                <a:solidFill>
                  <a:srgbClr val="161B26"/>
                </a:solidFill>
                <a:latin typeface="Arial"/>
              </a:rPr>
              <a:t>High fidelity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00800" y="2386584"/>
            <a:ext cx="1965960" cy="133502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070" b="0" i="0">
                <a:solidFill>
                  <a:srgbClr val="5B6372"/>
                </a:solidFill>
                <a:latin typeface="Arial"/>
              </a:rPr>
              <a:t>Apply brand, responsive behaviour and precise visual polish.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400800" y="3703320"/>
            <a:ext cx="1078992" cy="256032"/>
          </a:xfrm>
          <a:prstGeom prst="rect">
            <a:avLst/>
          </a:prstGeom>
          <a:solidFill>
            <a:srgbClr val="1098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400800" y="3703320"/>
            <a:ext cx="1078992" cy="25603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1" i="0">
                <a:solidFill>
                  <a:srgbClr val="FFFFFF"/>
                </a:solidFill>
                <a:latin typeface="Arial"/>
              </a:rPr>
              <a:t>DESIGN LENS</a:t>
            </a:r>
          </a:p>
        </p:txBody>
      </p:sp>
      <p:sp>
        <p:nvSpPr>
          <p:cNvPr id="35" name="Rectangle 34"/>
          <p:cNvSpPr/>
          <p:nvPr/>
        </p:nvSpPr>
        <p:spPr>
          <a:xfrm>
            <a:off x="8887968" y="1691640"/>
            <a:ext cx="2487168" cy="233172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8887968" y="1691640"/>
            <a:ext cx="82296" cy="2331720"/>
          </a:xfrm>
          <a:prstGeom prst="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9107424" y="1874520"/>
            <a:ext cx="420624" cy="420624"/>
          </a:xfrm>
          <a:prstGeom prst="ellipse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107424" y="1874520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637776" y="1819656"/>
            <a:ext cx="1508760" cy="43891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320" b="1" i="0">
                <a:solidFill>
                  <a:srgbClr val="161B26"/>
                </a:solidFill>
                <a:latin typeface="Arial"/>
              </a:rPr>
              <a:t>Prototype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144000" y="2386584"/>
            <a:ext cx="1965960" cy="133502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070" b="0" i="0">
                <a:solidFill>
                  <a:srgbClr val="5B6372"/>
                </a:solidFill>
                <a:latin typeface="Arial"/>
              </a:rPr>
              <a:t>Connect states so behaviour can be tested, not merely described.</a:t>
            </a:r>
          </a:p>
        </p:txBody>
      </p:sp>
      <p:sp>
        <p:nvSpPr>
          <p:cNvPr id="41" name="Rectangle 40"/>
          <p:cNvSpPr/>
          <p:nvPr/>
        </p:nvSpPr>
        <p:spPr>
          <a:xfrm>
            <a:off x="9144000" y="3703320"/>
            <a:ext cx="1078992" cy="256032"/>
          </a:xfrm>
          <a:prstGeom prst="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9144000" y="3703320"/>
            <a:ext cx="1078992" cy="25603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1" i="0">
                <a:solidFill>
                  <a:srgbClr val="FFFFFF"/>
                </a:solidFill>
                <a:latin typeface="Arial"/>
              </a:rPr>
              <a:t>DESIGN LENS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58368" y="4315968"/>
            <a:ext cx="10835640" cy="13258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914400" y="4480560"/>
            <a:ext cx="1828800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 i="0">
                <a:solidFill>
                  <a:srgbClr val="724CD6"/>
                </a:solidFill>
                <a:latin typeface="Arial"/>
              </a:rPr>
              <a:t>SYNTHESIS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14400" y="4846320"/>
            <a:ext cx="10195560" cy="56692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 i="0">
                <a:solidFill>
                  <a:srgbClr val="161B26"/>
                </a:solidFill>
                <a:latin typeface="Arial"/>
              </a:rPr>
              <a:t>Validate content, hierarchy, flow and screen coverage quickly; connect states so behaviour can be tested, not merely described.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724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724CD6"/>
                </a:solidFill>
                <a:latin typeface="Arial"/>
              </a:rPr>
              <a:t>MODULE 2 · CASE LENS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21792"/>
            <a:ext cx="10835640" cy="6583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 i="0">
                <a:solidFill>
                  <a:srgbClr val="161B26"/>
                </a:solidFill>
                <a:latin typeface="Arial"/>
              </a:rPr>
              <a:t>Move from structure to fidelity — applied judgement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6419088"/>
            <a:ext cx="4663440" cy="2194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 i="0">
                <a:solidFill>
                  <a:srgbClr val="5B6372"/>
                </a:solidFill>
                <a:latin typeface="Arial"/>
              </a:rPr>
              <a:t>Claude Design for UX/UI · C744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89120" y="6419088"/>
            <a:ext cx="3657600" cy="2194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0" i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26679" y="6419088"/>
            <a:ext cx="2834640" cy="2194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730" b="0" i="1">
                <a:solidFill>
                  <a:srgbClr val="949DA9"/>
                </a:solidFill>
                <a:latin typeface="Arial"/>
              </a:rPr>
              <a:t>Maze; Figma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44200" y="6419088"/>
            <a:ext cx="731520" cy="2194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 i="0">
                <a:solidFill>
                  <a:srgbClr val="5B6372"/>
                </a:solidFill>
                <a:latin typeface="Arial"/>
              </a:rPr>
              <a:t>59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58368" y="1755648"/>
            <a:ext cx="3392424" cy="3127248"/>
          </a:xfrm>
          <a:prstGeom prst="rect">
            <a:avLst/>
          </a:prstGeom>
          <a:solidFill>
            <a:srgbClr val="FFFFFF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58368" y="1755648"/>
            <a:ext cx="3392424" cy="91440"/>
          </a:xfrm>
          <a:prstGeom prst="rect">
            <a:avLst/>
          </a:prstGeom>
          <a:solidFill>
            <a:srgbClr val="F06F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886968" y="2029968"/>
            <a:ext cx="493776" cy="493776"/>
          </a:xfrm>
          <a:prstGeom prst="ellipse">
            <a:avLst/>
          </a:prstGeom>
          <a:solidFill>
            <a:srgbClr val="F06F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86968" y="2029968"/>
            <a:ext cx="493776" cy="49377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17904" y="2020824"/>
            <a:ext cx="2240280" cy="51206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F06F61"/>
                </a:solidFill>
                <a:latin typeface="Arial"/>
              </a:rPr>
              <a:t>CONTEXT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2798063"/>
            <a:ext cx="2834640" cy="16459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161B26"/>
                </a:solidFill>
                <a:latin typeface="Arial"/>
              </a:rPr>
              <a:t>A team debates colour while the navigation model is unresolved.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14400" y="4526280"/>
            <a:ext cx="2834640" cy="27432"/>
          </a:xfrm>
          <a:prstGeom prst="rect">
            <a:avLst/>
          </a:prstGeom>
          <a:solidFill>
            <a:srgbClr val="F06F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315968" y="1755648"/>
            <a:ext cx="3392424" cy="3127248"/>
          </a:xfrm>
          <a:prstGeom prst="rect">
            <a:avLst/>
          </a:prstGeom>
          <a:solidFill>
            <a:srgbClr val="FFFFFF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315968" y="1755648"/>
            <a:ext cx="3392424" cy="91440"/>
          </a:xfrm>
          <a:prstGeom prst="rect">
            <a:avLst/>
          </a:prstGeom>
          <a:solidFill>
            <a:srgbClr val="1098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4544568" y="2029968"/>
            <a:ext cx="493776" cy="493776"/>
          </a:xfrm>
          <a:prstGeom prst="ellipse">
            <a:avLst/>
          </a:prstGeom>
          <a:solidFill>
            <a:srgbClr val="1098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544568" y="2029968"/>
            <a:ext cx="493776" cy="49377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175504" y="2020824"/>
            <a:ext cx="2240280" cy="51206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10988A"/>
                </a:solidFill>
                <a:latin typeface="Arial"/>
              </a:rPr>
              <a:t>DESIGN MOVE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0" y="2798063"/>
            <a:ext cx="2834640" cy="16459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161B26"/>
                </a:solidFill>
                <a:latin typeface="Arial"/>
              </a:rPr>
              <a:t>Return to structural wireframes, resolve the flow, then increase fidelity.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572000" y="4526280"/>
            <a:ext cx="2834640" cy="27432"/>
          </a:xfrm>
          <a:prstGeom prst="rect">
            <a:avLst/>
          </a:prstGeom>
          <a:solidFill>
            <a:srgbClr val="1098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7973568" y="1755648"/>
            <a:ext cx="3392424" cy="3127248"/>
          </a:xfrm>
          <a:prstGeom prst="rect">
            <a:avLst/>
          </a:prstGeom>
          <a:solidFill>
            <a:srgbClr val="FFFFFF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973568" y="1755648"/>
            <a:ext cx="3392424" cy="91440"/>
          </a:xfrm>
          <a:prstGeom prst="rect">
            <a:avLst/>
          </a:prstGeom>
          <a:solidFill>
            <a:srgbClr val="724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8202168" y="2029968"/>
            <a:ext cx="493776" cy="493776"/>
          </a:xfrm>
          <a:prstGeom prst="ellipse">
            <a:avLst/>
          </a:prstGeom>
          <a:solidFill>
            <a:srgbClr val="724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202168" y="2029968"/>
            <a:ext cx="493776" cy="49377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833104" y="2020824"/>
            <a:ext cx="2240280" cy="51206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724CD6"/>
                </a:solidFill>
                <a:latin typeface="Arial"/>
              </a:rPr>
              <a:t>EVIDENCE STANDARD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229600" y="2798063"/>
            <a:ext cx="2834640" cy="16459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161B26"/>
                </a:solidFill>
                <a:latin typeface="Arial"/>
              </a:rPr>
              <a:t>Each fidelity level should answer a different question.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8229600" y="4526280"/>
            <a:ext cx="2834640" cy="27432"/>
          </a:xfrm>
          <a:prstGeom prst="rect">
            <a:avLst/>
          </a:prstGeom>
          <a:solidFill>
            <a:srgbClr val="724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58368" y="5102352"/>
            <a:ext cx="10835640" cy="56692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14400" y="5239512"/>
            <a:ext cx="10241280" cy="29260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250" b="1" i="0">
                <a:solidFill>
                  <a:srgbClr val="161B26"/>
                </a:solidFill>
                <a:latin typeface="Arial"/>
              </a:rPr>
              <a:t>Ask: what user outcome changes, and what evidence would prove it?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724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724CD6"/>
                </a:solidFill>
                <a:latin typeface="Arial"/>
              </a:rPr>
              <a:t>MODULE 2 · PRINCIPLE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21792"/>
            <a:ext cx="10835640" cy="6583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 i="0">
                <a:solidFill>
                  <a:srgbClr val="161B26"/>
                </a:solidFill>
                <a:latin typeface="Arial"/>
              </a:rPr>
              <a:t>Variants are hypotheses, not wallpaper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6419088"/>
            <a:ext cx="4663440" cy="2194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 i="0">
                <a:solidFill>
                  <a:srgbClr val="5B6372"/>
                </a:solidFill>
                <a:latin typeface="Arial"/>
              </a:rPr>
              <a:t>Claude Design for UX/UI · C744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89120" y="6419088"/>
            <a:ext cx="3657600" cy="2194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0" i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26679" y="6419088"/>
            <a:ext cx="2834640" cy="2194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730" b="0" i="1">
                <a:solidFill>
                  <a:srgbClr val="949DA9"/>
                </a:solidFill>
                <a:latin typeface="Arial"/>
              </a:rPr>
              <a:t>Anthropic; Figma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44200" y="6419088"/>
            <a:ext cx="731520" cy="2194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 i="0">
                <a:solidFill>
                  <a:srgbClr val="5B6372"/>
                </a:solidFill>
                <a:latin typeface="Arial"/>
              </a:rPr>
              <a:t>60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58368" y="1691640"/>
            <a:ext cx="2487168" cy="233172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58368" y="1691640"/>
            <a:ext cx="82296" cy="23317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877824" y="1874520"/>
            <a:ext cx="420624" cy="420624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77824" y="1874520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08176" y="1819656"/>
            <a:ext cx="1508760" cy="43891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320" b="1" i="0">
                <a:solidFill>
                  <a:srgbClr val="161B26"/>
                </a:solidFill>
                <a:latin typeface="Arial"/>
              </a:rPr>
              <a:t>Diverge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2386584"/>
            <a:ext cx="1965960" cy="133502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070" b="0" i="0">
                <a:solidFill>
                  <a:srgbClr val="5B6372"/>
                </a:solidFill>
                <a:latin typeface="Arial"/>
              </a:rPr>
              <a:t>Ask for alternatives that differ in information strategy, not just colour.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14400" y="3703320"/>
            <a:ext cx="1078992" cy="25603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3703320"/>
            <a:ext cx="1078992" cy="25603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1" i="0">
                <a:solidFill>
                  <a:srgbClr val="FFFFFF"/>
                </a:solidFill>
                <a:latin typeface="Arial"/>
              </a:rPr>
              <a:t>DESIGN LENS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401568" y="1691640"/>
            <a:ext cx="2487168" cy="233172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401568" y="1691640"/>
            <a:ext cx="82296" cy="2331720"/>
          </a:xfrm>
          <a:prstGeom prst="rect">
            <a:avLst/>
          </a:prstGeom>
          <a:solidFill>
            <a:srgbClr val="724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3621024" y="1874520"/>
            <a:ext cx="420624" cy="420624"/>
          </a:xfrm>
          <a:prstGeom prst="ellipse">
            <a:avLst/>
          </a:prstGeom>
          <a:solidFill>
            <a:srgbClr val="724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621024" y="1874520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151376" y="1819656"/>
            <a:ext cx="1508760" cy="43891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320" b="1" i="0">
                <a:solidFill>
                  <a:srgbClr val="161B26"/>
                </a:solidFill>
                <a:latin typeface="Arial"/>
              </a:rPr>
              <a:t>Name trade-offs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657600" y="2386584"/>
            <a:ext cx="1965960" cy="133502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070" b="0" i="0">
                <a:solidFill>
                  <a:srgbClr val="5B6372"/>
                </a:solidFill>
                <a:latin typeface="Arial"/>
              </a:rPr>
              <a:t>State what each direction optimises and what it sacrifices.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657600" y="3703320"/>
            <a:ext cx="1078992" cy="256032"/>
          </a:xfrm>
          <a:prstGeom prst="rect">
            <a:avLst/>
          </a:prstGeom>
          <a:solidFill>
            <a:srgbClr val="724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657600" y="3703320"/>
            <a:ext cx="1078992" cy="25603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1" i="0">
                <a:solidFill>
                  <a:srgbClr val="FFFFFF"/>
                </a:solidFill>
                <a:latin typeface="Arial"/>
              </a:rPr>
              <a:t>DESIGN LENS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144768" y="1691640"/>
            <a:ext cx="2487168" cy="233172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144768" y="1691640"/>
            <a:ext cx="82296" cy="2331720"/>
          </a:xfrm>
          <a:prstGeom prst="rect">
            <a:avLst/>
          </a:prstGeom>
          <a:solidFill>
            <a:srgbClr val="1098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6364224" y="1874520"/>
            <a:ext cx="420624" cy="420624"/>
          </a:xfrm>
          <a:prstGeom prst="ellipse">
            <a:avLst/>
          </a:prstGeom>
          <a:solidFill>
            <a:srgbClr val="1098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364224" y="1874520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894576" y="1819656"/>
            <a:ext cx="1508760" cy="43891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320" b="1" i="0">
                <a:solidFill>
                  <a:srgbClr val="161B26"/>
                </a:solidFill>
                <a:latin typeface="Arial"/>
              </a:rPr>
              <a:t>Evaluate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00800" y="2386584"/>
            <a:ext cx="1965960" cy="133502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070" b="0" i="0">
                <a:solidFill>
                  <a:srgbClr val="5B6372"/>
                </a:solidFill>
                <a:latin typeface="Arial"/>
              </a:rPr>
              <a:t>Use the same success criteria for every variant.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400800" y="3703320"/>
            <a:ext cx="1078992" cy="256032"/>
          </a:xfrm>
          <a:prstGeom prst="rect">
            <a:avLst/>
          </a:prstGeom>
          <a:solidFill>
            <a:srgbClr val="1098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400800" y="3703320"/>
            <a:ext cx="1078992" cy="25603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1" i="0">
                <a:solidFill>
                  <a:srgbClr val="FFFFFF"/>
                </a:solidFill>
                <a:latin typeface="Arial"/>
              </a:rPr>
              <a:t>DESIGN LENS</a:t>
            </a:r>
          </a:p>
        </p:txBody>
      </p:sp>
      <p:sp>
        <p:nvSpPr>
          <p:cNvPr id="35" name="Rectangle 34"/>
          <p:cNvSpPr/>
          <p:nvPr/>
        </p:nvSpPr>
        <p:spPr>
          <a:xfrm>
            <a:off x="8887968" y="1691640"/>
            <a:ext cx="2487168" cy="233172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8887968" y="1691640"/>
            <a:ext cx="82296" cy="2331720"/>
          </a:xfrm>
          <a:prstGeom prst="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9107424" y="1874520"/>
            <a:ext cx="420624" cy="420624"/>
          </a:xfrm>
          <a:prstGeom prst="ellipse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107424" y="1874520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637776" y="1819656"/>
            <a:ext cx="1508760" cy="43891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320" b="1" i="0">
                <a:solidFill>
                  <a:srgbClr val="161B26"/>
                </a:solidFill>
                <a:latin typeface="Arial"/>
              </a:rPr>
              <a:t>Converge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144000" y="2386584"/>
            <a:ext cx="1965960" cy="133502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070" b="0" i="0">
                <a:solidFill>
                  <a:srgbClr val="5B6372"/>
                </a:solidFill>
                <a:latin typeface="Arial"/>
              </a:rPr>
              <a:t>Combine evidence-backed strengths rather than voting by taste.</a:t>
            </a:r>
          </a:p>
        </p:txBody>
      </p:sp>
      <p:sp>
        <p:nvSpPr>
          <p:cNvPr id="41" name="Rectangle 40"/>
          <p:cNvSpPr/>
          <p:nvPr/>
        </p:nvSpPr>
        <p:spPr>
          <a:xfrm>
            <a:off x="9144000" y="3703320"/>
            <a:ext cx="1078992" cy="256032"/>
          </a:xfrm>
          <a:prstGeom prst="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9144000" y="3703320"/>
            <a:ext cx="1078992" cy="25603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1" i="0">
                <a:solidFill>
                  <a:srgbClr val="FFFFFF"/>
                </a:solidFill>
                <a:latin typeface="Arial"/>
              </a:rPr>
              <a:t>DESIGN LENS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58368" y="4315968"/>
            <a:ext cx="10835640" cy="13258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914400" y="4480560"/>
            <a:ext cx="1828800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 i="0">
                <a:solidFill>
                  <a:srgbClr val="724CD6"/>
                </a:solidFill>
                <a:latin typeface="Arial"/>
              </a:rPr>
              <a:t>SYNTHESIS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14400" y="4846320"/>
            <a:ext cx="10195560" cy="56692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 i="0">
                <a:solidFill>
                  <a:srgbClr val="161B26"/>
                </a:solidFill>
                <a:latin typeface="Arial"/>
              </a:rPr>
              <a:t>Ask for alternatives that differ in information strategy, not just colour; combine evidence-backed strengths rather than voting by taste.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724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724CD6"/>
                </a:solidFill>
                <a:latin typeface="Arial"/>
              </a:rPr>
              <a:t>MODULE 2 · CASE LENS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21792"/>
            <a:ext cx="10835640" cy="6583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500" b="1" i="0">
                <a:solidFill>
                  <a:srgbClr val="161B26"/>
                </a:solidFill>
                <a:latin typeface="Arial"/>
              </a:rPr>
              <a:t>Variants are hypotheses, not wallpaper — applied judgement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6419088"/>
            <a:ext cx="4663440" cy="2194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 i="0">
                <a:solidFill>
                  <a:srgbClr val="5B6372"/>
                </a:solidFill>
                <a:latin typeface="Arial"/>
              </a:rPr>
              <a:t>Claude Design for UX/UI · C744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89120" y="6419088"/>
            <a:ext cx="3657600" cy="2194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0" i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26679" y="6419088"/>
            <a:ext cx="2834640" cy="2194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730" b="0" i="1">
                <a:solidFill>
                  <a:srgbClr val="949DA9"/>
                </a:solidFill>
                <a:latin typeface="Arial"/>
              </a:rPr>
              <a:t>Anthropic; Figma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44200" y="6419088"/>
            <a:ext cx="731520" cy="2194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 i="0">
                <a:solidFill>
                  <a:srgbClr val="5B6372"/>
                </a:solidFill>
                <a:latin typeface="Arial"/>
              </a:rPr>
              <a:t>61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58368" y="1755648"/>
            <a:ext cx="3392424" cy="3127248"/>
          </a:xfrm>
          <a:prstGeom prst="rect">
            <a:avLst/>
          </a:prstGeom>
          <a:solidFill>
            <a:srgbClr val="FFFFFF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58368" y="1755648"/>
            <a:ext cx="3392424" cy="91440"/>
          </a:xfrm>
          <a:prstGeom prst="rect">
            <a:avLst/>
          </a:prstGeom>
          <a:solidFill>
            <a:srgbClr val="F06F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886968" y="2029968"/>
            <a:ext cx="493776" cy="493776"/>
          </a:xfrm>
          <a:prstGeom prst="ellipse">
            <a:avLst/>
          </a:prstGeom>
          <a:solidFill>
            <a:srgbClr val="F06F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86968" y="2029968"/>
            <a:ext cx="493776" cy="49377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17904" y="2020824"/>
            <a:ext cx="2240280" cy="51206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F06F61"/>
                </a:solidFill>
                <a:latin typeface="Arial"/>
              </a:rPr>
              <a:t>CONTEXT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2798063"/>
            <a:ext cx="2834640" cy="16459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161B26"/>
                </a:solidFill>
                <a:latin typeface="Arial"/>
              </a:rPr>
              <a:t>Three alternatives share the same layout and differ only in accent colour.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14400" y="4526280"/>
            <a:ext cx="2834640" cy="27432"/>
          </a:xfrm>
          <a:prstGeom prst="rect">
            <a:avLst/>
          </a:prstGeom>
          <a:solidFill>
            <a:srgbClr val="F06F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315968" y="1755648"/>
            <a:ext cx="3392424" cy="3127248"/>
          </a:xfrm>
          <a:prstGeom prst="rect">
            <a:avLst/>
          </a:prstGeom>
          <a:solidFill>
            <a:srgbClr val="FFFFFF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315968" y="1755648"/>
            <a:ext cx="3392424" cy="91440"/>
          </a:xfrm>
          <a:prstGeom prst="rect">
            <a:avLst/>
          </a:prstGeom>
          <a:solidFill>
            <a:srgbClr val="1098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4544568" y="2029968"/>
            <a:ext cx="493776" cy="493776"/>
          </a:xfrm>
          <a:prstGeom prst="ellipse">
            <a:avLst/>
          </a:prstGeom>
          <a:solidFill>
            <a:srgbClr val="1098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544568" y="2029968"/>
            <a:ext cx="493776" cy="49377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175504" y="2020824"/>
            <a:ext cx="2240280" cy="51206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10988A"/>
                </a:solidFill>
                <a:latin typeface="Arial"/>
              </a:rPr>
              <a:t>DESIGN MOVE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0" y="2798063"/>
            <a:ext cx="2834640" cy="16459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161B26"/>
                </a:solidFill>
                <a:latin typeface="Arial"/>
              </a:rPr>
              <a:t>Request distinct hierarchy and navigation strategies tied to the user goal.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572000" y="4526280"/>
            <a:ext cx="2834640" cy="27432"/>
          </a:xfrm>
          <a:prstGeom prst="rect">
            <a:avLst/>
          </a:prstGeom>
          <a:solidFill>
            <a:srgbClr val="1098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7973568" y="1755648"/>
            <a:ext cx="3392424" cy="3127248"/>
          </a:xfrm>
          <a:prstGeom prst="rect">
            <a:avLst/>
          </a:prstGeom>
          <a:solidFill>
            <a:srgbClr val="FFFFFF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973568" y="1755648"/>
            <a:ext cx="3392424" cy="91440"/>
          </a:xfrm>
          <a:prstGeom prst="rect">
            <a:avLst/>
          </a:prstGeom>
          <a:solidFill>
            <a:srgbClr val="724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8202168" y="2029968"/>
            <a:ext cx="493776" cy="493776"/>
          </a:xfrm>
          <a:prstGeom prst="ellipse">
            <a:avLst/>
          </a:prstGeom>
          <a:solidFill>
            <a:srgbClr val="724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202168" y="2029968"/>
            <a:ext cx="493776" cy="49377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833104" y="2020824"/>
            <a:ext cx="2240280" cy="51206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724CD6"/>
                </a:solidFill>
                <a:latin typeface="Arial"/>
              </a:rPr>
              <a:t>EVIDENCE STANDARD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229600" y="2798063"/>
            <a:ext cx="2834640" cy="16459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161B26"/>
                </a:solidFill>
                <a:latin typeface="Arial"/>
              </a:rPr>
              <a:t>Useful variation changes the decision, not the decoration.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8229600" y="4526280"/>
            <a:ext cx="2834640" cy="27432"/>
          </a:xfrm>
          <a:prstGeom prst="rect">
            <a:avLst/>
          </a:prstGeom>
          <a:solidFill>
            <a:srgbClr val="724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58368" y="5102352"/>
            <a:ext cx="10835640" cy="56692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14400" y="5239512"/>
            <a:ext cx="10241280" cy="29260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250" b="1" i="0">
                <a:solidFill>
                  <a:srgbClr val="161B26"/>
                </a:solidFill>
                <a:latin typeface="Arial"/>
              </a:rPr>
              <a:t>Ask: what user outcome changes, and what evidence would prove it?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724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724CD6"/>
                </a:solidFill>
                <a:latin typeface="Arial"/>
              </a:rPr>
              <a:t>MODULE 2 · PRINCIPLE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21792"/>
            <a:ext cx="10835640" cy="6583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 i="0">
                <a:solidFill>
                  <a:srgbClr val="161B26"/>
                </a:solidFill>
                <a:latin typeface="Arial"/>
              </a:rPr>
              <a:t>Choose the right refinement channel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6419088"/>
            <a:ext cx="4663440" cy="2194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 i="0">
                <a:solidFill>
                  <a:srgbClr val="5B6372"/>
                </a:solidFill>
                <a:latin typeface="Arial"/>
              </a:rPr>
              <a:t>Claude Design for UX/UI · C744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89120" y="6419088"/>
            <a:ext cx="3657600" cy="2194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0" i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26679" y="6419088"/>
            <a:ext cx="2834640" cy="2194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730" b="0" i="1">
                <a:solidFill>
                  <a:srgbClr val="949DA9"/>
                </a:solidFill>
                <a:latin typeface="Arial"/>
              </a:rPr>
              <a:t>Anthropic Help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44200" y="6419088"/>
            <a:ext cx="731520" cy="2194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 i="0">
                <a:solidFill>
                  <a:srgbClr val="5B6372"/>
                </a:solidFill>
                <a:latin typeface="Arial"/>
              </a:rPr>
              <a:t>62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58368" y="1691640"/>
            <a:ext cx="2487168" cy="233172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58368" y="1691640"/>
            <a:ext cx="82296" cy="23317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877824" y="1874520"/>
            <a:ext cx="420624" cy="420624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77824" y="1874520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08176" y="1819656"/>
            <a:ext cx="1508760" cy="43891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320" b="1" i="0">
                <a:solidFill>
                  <a:srgbClr val="161B26"/>
                </a:solidFill>
                <a:latin typeface="Arial"/>
              </a:rPr>
              <a:t>Chat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2386584"/>
            <a:ext cx="1965960" cy="133502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070" b="0" i="0">
                <a:solidFill>
                  <a:srgbClr val="5B6372"/>
                </a:solidFill>
                <a:latin typeface="Arial"/>
              </a:rPr>
              <a:t>Broad changes affecting overall layout, tone or information strategy.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14400" y="3703320"/>
            <a:ext cx="1078992" cy="25603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3703320"/>
            <a:ext cx="1078992" cy="25603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1" i="0">
                <a:solidFill>
                  <a:srgbClr val="FFFFFF"/>
                </a:solidFill>
                <a:latin typeface="Arial"/>
              </a:rPr>
              <a:t>DESIGN LENS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401568" y="1691640"/>
            <a:ext cx="2487168" cy="233172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401568" y="1691640"/>
            <a:ext cx="82296" cy="2331720"/>
          </a:xfrm>
          <a:prstGeom prst="rect">
            <a:avLst/>
          </a:prstGeom>
          <a:solidFill>
            <a:srgbClr val="724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3621024" y="1874520"/>
            <a:ext cx="420624" cy="420624"/>
          </a:xfrm>
          <a:prstGeom prst="ellipse">
            <a:avLst/>
          </a:prstGeom>
          <a:solidFill>
            <a:srgbClr val="724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621024" y="1874520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151376" y="1819656"/>
            <a:ext cx="1508760" cy="43891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320" b="1" i="0">
                <a:solidFill>
                  <a:srgbClr val="161B26"/>
                </a:solidFill>
                <a:latin typeface="Arial"/>
              </a:rPr>
              <a:t>Inline comment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657600" y="2386584"/>
            <a:ext cx="1965960" cy="133502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070" b="0" i="0">
                <a:solidFill>
                  <a:srgbClr val="5B6372"/>
                </a:solidFill>
                <a:latin typeface="Arial"/>
              </a:rPr>
              <a:t>A local issue that benefits from contextual discussion.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657600" y="3703320"/>
            <a:ext cx="1078992" cy="256032"/>
          </a:xfrm>
          <a:prstGeom prst="rect">
            <a:avLst/>
          </a:prstGeom>
          <a:solidFill>
            <a:srgbClr val="724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657600" y="3703320"/>
            <a:ext cx="1078992" cy="25603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1" i="0">
                <a:solidFill>
                  <a:srgbClr val="FFFFFF"/>
                </a:solidFill>
                <a:latin typeface="Arial"/>
              </a:rPr>
              <a:t>DESIGN LENS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144768" y="1691640"/>
            <a:ext cx="2487168" cy="233172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144768" y="1691640"/>
            <a:ext cx="82296" cy="2331720"/>
          </a:xfrm>
          <a:prstGeom prst="rect">
            <a:avLst/>
          </a:prstGeom>
          <a:solidFill>
            <a:srgbClr val="1098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6364224" y="1874520"/>
            <a:ext cx="420624" cy="420624"/>
          </a:xfrm>
          <a:prstGeom prst="ellipse">
            <a:avLst/>
          </a:prstGeom>
          <a:solidFill>
            <a:srgbClr val="1098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364224" y="1874520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894576" y="1819656"/>
            <a:ext cx="1508760" cy="43891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320" b="1" i="0">
                <a:solidFill>
                  <a:srgbClr val="161B26"/>
                </a:solidFill>
                <a:latin typeface="Arial"/>
              </a:rPr>
              <a:t>Direct edit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00800" y="2386584"/>
            <a:ext cx="1965960" cy="133502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070" b="0" i="0">
                <a:solidFill>
                  <a:srgbClr val="5B6372"/>
                </a:solidFill>
                <a:latin typeface="Arial"/>
              </a:rPr>
              <a:t>Deterministic text or property corrections on the canvas.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400800" y="3703320"/>
            <a:ext cx="1078992" cy="256032"/>
          </a:xfrm>
          <a:prstGeom prst="rect">
            <a:avLst/>
          </a:prstGeom>
          <a:solidFill>
            <a:srgbClr val="1098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400800" y="3703320"/>
            <a:ext cx="1078992" cy="25603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1" i="0">
                <a:solidFill>
                  <a:srgbClr val="FFFFFF"/>
                </a:solidFill>
                <a:latin typeface="Arial"/>
              </a:rPr>
              <a:t>DESIGN LENS</a:t>
            </a:r>
          </a:p>
        </p:txBody>
      </p:sp>
      <p:sp>
        <p:nvSpPr>
          <p:cNvPr id="35" name="Rectangle 34"/>
          <p:cNvSpPr/>
          <p:nvPr/>
        </p:nvSpPr>
        <p:spPr>
          <a:xfrm>
            <a:off x="8887968" y="1691640"/>
            <a:ext cx="2487168" cy="233172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8887968" y="1691640"/>
            <a:ext cx="82296" cy="2331720"/>
          </a:xfrm>
          <a:prstGeom prst="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9107424" y="1874520"/>
            <a:ext cx="420624" cy="420624"/>
          </a:xfrm>
          <a:prstGeom prst="ellipse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107424" y="1874520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637776" y="1819656"/>
            <a:ext cx="1508760" cy="43891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320" b="1" i="0">
                <a:solidFill>
                  <a:srgbClr val="161B26"/>
                </a:solidFill>
                <a:latin typeface="Arial"/>
              </a:rPr>
              <a:t>Sliders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144000" y="2386584"/>
            <a:ext cx="1965960" cy="133502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070" b="0" i="0">
                <a:solidFill>
                  <a:srgbClr val="5B6372"/>
                </a:solidFill>
                <a:latin typeface="Arial"/>
              </a:rPr>
              <a:t>Controlled exploration of a repeated visual property.</a:t>
            </a:r>
          </a:p>
        </p:txBody>
      </p:sp>
      <p:sp>
        <p:nvSpPr>
          <p:cNvPr id="41" name="Rectangle 40"/>
          <p:cNvSpPr/>
          <p:nvPr/>
        </p:nvSpPr>
        <p:spPr>
          <a:xfrm>
            <a:off x="9144000" y="3703320"/>
            <a:ext cx="1078992" cy="256032"/>
          </a:xfrm>
          <a:prstGeom prst="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9144000" y="3703320"/>
            <a:ext cx="1078992" cy="25603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1" i="0">
                <a:solidFill>
                  <a:srgbClr val="FFFFFF"/>
                </a:solidFill>
                <a:latin typeface="Arial"/>
              </a:rPr>
              <a:t>DESIGN LENS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58368" y="4315968"/>
            <a:ext cx="10835640" cy="13258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914400" y="4480560"/>
            <a:ext cx="1828800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 i="0">
                <a:solidFill>
                  <a:srgbClr val="724CD6"/>
                </a:solidFill>
                <a:latin typeface="Arial"/>
              </a:rPr>
              <a:t>SYNTHESIS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14400" y="4846320"/>
            <a:ext cx="10195560" cy="56692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 i="0">
                <a:solidFill>
                  <a:srgbClr val="161B26"/>
                </a:solidFill>
                <a:latin typeface="Arial"/>
              </a:rPr>
              <a:t>Broad changes affecting overall layout, tone or information strategy; controlled exploration of a repeated visual property.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724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724CD6"/>
                </a:solidFill>
                <a:latin typeface="Arial"/>
              </a:rPr>
              <a:t>MODULE 2 · CASE LENS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21792"/>
            <a:ext cx="10835640" cy="6583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500" b="1" i="0">
                <a:solidFill>
                  <a:srgbClr val="161B26"/>
                </a:solidFill>
                <a:latin typeface="Arial"/>
              </a:rPr>
              <a:t>Choose the right refinement channel — applied judgement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6419088"/>
            <a:ext cx="4663440" cy="2194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 i="0">
                <a:solidFill>
                  <a:srgbClr val="5B6372"/>
                </a:solidFill>
                <a:latin typeface="Arial"/>
              </a:rPr>
              <a:t>Claude Design for UX/UI · C744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89120" y="6419088"/>
            <a:ext cx="3657600" cy="2194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0" i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26679" y="6419088"/>
            <a:ext cx="2834640" cy="2194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730" b="0" i="1">
                <a:solidFill>
                  <a:srgbClr val="949DA9"/>
                </a:solidFill>
                <a:latin typeface="Arial"/>
              </a:rPr>
              <a:t>Anthropic Help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44200" y="6419088"/>
            <a:ext cx="731520" cy="2194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 i="0">
                <a:solidFill>
                  <a:srgbClr val="5B6372"/>
                </a:solidFill>
                <a:latin typeface="Arial"/>
              </a:rPr>
              <a:t>63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58368" y="1755648"/>
            <a:ext cx="3392424" cy="3127248"/>
          </a:xfrm>
          <a:prstGeom prst="rect">
            <a:avLst/>
          </a:prstGeom>
          <a:solidFill>
            <a:srgbClr val="FFFFFF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58368" y="1755648"/>
            <a:ext cx="3392424" cy="91440"/>
          </a:xfrm>
          <a:prstGeom prst="rect">
            <a:avLst/>
          </a:prstGeom>
          <a:solidFill>
            <a:srgbClr val="F06F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886968" y="2029968"/>
            <a:ext cx="493776" cy="493776"/>
          </a:xfrm>
          <a:prstGeom prst="ellipse">
            <a:avLst/>
          </a:prstGeom>
          <a:solidFill>
            <a:srgbClr val="F06F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86968" y="2029968"/>
            <a:ext cx="493776" cy="49377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17904" y="2020824"/>
            <a:ext cx="2240280" cy="51206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F06F61"/>
                </a:solidFill>
                <a:latin typeface="Arial"/>
              </a:rPr>
              <a:t>CONTEXT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2798063"/>
            <a:ext cx="2834640" cy="16459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161B26"/>
                </a:solidFill>
                <a:latin typeface="Arial"/>
              </a:rPr>
              <a:t>A broad request is repeated as dozens of tiny element comments.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14400" y="4526280"/>
            <a:ext cx="2834640" cy="27432"/>
          </a:xfrm>
          <a:prstGeom prst="rect">
            <a:avLst/>
          </a:prstGeom>
          <a:solidFill>
            <a:srgbClr val="F06F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315968" y="1755648"/>
            <a:ext cx="3392424" cy="3127248"/>
          </a:xfrm>
          <a:prstGeom prst="rect">
            <a:avLst/>
          </a:prstGeom>
          <a:solidFill>
            <a:srgbClr val="FFFFFF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315968" y="1755648"/>
            <a:ext cx="3392424" cy="91440"/>
          </a:xfrm>
          <a:prstGeom prst="rect">
            <a:avLst/>
          </a:prstGeom>
          <a:solidFill>
            <a:srgbClr val="1098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4544568" y="2029968"/>
            <a:ext cx="493776" cy="493776"/>
          </a:xfrm>
          <a:prstGeom prst="ellipse">
            <a:avLst/>
          </a:prstGeom>
          <a:solidFill>
            <a:srgbClr val="1098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544568" y="2029968"/>
            <a:ext cx="493776" cy="49377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175504" y="2020824"/>
            <a:ext cx="2240280" cy="51206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10988A"/>
                </a:solidFill>
                <a:latin typeface="Arial"/>
              </a:rPr>
              <a:t>DESIGN MOVE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0" y="2798063"/>
            <a:ext cx="2834640" cy="16459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161B26"/>
                </a:solidFill>
                <a:latin typeface="Arial"/>
              </a:rPr>
              <a:t>Use chat for the system-level change, then comments for remaining local exceptions.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572000" y="4526280"/>
            <a:ext cx="2834640" cy="27432"/>
          </a:xfrm>
          <a:prstGeom prst="rect">
            <a:avLst/>
          </a:prstGeom>
          <a:solidFill>
            <a:srgbClr val="1098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7973568" y="1755648"/>
            <a:ext cx="3392424" cy="3127248"/>
          </a:xfrm>
          <a:prstGeom prst="rect">
            <a:avLst/>
          </a:prstGeom>
          <a:solidFill>
            <a:srgbClr val="FFFFFF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973568" y="1755648"/>
            <a:ext cx="3392424" cy="91440"/>
          </a:xfrm>
          <a:prstGeom prst="rect">
            <a:avLst/>
          </a:prstGeom>
          <a:solidFill>
            <a:srgbClr val="724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8202168" y="2029968"/>
            <a:ext cx="493776" cy="493776"/>
          </a:xfrm>
          <a:prstGeom prst="ellipse">
            <a:avLst/>
          </a:prstGeom>
          <a:solidFill>
            <a:srgbClr val="724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202168" y="2029968"/>
            <a:ext cx="493776" cy="49377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833104" y="2020824"/>
            <a:ext cx="2240280" cy="51206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724CD6"/>
                </a:solidFill>
                <a:latin typeface="Arial"/>
              </a:rPr>
              <a:t>EVIDENCE STANDARD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229600" y="2798063"/>
            <a:ext cx="2834640" cy="16459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161B26"/>
                </a:solidFill>
                <a:latin typeface="Arial"/>
              </a:rPr>
              <a:t>Match the communication channel to the scope of change.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8229600" y="4526280"/>
            <a:ext cx="2834640" cy="27432"/>
          </a:xfrm>
          <a:prstGeom prst="rect">
            <a:avLst/>
          </a:prstGeom>
          <a:solidFill>
            <a:srgbClr val="724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58368" y="5102352"/>
            <a:ext cx="10835640" cy="56692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14400" y="5239512"/>
            <a:ext cx="10241280" cy="29260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250" b="1" i="0">
                <a:solidFill>
                  <a:srgbClr val="161B26"/>
                </a:solidFill>
                <a:latin typeface="Arial"/>
              </a:rPr>
              <a:t>Ask: what user outcome changes, and what evidence would prove it?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724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724CD6"/>
                </a:solidFill>
                <a:latin typeface="Arial"/>
              </a:rPr>
              <a:t>MODULE 2 · PRINCIPLE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21792"/>
            <a:ext cx="10835640" cy="6583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 i="0">
                <a:solidFill>
                  <a:srgbClr val="161B26"/>
                </a:solidFill>
                <a:latin typeface="Arial"/>
              </a:rPr>
              <a:t>Versions turn iteration into evidence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6419088"/>
            <a:ext cx="4663440" cy="2194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 i="0">
                <a:solidFill>
                  <a:srgbClr val="5B6372"/>
                </a:solidFill>
                <a:latin typeface="Arial"/>
              </a:rPr>
              <a:t>Claude Design for UX/UI · C744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89120" y="6419088"/>
            <a:ext cx="3657600" cy="2194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0" i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26679" y="6419088"/>
            <a:ext cx="2834640" cy="2194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730" b="0" i="1">
                <a:solidFill>
                  <a:srgbClr val="949DA9"/>
                </a:solidFill>
                <a:latin typeface="Arial"/>
              </a:rPr>
              <a:t>Anthropic Help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44200" y="6419088"/>
            <a:ext cx="731520" cy="2194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 i="0">
                <a:solidFill>
                  <a:srgbClr val="5B6372"/>
                </a:solidFill>
                <a:latin typeface="Arial"/>
              </a:rPr>
              <a:t>64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58368" y="1691640"/>
            <a:ext cx="2487168" cy="233172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58368" y="1691640"/>
            <a:ext cx="82296" cy="23317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877824" y="1874520"/>
            <a:ext cx="420624" cy="420624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77824" y="1874520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08176" y="1819656"/>
            <a:ext cx="1508760" cy="43891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320" b="1" i="0">
                <a:solidFill>
                  <a:srgbClr val="161B26"/>
                </a:solidFill>
                <a:latin typeface="Arial"/>
              </a:rPr>
              <a:t>Checkpoint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2386584"/>
            <a:ext cx="1965960" cy="133502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070" b="0" i="0">
                <a:solidFill>
                  <a:srgbClr val="5B6372"/>
                </a:solidFill>
                <a:latin typeface="Arial"/>
              </a:rPr>
              <a:t>Save a named state before a significant direction change.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14400" y="3703320"/>
            <a:ext cx="1078992" cy="25603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3703320"/>
            <a:ext cx="1078992" cy="25603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1" i="0">
                <a:solidFill>
                  <a:srgbClr val="FFFFFF"/>
                </a:solidFill>
                <a:latin typeface="Arial"/>
              </a:rPr>
              <a:t>DESIGN LENS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401568" y="1691640"/>
            <a:ext cx="2487168" cy="233172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401568" y="1691640"/>
            <a:ext cx="82296" cy="2331720"/>
          </a:xfrm>
          <a:prstGeom prst="rect">
            <a:avLst/>
          </a:prstGeom>
          <a:solidFill>
            <a:srgbClr val="724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3621024" y="1874520"/>
            <a:ext cx="420624" cy="420624"/>
          </a:xfrm>
          <a:prstGeom prst="ellipse">
            <a:avLst/>
          </a:prstGeom>
          <a:solidFill>
            <a:srgbClr val="724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621024" y="1874520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151376" y="1819656"/>
            <a:ext cx="1508760" cy="43891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320" b="1" i="0">
                <a:solidFill>
                  <a:srgbClr val="161B26"/>
                </a:solidFill>
                <a:latin typeface="Arial"/>
              </a:rPr>
              <a:t>Compare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657600" y="2386584"/>
            <a:ext cx="1965960" cy="133502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070" b="0" i="0">
                <a:solidFill>
                  <a:srgbClr val="5B6372"/>
                </a:solidFill>
                <a:latin typeface="Arial"/>
              </a:rPr>
              <a:t>Review versions against the same task and criteria.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657600" y="3703320"/>
            <a:ext cx="1078992" cy="256032"/>
          </a:xfrm>
          <a:prstGeom prst="rect">
            <a:avLst/>
          </a:prstGeom>
          <a:solidFill>
            <a:srgbClr val="724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657600" y="3703320"/>
            <a:ext cx="1078992" cy="25603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1" i="0">
                <a:solidFill>
                  <a:srgbClr val="FFFFFF"/>
                </a:solidFill>
                <a:latin typeface="Arial"/>
              </a:rPr>
              <a:t>DESIGN LENS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144768" y="1691640"/>
            <a:ext cx="2487168" cy="233172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144768" y="1691640"/>
            <a:ext cx="82296" cy="2331720"/>
          </a:xfrm>
          <a:prstGeom prst="rect">
            <a:avLst/>
          </a:prstGeom>
          <a:solidFill>
            <a:srgbClr val="1098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6364224" y="1874520"/>
            <a:ext cx="420624" cy="420624"/>
          </a:xfrm>
          <a:prstGeom prst="ellipse">
            <a:avLst/>
          </a:prstGeom>
          <a:solidFill>
            <a:srgbClr val="1098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364224" y="1874520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894576" y="1819656"/>
            <a:ext cx="1508760" cy="43891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320" b="1" i="0">
                <a:solidFill>
                  <a:srgbClr val="161B26"/>
                </a:solidFill>
                <a:latin typeface="Arial"/>
              </a:rPr>
              <a:t>Explain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00800" y="2386584"/>
            <a:ext cx="1965960" cy="133502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070" b="0" i="0">
                <a:solidFill>
                  <a:srgbClr val="5B6372"/>
                </a:solidFill>
                <a:latin typeface="Arial"/>
              </a:rPr>
              <a:t>Record why the change was made and what evidence informed it.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400800" y="3703320"/>
            <a:ext cx="1078992" cy="256032"/>
          </a:xfrm>
          <a:prstGeom prst="rect">
            <a:avLst/>
          </a:prstGeom>
          <a:solidFill>
            <a:srgbClr val="1098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400800" y="3703320"/>
            <a:ext cx="1078992" cy="25603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1" i="0">
                <a:solidFill>
                  <a:srgbClr val="FFFFFF"/>
                </a:solidFill>
                <a:latin typeface="Arial"/>
              </a:rPr>
              <a:t>DESIGN LENS</a:t>
            </a:r>
          </a:p>
        </p:txBody>
      </p:sp>
      <p:sp>
        <p:nvSpPr>
          <p:cNvPr id="35" name="Rectangle 34"/>
          <p:cNvSpPr/>
          <p:nvPr/>
        </p:nvSpPr>
        <p:spPr>
          <a:xfrm>
            <a:off x="8887968" y="1691640"/>
            <a:ext cx="2487168" cy="233172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8887968" y="1691640"/>
            <a:ext cx="82296" cy="2331720"/>
          </a:xfrm>
          <a:prstGeom prst="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9107424" y="1874520"/>
            <a:ext cx="420624" cy="420624"/>
          </a:xfrm>
          <a:prstGeom prst="ellipse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107424" y="1874520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637776" y="1819656"/>
            <a:ext cx="1508760" cy="43891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320" b="1" i="0">
                <a:solidFill>
                  <a:srgbClr val="161B26"/>
                </a:solidFill>
                <a:latin typeface="Arial"/>
              </a:rPr>
              <a:t>Recover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144000" y="2386584"/>
            <a:ext cx="1965960" cy="133502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070" b="0" i="0">
                <a:solidFill>
                  <a:srgbClr val="5B6372"/>
                </a:solidFill>
                <a:latin typeface="Arial"/>
              </a:rPr>
              <a:t>Return to a known-good state when exploration degrades the design.</a:t>
            </a:r>
          </a:p>
        </p:txBody>
      </p:sp>
      <p:sp>
        <p:nvSpPr>
          <p:cNvPr id="41" name="Rectangle 40"/>
          <p:cNvSpPr/>
          <p:nvPr/>
        </p:nvSpPr>
        <p:spPr>
          <a:xfrm>
            <a:off x="9144000" y="3703320"/>
            <a:ext cx="1078992" cy="256032"/>
          </a:xfrm>
          <a:prstGeom prst="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9144000" y="3703320"/>
            <a:ext cx="1078992" cy="25603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1" i="0">
                <a:solidFill>
                  <a:srgbClr val="FFFFFF"/>
                </a:solidFill>
                <a:latin typeface="Arial"/>
              </a:rPr>
              <a:t>DESIGN LENS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58368" y="4315968"/>
            <a:ext cx="10835640" cy="13258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914400" y="4480560"/>
            <a:ext cx="1828800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 i="0">
                <a:solidFill>
                  <a:srgbClr val="724CD6"/>
                </a:solidFill>
                <a:latin typeface="Arial"/>
              </a:rPr>
              <a:t>SYNTHESIS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14400" y="4846320"/>
            <a:ext cx="10195560" cy="56692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 i="0">
                <a:solidFill>
                  <a:srgbClr val="161B26"/>
                </a:solidFill>
                <a:latin typeface="Arial"/>
              </a:rPr>
              <a:t>Save a named state before a significant direction change; return to a known-good state when exploration degrades the design.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724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724CD6"/>
                </a:solidFill>
                <a:latin typeface="Arial"/>
              </a:rPr>
              <a:t>MODULE 2 · CASE LENS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21792"/>
            <a:ext cx="10835640" cy="6583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500" b="1" i="0">
                <a:solidFill>
                  <a:srgbClr val="161B26"/>
                </a:solidFill>
                <a:latin typeface="Arial"/>
              </a:rPr>
              <a:t>Versions turn iteration into evidence — applied judgement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6419088"/>
            <a:ext cx="4663440" cy="2194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 i="0">
                <a:solidFill>
                  <a:srgbClr val="5B6372"/>
                </a:solidFill>
                <a:latin typeface="Arial"/>
              </a:rPr>
              <a:t>Claude Design for UX/UI · C744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89120" y="6419088"/>
            <a:ext cx="3657600" cy="2194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0" i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26679" y="6419088"/>
            <a:ext cx="2834640" cy="2194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730" b="0" i="1">
                <a:solidFill>
                  <a:srgbClr val="949DA9"/>
                </a:solidFill>
                <a:latin typeface="Arial"/>
              </a:rPr>
              <a:t>Anthropic Help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44200" y="6419088"/>
            <a:ext cx="731520" cy="2194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 i="0">
                <a:solidFill>
                  <a:srgbClr val="5B6372"/>
                </a:solidFill>
                <a:latin typeface="Arial"/>
              </a:rPr>
              <a:t>65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58368" y="1755648"/>
            <a:ext cx="3392424" cy="3127248"/>
          </a:xfrm>
          <a:prstGeom prst="rect">
            <a:avLst/>
          </a:prstGeom>
          <a:solidFill>
            <a:srgbClr val="FFFFFF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58368" y="1755648"/>
            <a:ext cx="3392424" cy="91440"/>
          </a:xfrm>
          <a:prstGeom prst="rect">
            <a:avLst/>
          </a:prstGeom>
          <a:solidFill>
            <a:srgbClr val="F06F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886968" y="2029968"/>
            <a:ext cx="493776" cy="493776"/>
          </a:xfrm>
          <a:prstGeom prst="ellipse">
            <a:avLst/>
          </a:prstGeom>
          <a:solidFill>
            <a:srgbClr val="F06F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86968" y="2029968"/>
            <a:ext cx="493776" cy="49377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17904" y="2020824"/>
            <a:ext cx="2240280" cy="51206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F06F61"/>
                </a:solidFill>
                <a:latin typeface="Arial"/>
              </a:rPr>
              <a:t>CONTEXT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2798063"/>
            <a:ext cx="2834640" cy="16459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161B26"/>
                </a:solidFill>
                <a:latin typeface="Arial"/>
              </a:rPr>
              <a:t>A strong version is overwritten by successive experimental prompts.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14400" y="4526280"/>
            <a:ext cx="2834640" cy="27432"/>
          </a:xfrm>
          <a:prstGeom prst="rect">
            <a:avLst/>
          </a:prstGeom>
          <a:solidFill>
            <a:srgbClr val="F06F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315968" y="1755648"/>
            <a:ext cx="3392424" cy="3127248"/>
          </a:xfrm>
          <a:prstGeom prst="rect">
            <a:avLst/>
          </a:prstGeom>
          <a:solidFill>
            <a:srgbClr val="FFFFFF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315968" y="1755648"/>
            <a:ext cx="3392424" cy="91440"/>
          </a:xfrm>
          <a:prstGeom prst="rect">
            <a:avLst/>
          </a:prstGeom>
          <a:solidFill>
            <a:srgbClr val="1098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4544568" y="2029968"/>
            <a:ext cx="493776" cy="493776"/>
          </a:xfrm>
          <a:prstGeom prst="ellipse">
            <a:avLst/>
          </a:prstGeom>
          <a:solidFill>
            <a:srgbClr val="1098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544568" y="2029968"/>
            <a:ext cx="493776" cy="49377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175504" y="2020824"/>
            <a:ext cx="2240280" cy="51206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10988A"/>
                </a:solidFill>
                <a:latin typeface="Arial"/>
              </a:rPr>
              <a:t>DESIGN MOVE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0" y="2798063"/>
            <a:ext cx="2834640" cy="16459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161B26"/>
                </a:solidFill>
                <a:latin typeface="Arial"/>
              </a:rPr>
              <a:t>Create checkpoints and log the rationale before broad iterations.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572000" y="4526280"/>
            <a:ext cx="2834640" cy="27432"/>
          </a:xfrm>
          <a:prstGeom prst="rect">
            <a:avLst/>
          </a:prstGeom>
          <a:solidFill>
            <a:srgbClr val="1098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7973568" y="1755648"/>
            <a:ext cx="3392424" cy="3127248"/>
          </a:xfrm>
          <a:prstGeom prst="rect">
            <a:avLst/>
          </a:prstGeom>
          <a:solidFill>
            <a:srgbClr val="FFFFFF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973568" y="1755648"/>
            <a:ext cx="3392424" cy="91440"/>
          </a:xfrm>
          <a:prstGeom prst="rect">
            <a:avLst/>
          </a:prstGeom>
          <a:solidFill>
            <a:srgbClr val="724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8202168" y="2029968"/>
            <a:ext cx="493776" cy="493776"/>
          </a:xfrm>
          <a:prstGeom prst="ellipse">
            <a:avLst/>
          </a:prstGeom>
          <a:solidFill>
            <a:srgbClr val="724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202168" y="2029968"/>
            <a:ext cx="493776" cy="49377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833104" y="2020824"/>
            <a:ext cx="2240280" cy="51206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724CD6"/>
                </a:solidFill>
                <a:latin typeface="Arial"/>
              </a:rPr>
              <a:t>EVIDENCE STANDARD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229600" y="2798063"/>
            <a:ext cx="2834640" cy="16459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161B26"/>
                </a:solidFill>
                <a:latin typeface="Arial"/>
              </a:rPr>
              <a:t>Version history supports judgement, not only undo.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8229600" y="4526280"/>
            <a:ext cx="2834640" cy="27432"/>
          </a:xfrm>
          <a:prstGeom prst="rect">
            <a:avLst/>
          </a:prstGeom>
          <a:solidFill>
            <a:srgbClr val="724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58368" y="5102352"/>
            <a:ext cx="10835640" cy="56692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14400" y="5239512"/>
            <a:ext cx="10241280" cy="29260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250" b="1" i="0">
                <a:solidFill>
                  <a:srgbClr val="161B26"/>
                </a:solidFill>
                <a:latin typeface="Arial"/>
              </a:rPr>
              <a:t>Ask: what user outcome changes, and what evidence would prove it?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724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724CD6"/>
                </a:solidFill>
                <a:latin typeface="Arial"/>
              </a:rPr>
              <a:t>MODULE 2 · PRINCIPLE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21792"/>
            <a:ext cx="10835640" cy="6583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 i="0">
                <a:solidFill>
                  <a:srgbClr val="161B26"/>
                </a:solidFill>
                <a:latin typeface="Arial"/>
              </a:rPr>
              <a:t>Responsive design is a set of priorities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6419088"/>
            <a:ext cx="4663440" cy="2194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 i="0">
                <a:solidFill>
                  <a:srgbClr val="5B6372"/>
                </a:solidFill>
                <a:latin typeface="Arial"/>
              </a:rPr>
              <a:t>Claude Design for UX/UI · C744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89120" y="6419088"/>
            <a:ext cx="3657600" cy="2194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0" i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26679" y="6419088"/>
            <a:ext cx="2834640" cy="2194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730" b="0" i="1">
                <a:solidFill>
                  <a:srgbClr val="949DA9"/>
                </a:solidFill>
                <a:latin typeface="Arial"/>
              </a:rPr>
              <a:t>Microsoft; WeWeb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44200" y="6419088"/>
            <a:ext cx="731520" cy="2194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 i="0">
                <a:solidFill>
                  <a:srgbClr val="5B6372"/>
                </a:solidFill>
                <a:latin typeface="Arial"/>
              </a:rPr>
              <a:t>66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58368" y="1691640"/>
            <a:ext cx="2487168" cy="233172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58368" y="1691640"/>
            <a:ext cx="82296" cy="23317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877824" y="1874520"/>
            <a:ext cx="420624" cy="420624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77824" y="1874520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08176" y="1819656"/>
            <a:ext cx="1508760" cy="43891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320" b="1" i="0">
                <a:solidFill>
                  <a:srgbClr val="161B26"/>
                </a:solidFill>
                <a:latin typeface="Arial"/>
              </a:rPr>
              <a:t>Content priority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2386584"/>
            <a:ext cx="1965960" cy="133502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070" b="0" i="0">
                <a:solidFill>
                  <a:srgbClr val="5B6372"/>
                </a:solidFill>
                <a:latin typeface="Arial"/>
              </a:rPr>
              <a:t>Decide what remains, collapses, moves or disappears by breakpoint.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14400" y="3703320"/>
            <a:ext cx="1078992" cy="25603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3703320"/>
            <a:ext cx="1078992" cy="25603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1" i="0">
                <a:solidFill>
                  <a:srgbClr val="FFFFFF"/>
                </a:solidFill>
                <a:latin typeface="Arial"/>
              </a:rPr>
              <a:t>DESIGN LENS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401568" y="1691640"/>
            <a:ext cx="2487168" cy="233172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401568" y="1691640"/>
            <a:ext cx="82296" cy="2331720"/>
          </a:xfrm>
          <a:prstGeom prst="rect">
            <a:avLst/>
          </a:prstGeom>
          <a:solidFill>
            <a:srgbClr val="724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3621024" y="1874520"/>
            <a:ext cx="420624" cy="420624"/>
          </a:xfrm>
          <a:prstGeom prst="ellipse">
            <a:avLst/>
          </a:prstGeom>
          <a:solidFill>
            <a:srgbClr val="724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621024" y="1874520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151376" y="1819656"/>
            <a:ext cx="1508760" cy="43891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320" b="1" i="0">
                <a:solidFill>
                  <a:srgbClr val="161B26"/>
                </a:solidFill>
                <a:latin typeface="Arial"/>
              </a:rPr>
              <a:t>Layout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657600" y="2386584"/>
            <a:ext cx="1965960" cy="133502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070" b="0" i="0">
                <a:solidFill>
                  <a:srgbClr val="5B6372"/>
                </a:solidFill>
                <a:latin typeface="Arial"/>
              </a:rPr>
              <a:t>Use fluid grids, min/max constraints and intentional stacking.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657600" y="3703320"/>
            <a:ext cx="1078992" cy="256032"/>
          </a:xfrm>
          <a:prstGeom prst="rect">
            <a:avLst/>
          </a:prstGeom>
          <a:solidFill>
            <a:srgbClr val="724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657600" y="3703320"/>
            <a:ext cx="1078992" cy="25603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1" i="0">
                <a:solidFill>
                  <a:srgbClr val="FFFFFF"/>
                </a:solidFill>
                <a:latin typeface="Arial"/>
              </a:rPr>
              <a:t>DESIGN LENS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144768" y="1691640"/>
            <a:ext cx="2487168" cy="233172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144768" y="1691640"/>
            <a:ext cx="82296" cy="2331720"/>
          </a:xfrm>
          <a:prstGeom prst="rect">
            <a:avLst/>
          </a:prstGeom>
          <a:solidFill>
            <a:srgbClr val="1098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6364224" y="1874520"/>
            <a:ext cx="420624" cy="420624"/>
          </a:xfrm>
          <a:prstGeom prst="ellipse">
            <a:avLst/>
          </a:prstGeom>
          <a:solidFill>
            <a:srgbClr val="1098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364224" y="1874520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894576" y="1819656"/>
            <a:ext cx="1508760" cy="43891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320" b="1" i="0">
                <a:solidFill>
                  <a:srgbClr val="161B26"/>
                </a:solidFill>
                <a:latin typeface="Arial"/>
              </a:rPr>
              <a:t>Interaction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00800" y="2386584"/>
            <a:ext cx="1965960" cy="133502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070" b="0" i="0">
                <a:solidFill>
                  <a:srgbClr val="5B6372"/>
                </a:solidFill>
                <a:latin typeface="Arial"/>
              </a:rPr>
              <a:t>Adjust navigation, touch targets and hover-dependent behaviour.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400800" y="3703320"/>
            <a:ext cx="1078992" cy="256032"/>
          </a:xfrm>
          <a:prstGeom prst="rect">
            <a:avLst/>
          </a:prstGeom>
          <a:solidFill>
            <a:srgbClr val="1098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400800" y="3703320"/>
            <a:ext cx="1078992" cy="25603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1" i="0">
                <a:solidFill>
                  <a:srgbClr val="FFFFFF"/>
                </a:solidFill>
                <a:latin typeface="Arial"/>
              </a:rPr>
              <a:t>DESIGN LENS</a:t>
            </a:r>
          </a:p>
        </p:txBody>
      </p:sp>
      <p:sp>
        <p:nvSpPr>
          <p:cNvPr id="35" name="Rectangle 34"/>
          <p:cNvSpPr/>
          <p:nvPr/>
        </p:nvSpPr>
        <p:spPr>
          <a:xfrm>
            <a:off x="8887968" y="1691640"/>
            <a:ext cx="2487168" cy="233172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8887968" y="1691640"/>
            <a:ext cx="82296" cy="2331720"/>
          </a:xfrm>
          <a:prstGeom prst="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9107424" y="1874520"/>
            <a:ext cx="420624" cy="420624"/>
          </a:xfrm>
          <a:prstGeom prst="ellipse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107424" y="1874520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637776" y="1819656"/>
            <a:ext cx="1508760" cy="43891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320" b="1" i="0">
                <a:solidFill>
                  <a:srgbClr val="161B26"/>
                </a:solidFill>
                <a:latin typeface="Arial"/>
              </a:rPr>
              <a:t>Validation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144000" y="2386584"/>
            <a:ext cx="1965960" cy="133502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070" b="0" i="0">
                <a:solidFill>
                  <a:srgbClr val="5B6372"/>
                </a:solidFill>
                <a:latin typeface="Arial"/>
              </a:rPr>
              <a:t>Test realistic content and states across widths.</a:t>
            </a:r>
          </a:p>
        </p:txBody>
      </p:sp>
      <p:sp>
        <p:nvSpPr>
          <p:cNvPr id="41" name="Rectangle 40"/>
          <p:cNvSpPr/>
          <p:nvPr/>
        </p:nvSpPr>
        <p:spPr>
          <a:xfrm>
            <a:off x="9144000" y="3703320"/>
            <a:ext cx="1078992" cy="256032"/>
          </a:xfrm>
          <a:prstGeom prst="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9144000" y="3703320"/>
            <a:ext cx="1078992" cy="25603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1" i="0">
                <a:solidFill>
                  <a:srgbClr val="FFFFFF"/>
                </a:solidFill>
                <a:latin typeface="Arial"/>
              </a:rPr>
              <a:t>DESIGN LENS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58368" y="4315968"/>
            <a:ext cx="10835640" cy="13258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914400" y="4480560"/>
            <a:ext cx="1828800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 i="0">
                <a:solidFill>
                  <a:srgbClr val="724CD6"/>
                </a:solidFill>
                <a:latin typeface="Arial"/>
              </a:rPr>
              <a:t>SYNTHESIS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14400" y="4846320"/>
            <a:ext cx="10195560" cy="56692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 i="0">
                <a:solidFill>
                  <a:srgbClr val="161B26"/>
                </a:solidFill>
                <a:latin typeface="Arial"/>
              </a:rPr>
              <a:t>Decide what remains, collapses, moves or disappears by breakpoint; test realistic content and states across widths.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724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724CD6"/>
                </a:solidFill>
                <a:latin typeface="Arial"/>
              </a:rPr>
              <a:t>MODULE 2 · CASE LENS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21792"/>
            <a:ext cx="10835640" cy="6583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200" b="1" i="0">
                <a:solidFill>
                  <a:srgbClr val="161B26"/>
                </a:solidFill>
                <a:latin typeface="Arial"/>
              </a:rPr>
              <a:t>Responsive design is a set of priorities — applied judgement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6419088"/>
            <a:ext cx="4663440" cy="2194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 i="0">
                <a:solidFill>
                  <a:srgbClr val="5B6372"/>
                </a:solidFill>
                <a:latin typeface="Arial"/>
              </a:rPr>
              <a:t>Claude Design for UX/UI · C744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89120" y="6419088"/>
            <a:ext cx="3657600" cy="2194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0" i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26679" y="6419088"/>
            <a:ext cx="2834640" cy="2194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730" b="0" i="1">
                <a:solidFill>
                  <a:srgbClr val="949DA9"/>
                </a:solidFill>
                <a:latin typeface="Arial"/>
              </a:rPr>
              <a:t>Microsoft; WeWeb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44200" y="6419088"/>
            <a:ext cx="731520" cy="2194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 i="0">
                <a:solidFill>
                  <a:srgbClr val="5B6372"/>
                </a:solidFill>
                <a:latin typeface="Arial"/>
              </a:rPr>
              <a:t>67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58368" y="1755648"/>
            <a:ext cx="3392424" cy="3127248"/>
          </a:xfrm>
          <a:prstGeom prst="rect">
            <a:avLst/>
          </a:prstGeom>
          <a:solidFill>
            <a:srgbClr val="FFFFFF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58368" y="1755648"/>
            <a:ext cx="3392424" cy="91440"/>
          </a:xfrm>
          <a:prstGeom prst="rect">
            <a:avLst/>
          </a:prstGeom>
          <a:solidFill>
            <a:srgbClr val="F06F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886968" y="2029968"/>
            <a:ext cx="493776" cy="493776"/>
          </a:xfrm>
          <a:prstGeom prst="ellipse">
            <a:avLst/>
          </a:prstGeom>
          <a:solidFill>
            <a:srgbClr val="F06F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86968" y="2029968"/>
            <a:ext cx="493776" cy="49377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17904" y="2020824"/>
            <a:ext cx="2240280" cy="51206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F06F61"/>
                </a:solidFill>
                <a:latin typeface="Arial"/>
              </a:rPr>
              <a:t>CONTEXT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2798063"/>
            <a:ext cx="2834640" cy="16459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161B26"/>
                </a:solidFill>
                <a:latin typeface="Arial"/>
              </a:rPr>
              <a:t>A desktop table is simply squeezed until labels become unreadable on mobile.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14400" y="4526280"/>
            <a:ext cx="2834640" cy="27432"/>
          </a:xfrm>
          <a:prstGeom prst="rect">
            <a:avLst/>
          </a:prstGeom>
          <a:solidFill>
            <a:srgbClr val="F06F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315968" y="1755648"/>
            <a:ext cx="3392424" cy="3127248"/>
          </a:xfrm>
          <a:prstGeom prst="rect">
            <a:avLst/>
          </a:prstGeom>
          <a:solidFill>
            <a:srgbClr val="FFFFFF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315968" y="1755648"/>
            <a:ext cx="3392424" cy="91440"/>
          </a:xfrm>
          <a:prstGeom prst="rect">
            <a:avLst/>
          </a:prstGeom>
          <a:solidFill>
            <a:srgbClr val="1098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4544568" y="2029968"/>
            <a:ext cx="493776" cy="493776"/>
          </a:xfrm>
          <a:prstGeom prst="ellipse">
            <a:avLst/>
          </a:prstGeom>
          <a:solidFill>
            <a:srgbClr val="1098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544568" y="2029968"/>
            <a:ext cx="493776" cy="49377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175504" y="2020824"/>
            <a:ext cx="2240280" cy="51206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10988A"/>
                </a:solidFill>
                <a:latin typeface="Arial"/>
              </a:rPr>
              <a:t>DESIGN MOVE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0" y="2798063"/>
            <a:ext cx="2834640" cy="16459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161B26"/>
                </a:solidFill>
                <a:latin typeface="Arial"/>
              </a:rPr>
              <a:t>Transform the information model: prioritise columns, support drill-down and keep actions reachable.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572000" y="4526280"/>
            <a:ext cx="2834640" cy="27432"/>
          </a:xfrm>
          <a:prstGeom prst="rect">
            <a:avLst/>
          </a:prstGeom>
          <a:solidFill>
            <a:srgbClr val="1098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7973568" y="1755648"/>
            <a:ext cx="3392424" cy="3127248"/>
          </a:xfrm>
          <a:prstGeom prst="rect">
            <a:avLst/>
          </a:prstGeom>
          <a:solidFill>
            <a:srgbClr val="FFFFFF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973568" y="1755648"/>
            <a:ext cx="3392424" cy="91440"/>
          </a:xfrm>
          <a:prstGeom prst="rect">
            <a:avLst/>
          </a:prstGeom>
          <a:solidFill>
            <a:srgbClr val="724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8202168" y="2029968"/>
            <a:ext cx="493776" cy="493776"/>
          </a:xfrm>
          <a:prstGeom prst="ellipse">
            <a:avLst/>
          </a:prstGeom>
          <a:solidFill>
            <a:srgbClr val="724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202168" y="2029968"/>
            <a:ext cx="493776" cy="49377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833104" y="2020824"/>
            <a:ext cx="2240280" cy="51206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724CD6"/>
                </a:solidFill>
                <a:latin typeface="Arial"/>
              </a:rPr>
              <a:t>EVIDENCE STANDARD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229600" y="2798063"/>
            <a:ext cx="2834640" cy="16459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161B26"/>
                </a:solidFill>
                <a:latin typeface="Arial"/>
              </a:rPr>
              <a:t>Responsive is behavioural adaptation, not uniform shrinking.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8229600" y="4526280"/>
            <a:ext cx="2834640" cy="27432"/>
          </a:xfrm>
          <a:prstGeom prst="rect">
            <a:avLst/>
          </a:prstGeom>
          <a:solidFill>
            <a:srgbClr val="724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58368" y="5102352"/>
            <a:ext cx="10835640" cy="56692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14400" y="5239512"/>
            <a:ext cx="10241280" cy="29260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250" b="1" i="0">
                <a:solidFill>
                  <a:srgbClr val="161B26"/>
                </a:solidFill>
                <a:latin typeface="Arial"/>
              </a:rPr>
              <a:t>Ask: what user outcome changes, and what evidence would prove it?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724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724CD6"/>
                </a:solidFill>
                <a:latin typeface="Arial"/>
              </a:rPr>
              <a:t>MODULE 2 · PRINCIPLE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21792"/>
            <a:ext cx="10835640" cy="6583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 i="0">
                <a:solidFill>
                  <a:srgbClr val="161B26"/>
                </a:solidFill>
                <a:latin typeface="Arial"/>
              </a:rPr>
              <a:t>Tokens and components create a shared language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6419088"/>
            <a:ext cx="4663440" cy="2194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 i="0">
                <a:solidFill>
                  <a:srgbClr val="5B6372"/>
                </a:solidFill>
                <a:latin typeface="Arial"/>
              </a:rPr>
              <a:t>Claude Design for UX/UI · C744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89120" y="6419088"/>
            <a:ext cx="3657600" cy="2194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0" i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26679" y="6419088"/>
            <a:ext cx="2834640" cy="2194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730" b="0" i="1">
                <a:solidFill>
                  <a:srgbClr val="949DA9"/>
                </a:solidFill>
                <a:latin typeface="Arial"/>
              </a:rPr>
              <a:t>Figma; Interface Design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44200" y="6419088"/>
            <a:ext cx="731520" cy="2194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 i="0">
                <a:solidFill>
                  <a:srgbClr val="5B6372"/>
                </a:solidFill>
                <a:latin typeface="Arial"/>
              </a:rPr>
              <a:t>68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58368" y="1691640"/>
            <a:ext cx="2487168" cy="233172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58368" y="1691640"/>
            <a:ext cx="82296" cy="23317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877824" y="1874520"/>
            <a:ext cx="420624" cy="420624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77824" y="1874520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08176" y="1819656"/>
            <a:ext cx="1508760" cy="43891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320" b="1" i="0">
                <a:solidFill>
                  <a:srgbClr val="161B26"/>
                </a:solidFill>
                <a:latin typeface="Arial"/>
              </a:rPr>
              <a:t>Token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2386584"/>
            <a:ext cx="1965960" cy="133502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070" b="0" i="0">
                <a:solidFill>
                  <a:srgbClr val="5B6372"/>
                </a:solidFill>
                <a:latin typeface="Arial"/>
              </a:rPr>
              <a:t>A named decision such as space-3 or color-action-primary.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14400" y="3703320"/>
            <a:ext cx="1078992" cy="25603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3703320"/>
            <a:ext cx="1078992" cy="25603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1" i="0">
                <a:solidFill>
                  <a:srgbClr val="FFFFFF"/>
                </a:solidFill>
                <a:latin typeface="Arial"/>
              </a:rPr>
              <a:t>DESIGN LENS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401568" y="1691640"/>
            <a:ext cx="2487168" cy="233172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401568" y="1691640"/>
            <a:ext cx="82296" cy="2331720"/>
          </a:xfrm>
          <a:prstGeom prst="rect">
            <a:avLst/>
          </a:prstGeom>
          <a:solidFill>
            <a:srgbClr val="724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3621024" y="1874520"/>
            <a:ext cx="420624" cy="420624"/>
          </a:xfrm>
          <a:prstGeom prst="ellipse">
            <a:avLst/>
          </a:prstGeom>
          <a:solidFill>
            <a:srgbClr val="724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621024" y="1874520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151376" y="1819656"/>
            <a:ext cx="1508760" cy="43891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320" b="1" i="0">
                <a:solidFill>
                  <a:srgbClr val="161B26"/>
                </a:solidFill>
                <a:latin typeface="Arial"/>
              </a:rPr>
              <a:t>Component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657600" y="2386584"/>
            <a:ext cx="1965960" cy="133502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070" b="0" i="0">
                <a:solidFill>
                  <a:srgbClr val="5B6372"/>
                </a:solidFill>
                <a:latin typeface="Arial"/>
              </a:rPr>
              <a:t>A reusable structure with defined anatomy and behaviour.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657600" y="3703320"/>
            <a:ext cx="1078992" cy="256032"/>
          </a:xfrm>
          <a:prstGeom prst="rect">
            <a:avLst/>
          </a:prstGeom>
          <a:solidFill>
            <a:srgbClr val="724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657600" y="3703320"/>
            <a:ext cx="1078992" cy="25603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1" i="0">
                <a:solidFill>
                  <a:srgbClr val="FFFFFF"/>
                </a:solidFill>
                <a:latin typeface="Arial"/>
              </a:rPr>
              <a:t>DESIGN LENS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144768" y="1691640"/>
            <a:ext cx="2487168" cy="233172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144768" y="1691640"/>
            <a:ext cx="82296" cy="2331720"/>
          </a:xfrm>
          <a:prstGeom prst="rect">
            <a:avLst/>
          </a:prstGeom>
          <a:solidFill>
            <a:srgbClr val="1098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6364224" y="1874520"/>
            <a:ext cx="420624" cy="420624"/>
          </a:xfrm>
          <a:prstGeom prst="ellipse">
            <a:avLst/>
          </a:prstGeom>
          <a:solidFill>
            <a:srgbClr val="1098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364224" y="1874520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894576" y="1819656"/>
            <a:ext cx="1508760" cy="43891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320" b="1" i="0">
                <a:solidFill>
                  <a:srgbClr val="161B26"/>
                </a:solidFill>
                <a:latin typeface="Arial"/>
              </a:rPr>
              <a:t>Variant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00800" y="2386584"/>
            <a:ext cx="1965960" cy="133502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070" b="0" i="0">
                <a:solidFill>
                  <a:srgbClr val="5B6372"/>
                </a:solidFill>
                <a:latin typeface="Arial"/>
              </a:rPr>
              <a:t>A controlled expression such as primary, secondary or danger.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400800" y="3703320"/>
            <a:ext cx="1078992" cy="256032"/>
          </a:xfrm>
          <a:prstGeom prst="rect">
            <a:avLst/>
          </a:prstGeom>
          <a:solidFill>
            <a:srgbClr val="1098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400800" y="3703320"/>
            <a:ext cx="1078992" cy="25603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1" i="0">
                <a:solidFill>
                  <a:srgbClr val="FFFFFF"/>
                </a:solidFill>
                <a:latin typeface="Arial"/>
              </a:rPr>
              <a:t>DESIGN LENS</a:t>
            </a:r>
          </a:p>
        </p:txBody>
      </p:sp>
      <p:sp>
        <p:nvSpPr>
          <p:cNvPr id="35" name="Rectangle 34"/>
          <p:cNvSpPr/>
          <p:nvPr/>
        </p:nvSpPr>
        <p:spPr>
          <a:xfrm>
            <a:off x="8887968" y="1691640"/>
            <a:ext cx="2487168" cy="233172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8887968" y="1691640"/>
            <a:ext cx="82296" cy="2331720"/>
          </a:xfrm>
          <a:prstGeom prst="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9107424" y="1874520"/>
            <a:ext cx="420624" cy="420624"/>
          </a:xfrm>
          <a:prstGeom prst="ellipse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107424" y="1874520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637776" y="1819656"/>
            <a:ext cx="1508760" cy="43891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320" b="1" i="0">
                <a:solidFill>
                  <a:srgbClr val="161B26"/>
                </a:solidFill>
                <a:latin typeface="Arial"/>
              </a:rPr>
              <a:t>State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144000" y="2386584"/>
            <a:ext cx="1965960" cy="133502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070" b="0" i="0">
                <a:solidFill>
                  <a:srgbClr val="5B6372"/>
                </a:solidFill>
                <a:latin typeface="Arial"/>
              </a:rPr>
              <a:t>A condition such as hover, focus, disabled, loading or error.</a:t>
            </a:r>
          </a:p>
        </p:txBody>
      </p:sp>
      <p:sp>
        <p:nvSpPr>
          <p:cNvPr id="41" name="Rectangle 40"/>
          <p:cNvSpPr/>
          <p:nvPr/>
        </p:nvSpPr>
        <p:spPr>
          <a:xfrm>
            <a:off x="9144000" y="3703320"/>
            <a:ext cx="1078992" cy="256032"/>
          </a:xfrm>
          <a:prstGeom prst="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9144000" y="3703320"/>
            <a:ext cx="1078992" cy="25603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1" i="0">
                <a:solidFill>
                  <a:srgbClr val="FFFFFF"/>
                </a:solidFill>
                <a:latin typeface="Arial"/>
              </a:rPr>
              <a:t>DESIGN LENS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58368" y="4315968"/>
            <a:ext cx="10835640" cy="13258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914400" y="4480560"/>
            <a:ext cx="1828800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 i="0">
                <a:solidFill>
                  <a:srgbClr val="724CD6"/>
                </a:solidFill>
                <a:latin typeface="Arial"/>
              </a:rPr>
              <a:t>SYNTHESIS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14400" y="4846320"/>
            <a:ext cx="10195560" cy="56692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 i="0">
                <a:solidFill>
                  <a:srgbClr val="161B26"/>
                </a:solidFill>
                <a:latin typeface="Arial"/>
              </a:rPr>
              <a:t>A named decision such as space-3 or color-action-primary; a condition such as hover, focus, disabled, loading or error.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724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724CD6"/>
                </a:solidFill>
                <a:latin typeface="Arial"/>
              </a:rPr>
              <a:t>MODULE 2 · WORKED EXAMPLE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21792"/>
            <a:ext cx="10835640" cy="6583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200" b="1" i="0">
                <a:solidFill>
                  <a:srgbClr val="161B26"/>
                </a:solidFill>
                <a:latin typeface="Arial"/>
              </a:rPr>
              <a:t>Tokens and components create a shared language — applied pattern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6419088"/>
            <a:ext cx="4663440" cy="2194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 i="0">
                <a:solidFill>
                  <a:srgbClr val="5B6372"/>
                </a:solidFill>
                <a:latin typeface="Arial"/>
              </a:rPr>
              <a:t>Claude Design for UX/UI · C744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89120" y="6419088"/>
            <a:ext cx="3657600" cy="2194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0" i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26679" y="6419088"/>
            <a:ext cx="2834640" cy="2194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730" b="0" i="1">
                <a:solidFill>
                  <a:srgbClr val="949DA9"/>
                </a:solidFill>
                <a:latin typeface="Arial"/>
              </a:rPr>
              <a:t>Figma; Interface Design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44200" y="6419088"/>
            <a:ext cx="731520" cy="2194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 i="0">
                <a:solidFill>
                  <a:srgbClr val="5B6372"/>
                </a:solidFill>
                <a:latin typeface="Arial"/>
              </a:rPr>
              <a:t>69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58368" y="1719072"/>
            <a:ext cx="6446520" cy="416052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58368" y="1719072"/>
            <a:ext cx="91440" cy="4160520"/>
          </a:xfrm>
          <a:prstGeom prst="rect">
            <a:avLst/>
          </a:prstGeom>
          <a:solidFill>
            <a:srgbClr val="724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32688" y="1938528"/>
            <a:ext cx="5897880" cy="35204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0"/>
              </a:spcAft>
            </a:pPr>
            <a:r>
              <a:rPr sz="1220" b="0" i="0">
                <a:solidFill>
                  <a:srgbClr val="D6E4FF"/>
                </a:solidFill>
                <a:latin typeface="Consolas"/>
              </a:rPr>
              <a:t>.button--primary { background: var(--color-action); }
.button:focus-visible { outline: 3px solid var(--color-focus); }
.button[aria-busy='true'] { cursor: progress; }
.button:disabled { opacity: .55; }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388352" y="1719072"/>
            <a:ext cx="4105656" cy="120700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388352" y="1719072"/>
            <a:ext cx="82296" cy="120700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7626096" y="1920240"/>
            <a:ext cx="411480" cy="41148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626096" y="1920240"/>
            <a:ext cx="411480" cy="4114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11312" y="1883664"/>
            <a:ext cx="2944368" cy="76809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161B26"/>
                </a:solidFill>
                <a:latin typeface="Arial"/>
              </a:rPr>
              <a:t>Variant is intentional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388352" y="3099815"/>
            <a:ext cx="4105656" cy="120700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7388352" y="3099815"/>
            <a:ext cx="82296" cy="1207008"/>
          </a:xfrm>
          <a:prstGeom prst="rect">
            <a:avLst/>
          </a:prstGeom>
          <a:solidFill>
            <a:srgbClr val="724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7626096" y="3300984"/>
            <a:ext cx="411480" cy="411480"/>
          </a:xfrm>
          <a:prstGeom prst="ellipse">
            <a:avLst/>
          </a:prstGeom>
          <a:solidFill>
            <a:srgbClr val="724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626096" y="3300984"/>
            <a:ext cx="411480" cy="4114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11312" y="3264408"/>
            <a:ext cx="2944368" cy="76809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161B26"/>
                </a:solidFill>
                <a:latin typeface="Arial"/>
              </a:rPr>
              <a:t>Focus stays visible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388352" y="4480559"/>
            <a:ext cx="4105656" cy="120700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7388352" y="4480559"/>
            <a:ext cx="82296" cy="1207008"/>
          </a:xfrm>
          <a:prstGeom prst="rect">
            <a:avLst/>
          </a:prstGeom>
          <a:solidFill>
            <a:srgbClr val="1098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7626096" y="4681727"/>
            <a:ext cx="411480" cy="411480"/>
          </a:xfrm>
          <a:prstGeom prst="ellipse">
            <a:avLst/>
          </a:prstGeom>
          <a:solidFill>
            <a:srgbClr val="1098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626096" y="4681727"/>
            <a:ext cx="411480" cy="4114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211312" y="4645151"/>
            <a:ext cx="2944368" cy="76809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161B26"/>
                </a:solidFill>
                <a:latin typeface="Arial"/>
              </a:rPr>
              <a:t>States are explicit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098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10988A"/>
                </a:solidFill>
                <a:latin typeface="Arial"/>
              </a:rPr>
              <a:t>MODULE 2 · HANDS-ON ACTIVITY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21792"/>
            <a:ext cx="10835640" cy="6583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 i="0">
                <a:solidFill>
                  <a:srgbClr val="161B26"/>
                </a:solidFill>
                <a:latin typeface="Arial"/>
              </a:rPr>
              <a:t>Lab 3 · Claude Design Project and Design System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6419088"/>
            <a:ext cx="4663440" cy="2194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 i="0">
                <a:solidFill>
                  <a:srgbClr val="5B6372"/>
                </a:solidFill>
                <a:latin typeface="Arial"/>
              </a:rPr>
              <a:t>Claude Design for UX/UI · C744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89120" y="6419088"/>
            <a:ext cx="3657600" cy="2194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0" i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44200" y="6419088"/>
            <a:ext cx="731520" cy="2194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 i="0">
                <a:solidFill>
                  <a:srgbClr val="5B6372"/>
                </a:solidFill>
                <a:latin typeface="Arial"/>
              </a:rPr>
              <a:t>70</a:t>
            </a:r>
          </a:p>
        </p:txBody>
      </p:sp>
      <p:sp>
        <p:nvSpPr>
          <p:cNvPr id="10" name="Rectangle 9"/>
          <p:cNvSpPr/>
          <p:nvPr/>
        </p:nvSpPr>
        <p:spPr>
          <a:xfrm>
            <a:off x="9692640" y="310896"/>
            <a:ext cx="1508760" cy="310896"/>
          </a:xfrm>
          <a:prstGeom prst="rect">
            <a:avLst/>
          </a:prstGeom>
          <a:solidFill>
            <a:srgbClr val="1098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92640" y="310896"/>
            <a:ext cx="1508760" cy="31089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 i="0">
                <a:solidFill>
                  <a:srgbClr val="FFFFFF"/>
                </a:solidFill>
                <a:latin typeface="Arial"/>
              </a:rPr>
              <a:t>25 MIN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49808" y="1755648"/>
            <a:ext cx="10378440" cy="80467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0" i="0">
                <a:solidFill>
                  <a:srgbClr val="161B26"/>
                </a:solidFill>
                <a:latin typeface="Arial"/>
              </a:rPr>
              <a:t>Create a Claude Design project and provide a compact design-system contract for the wellness product.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49808" y="2770632"/>
            <a:ext cx="10725912" cy="138988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05840" y="2971800"/>
            <a:ext cx="2011680" cy="2560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 i="0">
                <a:solidFill>
                  <a:srgbClr val="10988A"/>
                </a:solidFill>
                <a:latin typeface="Arial"/>
              </a:rPr>
              <a:t>YOU WILL PRODUCE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05840" y="3401568"/>
            <a:ext cx="10012680" cy="47548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 i="0">
                <a:solidFill>
                  <a:srgbClr val="161B26"/>
                </a:solidFill>
                <a:latin typeface="Arial"/>
              </a:rPr>
              <a:t>project context pack with tokens, component rules and explicit design direction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49808" y="4443984"/>
            <a:ext cx="10725912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05840" y="4626864"/>
            <a:ext cx="10012680" cy="31089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5B6372"/>
                </a:solidFill>
                <a:latin typeface="Arial"/>
              </a:rPr>
              <a:t>Tools: Claude Design · tokens.css · component contract · Full detailed procedure: Learner Guide and labs/lab-03-*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49808" y="5340096"/>
            <a:ext cx="2834640" cy="329184"/>
          </a:xfrm>
          <a:prstGeom prst="rect">
            <a:avLst/>
          </a:prstGeom>
          <a:solidFill>
            <a:srgbClr val="724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49808" y="5340096"/>
            <a:ext cx="2834640" cy="32918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1" i="0">
                <a:solidFill>
                  <a:srgbClr val="FFFFFF"/>
                </a:solidFill>
                <a:latin typeface="Arial"/>
              </a:rPr>
              <a:t>LO2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098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10988A"/>
                </a:solidFill>
                <a:latin typeface="Arial"/>
              </a:rPr>
              <a:t>MODULE 2 · CONCEPTUAL WORKFLOW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21792"/>
            <a:ext cx="10835640" cy="6583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 i="0">
                <a:solidFill>
                  <a:srgbClr val="161B26"/>
                </a:solidFill>
                <a:latin typeface="Arial"/>
              </a:rPr>
              <a:t>Lab 3 · Workflow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6419088"/>
            <a:ext cx="4663440" cy="2194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 i="0">
                <a:solidFill>
                  <a:srgbClr val="5B6372"/>
                </a:solidFill>
                <a:latin typeface="Arial"/>
              </a:rPr>
              <a:t>Claude Design for UX/UI · C744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89120" y="6419088"/>
            <a:ext cx="3657600" cy="2194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0" i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44200" y="6419088"/>
            <a:ext cx="731520" cy="2194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 i="0">
                <a:solidFill>
                  <a:srgbClr val="5B6372"/>
                </a:solidFill>
                <a:latin typeface="Arial"/>
              </a:rPr>
              <a:t>71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49808" y="1938528"/>
            <a:ext cx="1925726" cy="2423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49808" y="1938528"/>
            <a:ext cx="1925726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392631" y="2240280"/>
            <a:ext cx="640080" cy="64008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392631" y="2240280"/>
            <a:ext cx="640080" cy="6400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300" b="1" i="0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86968" y="3017520"/>
            <a:ext cx="1651406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 i="0">
                <a:solidFill>
                  <a:srgbClr val="1F6FEB"/>
                </a:solidFill>
                <a:latin typeface="Arial"/>
              </a:rPr>
              <a:t>Create project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96112" y="3474720"/>
            <a:ext cx="1633118" cy="6126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0" i="0">
                <a:solidFill>
                  <a:srgbClr val="5B6372"/>
                </a:solidFill>
                <a:latin typeface="Arial"/>
              </a:rPr>
              <a:t>High-level stage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2675534" y="3150108"/>
            <a:ext cx="274320" cy="0"/>
          </a:xfrm>
          <a:prstGeom prst="line">
            <a:avLst/>
          </a:prstGeom>
          <a:ln w="25400">
            <a:solidFill>
              <a:srgbClr val="10988A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2949854" y="1938528"/>
            <a:ext cx="1925726" cy="2423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2949854" y="1938528"/>
            <a:ext cx="1925726" cy="91440"/>
          </a:xfrm>
          <a:prstGeom prst="rect">
            <a:avLst/>
          </a:prstGeom>
          <a:solidFill>
            <a:srgbClr val="724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3592677" y="2240280"/>
            <a:ext cx="640080" cy="640080"/>
          </a:xfrm>
          <a:prstGeom prst="ellipse">
            <a:avLst/>
          </a:prstGeom>
          <a:solidFill>
            <a:srgbClr val="724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592677" y="2240280"/>
            <a:ext cx="640080" cy="6400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300" b="1" i="0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087014" y="3017520"/>
            <a:ext cx="1651406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 i="0">
                <a:solidFill>
                  <a:srgbClr val="724CD6"/>
                </a:solidFill>
                <a:latin typeface="Arial"/>
              </a:rPr>
              <a:t>Add context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096158" y="3474720"/>
            <a:ext cx="1633118" cy="6126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0" i="0">
                <a:solidFill>
                  <a:srgbClr val="5B6372"/>
                </a:solidFill>
                <a:latin typeface="Arial"/>
              </a:rPr>
              <a:t>High-level stage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4875580" y="3150108"/>
            <a:ext cx="274320" cy="0"/>
          </a:xfrm>
          <a:prstGeom prst="line">
            <a:avLst/>
          </a:prstGeom>
          <a:ln w="25400">
            <a:solidFill>
              <a:srgbClr val="10988A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23"/>
          <p:cNvSpPr/>
          <p:nvPr/>
        </p:nvSpPr>
        <p:spPr>
          <a:xfrm>
            <a:off x="5149900" y="1938528"/>
            <a:ext cx="1925726" cy="2423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5149900" y="1938528"/>
            <a:ext cx="1925726" cy="91440"/>
          </a:xfrm>
          <a:prstGeom prst="rect">
            <a:avLst/>
          </a:prstGeom>
          <a:solidFill>
            <a:srgbClr val="1098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5792724" y="2240280"/>
            <a:ext cx="640080" cy="640080"/>
          </a:xfrm>
          <a:prstGeom prst="ellipse">
            <a:avLst/>
          </a:prstGeom>
          <a:solidFill>
            <a:srgbClr val="1098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792724" y="2240280"/>
            <a:ext cx="640080" cy="6400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300" b="1" i="0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287060" y="3017520"/>
            <a:ext cx="1651406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 i="0">
                <a:solidFill>
                  <a:srgbClr val="10988A"/>
                </a:solidFill>
                <a:latin typeface="Arial"/>
              </a:rPr>
              <a:t>Define direction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296204" y="3474720"/>
            <a:ext cx="1633118" cy="6126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0" i="0">
                <a:solidFill>
                  <a:srgbClr val="5B6372"/>
                </a:solidFill>
                <a:latin typeface="Arial"/>
              </a:rPr>
              <a:t>High-level stage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7075627" y="3150108"/>
            <a:ext cx="274320" cy="0"/>
          </a:xfrm>
          <a:prstGeom prst="line">
            <a:avLst/>
          </a:prstGeom>
          <a:ln w="25400">
            <a:solidFill>
              <a:srgbClr val="10988A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Rounded Rectangle 30"/>
          <p:cNvSpPr/>
          <p:nvPr/>
        </p:nvSpPr>
        <p:spPr>
          <a:xfrm>
            <a:off x="7349947" y="1938528"/>
            <a:ext cx="1925726" cy="2423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7349947" y="1938528"/>
            <a:ext cx="1925726" cy="91440"/>
          </a:xfrm>
          <a:prstGeom prst="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7992770" y="2240280"/>
            <a:ext cx="640080" cy="640080"/>
          </a:xfrm>
          <a:prstGeom prst="ellipse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992770" y="2240280"/>
            <a:ext cx="640080" cy="6400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300" b="1" i="0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487107" y="3017520"/>
            <a:ext cx="1651406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 i="0">
                <a:solidFill>
                  <a:srgbClr val="16845B"/>
                </a:solidFill>
                <a:latin typeface="Arial"/>
              </a:rPr>
              <a:t>Attach system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496251" y="3474720"/>
            <a:ext cx="1633118" cy="6126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0" i="0">
                <a:solidFill>
                  <a:srgbClr val="5B6372"/>
                </a:solidFill>
                <a:latin typeface="Arial"/>
              </a:rPr>
              <a:t>High-level stage</a:t>
            </a:r>
          </a:p>
        </p:txBody>
      </p:sp>
      <p:cxnSp>
        <p:nvCxnSpPr>
          <p:cNvPr id="37" name="Connector 36"/>
          <p:cNvCxnSpPr/>
          <p:nvPr/>
        </p:nvCxnSpPr>
        <p:spPr>
          <a:xfrm>
            <a:off x="9275673" y="3150108"/>
            <a:ext cx="274320" cy="0"/>
          </a:xfrm>
          <a:prstGeom prst="line">
            <a:avLst/>
          </a:prstGeom>
          <a:ln w="25400">
            <a:solidFill>
              <a:srgbClr val="10988A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Rounded Rectangle 37"/>
          <p:cNvSpPr/>
          <p:nvPr/>
        </p:nvSpPr>
        <p:spPr>
          <a:xfrm>
            <a:off x="9549993" y="1938528"/>
            <a:ext cx="1925726" cy="2423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9549993" y="1938528"/>
            <a:ext cx="1925726" cy="91440"/>
          </a:xfrm>
          <a:prstGeom prst="rect">
            <a:avLst/>
          </a:prstGeom>
          <a:solidFill>
            <a:srgbClr val="C77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10192816" y="2240280"/>
            <a:ext cx="640080" cy="640080"/>
          </a:xfrm>
          <a:prstGeom prst="ellipse">
            <a:avLst/>
          </a:prstGeom>
          <a:solidFill>
            <a:srgbClr val="C77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10192816" y="2240280"/>
            <a:ext cx="640080" cy="6400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300" b="1" i="0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687153" y="3017520"/>
            <a:ext cx="1651406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 i="0">
                <a:solidFill>
                  <a:srgbClr val="C77600"/>
                </a:solidFill>
                <a:latin typeface="Arial"/>
              </a:rPr>
              <a:t>Generate test screen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696297" y="3474720"/>
            <a:ext cx="1633118" cy="6126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0" i="0">
                <a:solidFill>
                  <a:srgbClr val="5B6372"/>
                </a:solidFill>
                <a:latin typeface="Arial"/>
              </a:rPr>
              <a:t>High-level stage</a:t>
            </a:r>
          </a:p>
        </p:txBody>
      </p:sp>
      <p:sp>
        <p:nvSpPr>
          <p:cNvPr id="44" name="Rectangle 43"/>
          <p:cNvSpPr/>
          <p:nvPr/>
        </p:nvSpPr>
        <p:spPr>
          <a:xfrm>
            <a:off x="749808" y="4754880"/>
            <a:ext cx="10725912" cy="80467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960120" y="4919472"/>
            <a:ext cx="182880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 i="0">
                <a:solidFill>
                  <a:srgbClr val="10988A"/>
                </a:solidFill>
                <a:latin typeface="Arial"/>
              </a:rPr>
              <a:t>THE POINT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2331720" y="4855464"/>
            <a:ext cx="8778240" cy="39319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20" b="1" i="0">
                <a:solidFill>
                  <a:srgbClr val="161B26"/>
                </a:solidFill>
                <a:latin typeface="Arial"/>
              </a:rPr>
              <a:t>Detailed click-by-click steps and files are in the Learner Guide and lab folder.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16845B"/>
                </a:solidFill>
                <a:latin typeface="Arial"/>
              </a:rPr>
              <a:t>MODULE 2 · VERIFY THE OUTCOME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21792"/>
            <a:ext cx="10835640" cy="6583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 i="0">
                <a:solidFill>
                  <a:srgbClr val="161B26"/>
                </a:solidFill>
                <a:latin typeface="Arial"/>
              </a:rPr>
              <a:t>Lab 3 · Evidence and acceptance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6419088"/>
            <a:ext cx="4663440" cy="2194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 i="0">
                <a:solidFill>
                  <a:srgbClr val="5B6372"/>
                </a:solidFill>
                <a:latin typeface="Arial"/>
              </a:rPr>
              <a:t>Claude Design for UX/UI · C744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89120" y="6419088"/>
            <a:ext cx="3657600" cy="2194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0" i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44200" y="6419088"/>
            <a:ext cx="731520" cy="2194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 i="0">
                <a:solidFill>
                  <a:srgbClr val="5B6372"/>
                </a:solidFill>
                <a:latin typeface="Arial"/>
              </a:rPr>
              <a:t>72</a:t>
            </a:r>
          </a:p>
        </p:txBody>
      </p:sp>
      <p:sp>
        <p:nvSpPr>
          <p:cNvPr id="10" name="Rectangle 9"/>
          <p:cNvSpPr/>
          <p:nvPr/>
        </p:nvSpPr>
        <p:spPr>
          <a:xfrm>
            <a:off x="658368" y="1828800"/>
            <a:ext cx="2487168" cy="2432304"/>
          </a:xfrm>
          <a:prstGeom prst="rect">
            <a:avLst/>
          </a:prstGeom>
          <a:solidFill>
            <a:srgbClr val="E8F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58368" y="1828800"/>
            <a:ext cx="82296" cy="2432304"/>
          </a:xfrm>
          <a:prstGeom prst="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896112" y="2084832"/>
            <a:ext cx="512064" cy="512064"/>
          </a:xfrm>
          <a:prstGeom prst="ellipse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96112" y="2084832"/>
            <a:ext cx="512064" cy="51206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1" i="0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05256" y="2834640"/>
            <a:ext cx="1965960" cy="10515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 i="0">
                <a:solidFill>
                  <a:srgbClr val="161B26"/>
                </a:solidFill>
                <a:latin typeface="Arial"/>
              </a:rPr>
              <a:t>Uses named tokens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401568" y="1828800"/>
            <a:ext cx="2487168" cy="2432304"/>
          </a:xfrm>
          <a:prstGeom prst="rect">
            <a:avLst/>
          </a:prstGeom>
          <a:solidFill>
            <a:srgbClr val="E8F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401568" y="1828800"/>
            <a:ext cx="82296" cy="2432304"/>
          </a:xfrm>
          <a:prstGeom prst="rect">
            <a:avLst/>
          </a:prstGeom>
          <a:solidFill>
            <a:srgbClr val="1098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3639312" y="2084832"/>
            <a:ext cx="512064" cy="512064"/>
          </a:xfrm>
          <a:prstGeom prst="ellipse">
            <a:avLst/>
          </a:prstGeom>
          <a:solidFill>
            <a:srgbClr val="1098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639312" y="2084832"/>
            <a:ext cx="512064" cy="51206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1" i="0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48456" y="2834640"/>
            <a:ext cx="1965960" cy="10515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 i="0">
                <a:solidFill>
                  <a:srgbClr val="161B26"/>
                </a:solidFill>
                <a:latin typeface="Arial"/>
              </a:rPr>
              <a:t>Defines component variants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144768" y="1828800"/>
            <a:ext cx="2487168" cy="2432304"/>
          </a:xfrm>
          <a:prstGeom prst="rect">
            <a:avLst/>
          </a:prstGeom>
          <a:solidFill>
            <a:srgbClr val="E8F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144768" y="1828800"/>
            <a:ext cx="82296" cy="243230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6382512" y="2084832"/>
            <a:ext cx="512064" cy="512064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382512" y="2084832"/>
            <a:ext cx="512064" cy="51206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1" i="0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91656" y="2834640"/>
            <a:ext cx="1965960" cy="10515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 i="0">
                <a:solidFill>
                  <a:srgbClr val="161B26"/>
                </a:solidFill>
                <a:latin typeface="Arial"/>
              </a:rPr>
              <a:t>Includes accessibility rules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887968" y="1828800"/>
            <a:ext cx="2487168" cy="2432304"/>
          </a:xfrm>
          <a:prstGeom prst="rect">
            <a:avLst/>
          </a:prstGeom>
          <a:solidFill>
            <a:srgbClr val="E8F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887968" y="1828800"/>
            <a:ext cx="82296" cy="2432304"/>
          </a:xfrm>
          <a:prstGeom prst="rect">
            <a:avLst/>
          </a:prstGeom>
          <a:solidFill>
            <a:srgbClr val="724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9125712" y="2084832"/>
            <a:ext cx="512064" cy="512064"/>
          </a:xfrm>
          <a:prstGeom prst="ellipse">
            <a:avLst/>
          </a:prstGeom>
          <a:solidFill>
            <a:srgbClr val="724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125712" y="2084832"/>
            <a:ext cx="512064" cy="51206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1" i="0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34856" y="2834640"/>
            <a:ext cx="1965960" cy="10515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 i="0">
                <a:solidFill>
                  <a:srgbClr val="161B26"/>
                </a:solidFill>
                <a:latin typeface="Arial"/>
              </a:rPr>
              <a:t>Test screen matches the system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58368" y="4617720"/>
            <a:ext cx="10835640" cy="868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32688" y="4800600"/>
            <a:ext cx="10287000" cy="4114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150" b="1" i="0">
                <a:solidFill>
                  <a:srgbClr val="5B6372"/>
                </a:solidFill>
                <a:latin typeface="Arial"/>
              </a:rPr>
              <a:t>Evidence package: project-context.md, tokens.css, component-contract.md, prompt.txt · capture the final Claude Design version link or export.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7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098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10988A"/>
                </a:solidFill>
                <a:latin typeface="Arial"/>
              </a:rPr>
              <a:t>MODULE 2 · HANDS-ON ACTIVITY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21792"/>
            <a:ext cx="10835640" cy="6583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 i="0">
                <a:solidFill>
                  <a:srgbClr val="161B26"/>
                </a:solidFill>
                <a:latin typeface="Arial"/>
              </a:rPr>
              <a:t>Lab 4 · Prompted Wireframes and Variants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6419088"/>
            <a:ext cx="4663440" cy="2194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 i="0">
                <a:solidFill>
                  <a:srgbClr val="5B6372"/>
                </a:solidFill>
                <a:latin typeface="Arial"/>
              </a:rPr>
              <a:t>Claude Design for UX/UI · C744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89120" y="6419088"/>
            <a:ext cx="3657600" cy="2194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0" i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44200" y="6419088"/>
            <a:ext cx="731520" cy="2194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 i="0">
                <a:solidFill>
                  <a:srgbClr val="5B6372"/>
                </a:solidFill>
                <a:latin typeface="Arial"/>
              </a:rPr>
              <a:t>73</a:t>
            </a:r>
          </a:p>
        </p:txBody>
      </p:sp>
      <p:sp>
        <p:nvSpPr>
          <p:cNvPr id="10" name="Rectangle 9"/>
          <p:cNvSpPr/>
          <p:nvPr/>
        </p:nvSpPr>
        <p:spPr>
          <a:xfrm>
            <a:off x="9692640" y="310896"/>
            <a:ext cx="1508760" cy="310896"/>
          </a:xfrm>
          <a:prstGeom prst="rect">
            <a:avLst/>
          </a:prstGeom>
          <a:solidFill>
            <a:srgbClr val="1098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92640" y="310896"/>
            <a:ext cx="1508760" cy="31089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 i="0">
                <a:solidFill>
                  <a:srgbClr val="FFFFFF"/>
                </a:solidFill>
                <a:latin typeface="Arial"/>
              </a:rPr>
              <a:t>25 MIN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49808" y="1755648"/>
            <a:ext cx="10378440" cy="80467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0" i="0">
                <a:solidFill>
                  <a:srgbClr val="161B26"/>
                </a:solidFill>
                <a:latin typeface="Arial"/>
              </a:rPr>
              <a:t>Generate a four-screen wellness booking flow, then compare two structurally different directions.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49808" y="2770632"/>
            <a:ext cx="10725912" cy="138988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05840" y="2971800"/>
            <a:ext cx="2011680" cy="2560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 i="0">
                <a:solidFill>
                  <a:srgbClr val="10988A"/>
                </a:solidFill>
                <a:latin typeface="Arial"/>
              </a:rPr>
              <a:t>YOU WILL PRODUCE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05840" y="3401568"/>
            <a:ext cx="10012680" cy="47548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 i="0">
                <a:solidFill>
                  <a:srgbClr val="161B26"/>
                </a:solidFill>
                <a:latin typeface="Arial"/>
              </a:rPr>
              <a:t>low-fidelity responsive wireframes and a documented variant decision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49808" y="4443984"/>
            <a:ext cx="10725912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05840" y="4626864"/>
            <a:ext cx="10012680" cy="31089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5B6372"/>
                </a:solidFill>
                <a:latin typeface="Arial"/>
              </a:rPr>
              <a:t>Tools: Claude Design · supplied realistic content · decision matrix · Full detailed procedure: Learner Guide and labs/lab-04-*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49808" y="5340096"/>
            <a:ext cx="2834640" cy="329184"/>
          </a:xfrm>
          <a:prstGeom prst="rect">
            <a:avLst/>
          </a:prstGeom>
          <a:solidFill>
            <a:srgbClr val="724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49808" y="5340096"/>
            <a:ext cx="2834640" cy="32918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1" i="0">
                <a:solidFill>
                  <a:srgbClr val="FFFFFF"/>
                </a:solidFill>
                <a:latin typeface="Arial"/>
              </a:rPr>
              <a:t>LO2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7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098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10988A"/>
                </a:solidFill>
                <a:latin typeface="Arial"/>
              </a:rPr>
              <a:t>MODULE 2 · CONCEPTUAL WORKFLOW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21792"/>
            <a:ext cx="10835640" cy="6583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 i="0">
                <a:solidFill>
                  <a:srgbClr val="161B26"/>
                </a:solidFill>
                <a:latin typeface="Arial"/>
              </a:rPr>
              <a:t>Lab 4 · Workflow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6419088"/>
            <a:ext cx="4663440" cy="2194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 i="0">
                <a:solidFill>
                  <a:srgbClr val="5B6372"/>
                </a:solidFill>
                <a:latin typeface="Arial"/>
              </a:rPr>
              <a:t>Claude Design for UX/UI · C744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89120" y="6419088"/>
            <a:ext cx="3657600" cy="2194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0" i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44200" y="6419088"/>
            <a:ext cx="731520" cy="2194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 i="0">
                <a:solidFill>
                  <a:srgbClr val="5B6372"/>
                </a:solidFill>
                <a:latin typeface="Arial"/>
              </a:rPr>
              <a:t>74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49808" y="1938528"/>
            <a:ext cx="1925726" cy="2423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49808" y="1938528"/>
            <a:ext cx="1925726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392631" y="2240280"/>
            <a:ext cx="640080" cy="64008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392631" y="2240280"/>
            <a:ext cx="640080" cy="6400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300" b="1" i="0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86968" y="3017520"/>
            <a:ext cx="1651406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 i="0">
                <a:solidFill>
                  <a:srgbClr val="1F6FEB"/>
                </a:solidFill>
                <a:latin typeface="Arial"/>
              </a:rPr>
              <a:t>Prompt structure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96112" y="3474720"/>
            <a:ext cx="1633118" cy="6126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0" i="0">
                <a:solidFill>
                  <a:srgbClr val="5B6372"/>
                </a:solidFill>
                <a:latin typeface="Arial"/>
              </a:rPr>
              <a:t>High-level stage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2675534" y="3150108"/>
            <a:ext cx="274320" cy="0"/>
          </a:xfrm>
          <a:prstGeom prst="line">
            <a:avLst/>
          </a:prstGeom>
          <a:ln w="25400">
            <a:solidFill>
              <a:srgbClr val="10988A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2949854" y="1938528"/>
            <a:ext cx="1925726" cy="2423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2949854" y="1938528"/>
            <a:ext cx="1925726" cy="91440"/>
          </a:xfrm>
          <a:prstGeom prst="rect">
            <a:avLst/>
          </a:prstGeom>
          <a:solidFill>
            <a:srgbClr val="724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3592677" y="2240280"/>
            <a:ext cx="640080" cy="640080"/>
          </a:xfrm>
          <a:prstGeom prst="ellipse">
            <a:avLst/>
          </a:prstGeom>
          <a:solidFill>
            <a:srgbClr val="724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592677" y="2240280"/>
            <a:ext cx="640080" cy="6400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300" b="1" i="0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087014" y="3017520"/>
            <a:ext cx="1651406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 i="0">
                <a:solidFill>
                  <a:srgbClr val="724CD6"/>
                </a:solidFill>
                <a:latin typeface="Arial"/>
              </a:rPr>
              <a:t>Review screen coverage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096158" y="3474720"/>
            <a:ext cx="1633118" cy="6126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0" i="0">
                <a:solidFill>
                  <a:srgbClr val="5B6372"/>
                </a:solidFill>
                <a:latin typeface="Arial"/>
              </a:rPr>
              <a:t>High-level stage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4875580" y="3150108"/>
            <a:ext cx="274320" cy="0"/>
          </a:xfrm>
          <a:prstGeom prst="line">
            <a:avLst/>
          </a:prstGeom>
          <a:ln w="25400">
            <a:solidFill>
              <a:srgbClr val="10988A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23"/>
          <p:cNvSpPr/>
          <p:nvPr/>
        </p:nvSpPr>
        <p:spPr>
          <a:xfrm>
            <a:off x="5149900" y="1938528"/>
            <a:ext cx="1925726" cy="2423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5149900" y="1938528"/>
            <a:ext cx="1925726" cy="91440"/>
          </a:xfrm>
          <a:prstGeom prst="rect">
            <a:avLst/>
          </a:prstGeom>
          <a:solidFill>
            <a:srgbClr val="1098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5792724" y="2240280"/>
            <a:ext cx="640080" cy="640080"/>
          </a:xfrm>
          <a:prstGeom prst="ellipse">
            <a:avLst/>
          </a:prstGeom>
          <a:solidFill>
            <a:srgbClr val="1098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792724" y="2240280"/>
            <a:ext cx="640080" cy="6400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300" b="1" i="0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287060" y="3017520"/>
            <a:ext cx="1651406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 i="0">
                <a:solidFill>
                  <a:srgbClr val="10988A"/>
                </a:solidFill>
                <a:latin typeface="Arial"/>
              </a:rPr>
              <a:t>Generate variant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296204" y="3474720"/>
            <a:ext cx="1633118" cy="6126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0" i="0">
                <a:solidFill>
                  <a:srgbClr val="5B6372"/>
                </a:solidFill>
                <a:latin typeface="Arial"/>
              </a:rPr>
              <a:t>High-level stage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7075627" y="3150108"/>
            <a:ext cx="274320" cy="0"/>
          </a:xfrm>
          <a:prstGeom prst="line">
            <a:avLst/>
          </a:prstGeom>
          <a:ln w="25400">
            <a:solidFill>
              <a:srgbClr val="10988A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Rounded Rectangle 30"/>
          <p:cNvSpPr/>
          <p:nvPr/>
        </p:nvSpPr>
        <p:spPr>
          <a:xfrm>
            <a:off x="7349947" y="1938528"/>
            <a:ext cx="1925726" cy="2423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7349947" y="1938528"/>
            <a:ext cx="1925726" cy="91440"/>
          </a:xfrm>
          <a:prstGeom prst="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7992770" y="2240280"/>
            <a:ext cx="640080" cy="640080"/>
          </a:xfrm>
          <a:prstGeom prst="ellipse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992770" y="2240280"/>
            <a:ext cx="640080" cy="6400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300" b="1" i="0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487107" y="3017520"/>
            <a:ext cx="1651406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 i="0">
                <a:solidFill>
                  <a:srgbClr val="16845B"/>
                </a:solidFill>
                <a:latin typeface="Arial"/>
              </a:rPr>
              <a:t>Compare trade-offs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496251" y="3474720"/>
            <a:ext cx="1633118" cy="6126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0" i="0">
                <a:solidFill>
                  <a:srgbClr val="5B6372"/>
                </a:solidFill>
                <a:latin typeface="Arial"/>
              </a:rPr>
              <a:t>High-level stage</a:t>
            </a:r>
          </a:p>
        </p:txBody>
      </p:sp>
      <p:cxnSp>
        <p:nvCxnSpPr>
          <p:cNvPr id="37" name="Connector 36"/>
          <p:cNvCxnSpPr/>
          <p:nvPr/>
        </p:nvCxnSpPr>
        <p:spPr>
          <a:xfrm>
            <a:off x="9275673" y="3150108"/>
            <a:ext cx="274320" cy="0"/>
          </a:xfrm>
          <a:prstGeom prst="line">
            <a:avLst/>
          </a:prstGeom>
          <a:ln w="25400">
            <a:solidFill>
              <a:srgbClr val="10988A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Rounded Rectangle 37"/>
          <p:cNvSpPr/>
          <p:nvPr/>
        </p:nvSpPr>
        <p:spPr>
          <a:xfrm>
            <a:off x="9549993" y="1938528"/>
            <a:ext cx="1925726" cy="2423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9549993" y="1938528"/>
            <a:ext cx="1925726" cy="91440"/>
          </a:xfrm>
          <a:prstGeom prst="rect">
            <a:avLst/>
          </a:prstGeom>
          <a:solidFill>
            <a:srgbClr val="C77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10192816" y="2240280"/>
            <a:ext cx="640080" cy="640080"/>
          </a:xfrm>
          <a:prstGeom prst="ellipse">
            <a:avLst/>
          </a:prstGeom>
          <a:solidFill>
            <a:srgbClr val="C77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10192816" y="2240280"/>
            <a:ext cx="640080" cy="6400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300" b="1" i="0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687153" y="3017520"/>
            <a:ext cx="1651406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 i="0">
                <a:solidFill>
                  <a:srgbClr val="C77600"/>
                </a:solidFill>
                <a:latin typeface="Arial"/>
              </a:rPr>
              <a:t>Checkpoint choice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696297" y="3474720"/>
            <a:ext cx="1633118" cy="6126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0" i="0">
                <a:solidFill>
                  <a:srgbClr val="5B6372"/>
                </a:solidFill>
                <a:latin typeface="Arial"/>
              </a:rPr>
              <a:t>High-level stage</a:t>
            </a:r>
          </a:p>
        </p:txBody>
      </p:sp>
      <p:sp>
        <p:nvSpPr>
          <p:cNvPr id="44" name="Rectangle 43"/>
          <p:cNvSpPr/>
          <p:nvPr/>
        </p:nvSpPr>
        <p:spPr>
          <a:xfrm>
            <a:off x="749808" y="4754880"/>
            <a:ext cx="10725912" cy="80467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960120" y="4919472"/>
            <a:ext cx="182880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 i="0">
                <a:solidFill>
                  <a:srgbClr val="10988A"/>
                </a:solidFill>
                <a:latin typeface="Arial"/>
              </a:rPr>
              <a:t>THE POINT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2331720" y="4855464"/>
            <a:ext cx="8778240" cy="39319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20" b="1" i="0">
                <a:solidFill>
                  <a:srgbClr val="161B26"/>
                </a:solidFill>
                <a:latin typeface="Arial"/>
              </a:rPr>
              <a:t>Detailed click-by-click steps and files are in the Learner Guide and lab folder.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7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16845B"/>
                </a:solidFill>
                <a:latin typeface="Arial"/>
              </a:rPr>
              <a:t>MODULE 2 · VERIFY THE OUTCOME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21792"/>
            <a:ext cx="10835640" cy="6583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 i="0">
                <a:solidFill>
                  <a:srgbClr val="161B26"/>
                </a:solidFill>
                <a:latin typeface="Arial"/>
              </a:rPr>
              <a:t>Lab 4 · Evidence and acceptance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6419088"/>
            <a:ext cx="4663440" cy="2194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 i="0">
                <a:solidFill>
                  <a:srgbClr val="5B6372"/>
                </a:solidFill>
                <a:latin typeface="Arial"/>
              </a:rPr>
              <a:t>Claude Design for UX/UI · C744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89120" y="6419088"/>
            <a:ext cx="3657600" cy="2194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0" i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44200" y="6419088"/>
            <a:ext cx="731520" cy="2194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 i="0">
                <a:solidFill>
                  <a:srgbClr val="5B6372"/>
                </a:solidFill>
                <a:latin typeface="Arial"/>
              </a:rPr>
              <a:t>75</a:t>
            </a:r>
          </a:p>
        </p:txBody>
      </p:sp>
      <p:sp>
        <p:nvSpPr>
          <p:cNvPr id="10" name="Rectangle 9"/>
          <p:cNvSpPr/>
          <p:nvPr/>
        </p:nvSpPr>
        <p:spPr>
          <a:xfrm>
            <a:off x="658368" y="1828800"/>
            <a:ext cx="2487168" cy="2432304"/>
          </a:xfrm>
          <a:prstGeom prst="rect">
            <a:avLst/>
          </a:prstGeom>
          <a:solidFill>
            <a:srgbClr val="E8F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58368" y="1828800"/>
            <a:ext cx="82296" cy="2432304"/>
          </a:xfrm>
          <a:prstGeom prst="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896112" y="2084832"/>
            <a:ext cx="512064" cy="512064"/>
          </a:xfrm>
          <a:prstGeom prst="ellipse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96112" y="2084832"/>
            <a:ext cx="512064" cy="51206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1" i="0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05256" y="2834640"/>
            <a:ext cx="1965960" cy="10515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 i="0">
                <a:solidFill>
                  <a:srgbClr val="161B26"/>
                </a:solidFill>
                <a:latin typeface="Arial"/>
              </a:rPr>
              <a:t>All required screens appear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401568" y="1828800"/>
            <a:ext cx="2487168" cy="2432304"/>
          </a:xfrm>
          <a:prstGeom prst="rect">
            <a:avLst/>
          </a:prstGeom>
          <a:solidFill>
            <a:srgbClr val="E8F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401568" y="1828800"/>
            <a:ext cx="82296" cy="2432304"/>
          </a:xfrm>
          <a:prstGeom prst="rect">
            <a:avLst/>
          </a:prstGeom>
          <a:solidFill>
            <a:srgbClr val="1098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3639312" y="2084832"/>
            <a:ext cx="512064" cy="512064"/>
          </a:xfrm>
          <a:prstGeom prst="ellipse">
            <a:avLst/>
          </a:prstGeom>
          <a:solidFill>
            <a:srgbClr val="1098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639312" y="2084832"/>
            <a:ext cx="512064" cy="51206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1" i="0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48456" y="2834640"/>
            <a:ext cx="1965960" cy="10515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 i="0">
                <a:solidFill>
                  <a:srgbClr val="161B26"/>
                </a:solidFill>
                <a:latin typeface="Arial"/>
              </a:rPr>
              <a:t>Real content replaces lorem ipsum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144768" y="1828800"/>
            <a:ext cx="2487168" cy="2432304"/>
          </a:xfrm>
          <a:prstGeom prst="rect">
            <a:avLst/>
          </a:prstGeom>
          <a:solidFill>
            <a:srgbClr val="E8F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144768" y="1828800"/>
            <a:ext cx="82296" cy="243230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6382512" y="2084832"/>
            <a:ext cx="512064" cy="512064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382512" y="2084832"/>
            <a:ext cx="512064" cy="51206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1" i="0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91656" y="2834640"/>
            <a:ext cx="1965960" cy="10515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 i="0">
                <a:solidFill>
                  <a:srgbClr val="161B26"/>
                </a:solidFill>
                <a:latin typeface="Arial"/>
              </a:rPr>
              <a:t>Variants differ structurally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887968" y="1828800"/>
            <a:ext cx="2487168" cy="2432304"/>
          </a:xfrm>
          <a:prstGeom prst="rect">
            <a:avLst/>
          </a:prstGeom>
          <a:solidFill>
            <a:srgbClr val="E8F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887968" y="1828800"/>
            <a:ext cx="82296" cy="2432304"/>
          </a:xfrm>
          <a:prstGeom prst="rect">
            <a:avLst/>
          </a:prstGeom>
          <a:solidFill>
            <a:srgbClr val="724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9125712" y="2084832"/>
            <a:ext cx="512064" cy="512064"/>
          </a:xfrm>
          <a:prstGeom prst="ellipse">
            <a:avLst/>
          </a:prstGeom>
          <a:solidFill>
            <a:srgbClr val="724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125712" y="2084832"/>
            <a:ext cx="512064" cy="51206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1" i="0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34856" y="2834640"/>
            <a:ext cx="1965960" cy="10515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 i="0">
                <a:solidFill>
                  <a:srgbClr val="161B26"/>
                </a:solidFill>
                <a:latin typeface="Arial"/>
              </a:rPr>
              <a:t>Selection cites criteria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58368" y="4617720"/>
            <a:ext cx="10835640" cy="868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32688" y="4800600"/>
            <a:ext cx="10287000" cy="4114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150" b="1" i="0">
                <a:solidFill>
                  <a:srgbClr val="5B6372"/>
                </a:solidFill>
                <a:latin typeface="Arial"/>
              </a:rPr>
              <a:t>Evidence package: content.json, decision-matrix.csv, wireframe.html, prompt.txt · capture the final Claude Design version link or export.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7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724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724CD6"/>
                </a:solidFill>
                <a:latin typeface="Arial"/>
              </a:rPr>
              <a:t>MODULE 2 · NATIVE CHART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21792"/>
            <a:ext cx="10835640" cy="6583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 i="0">
                <a:solidFill>
                  <a:srgbClr val="161B26"/>
                </a:solidFill>
                <a:latin typeface="Arial"/>
              </a:rPr>
              <a:t>Design systems accelerate repeatable work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6419088"/>
            <a:ext cx="4663440" cy="2194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 i="0">
                <a:solidFill>
                  <a:srgbClr val="5B6372"/>
                </a:solidFill>
                <a:latin typeface="Arial"/>
              </a:rPr>
              <a:t>Claude Design for UX/UI · C744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89120" y="6419088"/>
            <a:ext cx="3657600" cy="2194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0" i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26679" y="6419088"/>
            <a:ext cx="2834640" cy="2194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730" b="0" i="1">
                <a:solidFill>
                  <a:srgbClr val="949DA9"/>
                </a:solidFill>
                <a:latin typeface="Arial"/>
              </a:rPr>
              <a:t>Figma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44200" y="6419088"/>
            <a:ext cx="731520" cy="2194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 i="0">
                <a:solidFill>
                  <a:srgbClr val="5B6372"/>
                </a:solidFill>
                <a:latin typeface="Arial"/>
              </a:rPr>
              <a:t>76</a:t>
            </a:r>
          </a:p>
        </p:txBody>
      </p:sp>
      <p:graphicFrame>
        <p:nvGraphicFramePr>
          <p:cNvPr id="11" name="Chart 10"/>
          <p:cNvGraphicFramePr>
            <a:graphicFrameLocks noGrp="1"/>
          </p:cNvGraphicFramePr>
          <p:nvPr/>
        </p:nvGraphicFramePr>
        <p:xfrm>
          <a:off x="868680" y="1737360"/>
          <a:ext cx="6629400" cy="37033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2" name="Rectangle 11"/>
          <p:cNvSpPr/>
          <p:nvPr/>
        </p:nvSpPr>
        <p:spPr>
          <a:xfrm>
            <a:off x="7818120" y="1755648"/>
            <a:ext cx="3657600" cy="368503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818120" y="1755648"/>
            <a:ext cx="91440" cy="3685032"/>
          </a:xfrm>
          <a:prstGeom prst="rect">
            <a:avLst/>
          </a:prstGeom>
          <a:solidFill>
            <a:srgbClr val="724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156448" y="2084831"/>
            <a:ext cx="2880360" cy="31089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 i="0">
                <a:solidFill>
                  <a:srgbClr val="724CD6"/>
                </a:solidFill>
                <a:latin typeface="Arial"/>
              </a:rPr>
              <a:t>WHAT THE DATA SHOWS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56448" y="2670048"/>
            <a:ext cx="2880360" cy="16002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 i="0">
                <a:solidFill>
                  <a:srgbClr val="161B26"/>
                </a:solidFill>
                <a:latin typeface="Arial"/>
              </a:rPr>
              <a:t>Figma reported participants with a design system completed an objective 34% faster.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156448" y="4617720"/>
            <a:ext cx="2880360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 i="0">
                <a:solidFill>
                  <a:srgbClr val="5B6372"/>
                </a:solidFill>
                <a:latin typeface="Arial"/>
              </a:rPr>
              <a:t>Use charts to support a decision—not as decoration.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7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724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724CD6"/>
                </a:solidFill>
                <a:latin typeface="Arial"/>
              </a:rPr>
              <a:t>MODULE 2 · RETRIEVE AND APPLY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21792"/>
            <a:ext cx="10835640" cy="6583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 i="0">
                <a:solidFill>
                  <a:srgbClr val="161B26"/>
                </a:solidFill>
                <a:latin typeface="Arial"/>
              </a:rPr>
              <a:t>Module 2 · Decision recap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6419088"/>
            <a:ext cx="4663440" cy="2194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 i="0">
                <a:solidFill>
                  <a:srgbClr val="5B6372"/>
                </a:solidFill>
                <a:latin typeface="Arial"/>
              </a:rPr>
              <a:t>Claude Design for UX/UI · C744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89120" y="6419088"/>
            <a:ext cx="3657600" cy="2194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0" i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44200" y="6419088"/>
            <a:ext cx="731520" cy="2194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 i="0">
                <a:solidFill>
                  <a:srgbClr val="5B6372"/>
                </a:solidFill>
                <a:latin typeface="Arial"/>
              </a:rPr>
              <a:t>77</a:t>
            </a:r>
          </a:p>
        </p:txBody>
      </p:sp>
      <p:sp>
        <p:nvSpPr>
          <p:cNvPr id="10" name="Rectangle 9"/>
          <p:cNvSpPr/>
          <p:nvPr/>
        </p:nvSpPr>
        <p:spPr>
          <a:xfrm>
            <a:off x="658368" y="1691640"/>
            <a:ext cx="2487168" cy="233172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58368" y="1691640"/>
            <a:ext cx="82296" cy="23317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877824" y="1874520"/>
            <a:ext cx="420624" cy="420624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77824" y="1874520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08176" y="1819656"/>
            <a:ext cx="1508760" cy="43891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320" b="1" i="0">
                <a:solidFill>
                  <a:srgbClr val="161B26"/>
                </a:solidFill>
                <a:latin typeface="Arial"/>
              </a:rPr>
              <a:t>What Claude Design is—an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2386584"/>
            <a:ext cx="1965960" cy="133502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070" b="0" i="0">
                <a:solidFill>
                  <a:srgbClr val="5B6372"/>
                </a:solidFill>
                <a:latin typeface="Arial"/>
              </a:rPr>
              <a:t>The first generation is a starting point, not a sign-off.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14400" y="3703320"/>
            <a:ext cx="1078992" cy="25603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4400" y="3703320"/>
            <a:ext cx="1078992" cy="25603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1" i="0">
                <a:solidFill>
                  <a:srgbClr val="FFFFFF"/>
                </a:solidFill>
                <a:latin typeface="Arial"/>
              </a:rPr>
              <a:t>DESIGN LENS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401568" y="1691640"/>
            <a:ext cx="2487168" cy="233172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3401568" y="1691640"/>
            <a:ext cx="82296" cy="2331720"/>
          </a:xfrm>
          <a:prstGeom prst="rect">
            <a:avLst/>
          </a:prstGeom>
          <a:solidFill>
            <a:srgbClr val="724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3621024" y="1874520"/>
            <a:ext cx="420624" cy="420624"/>
          </a:xfrm>
          <a:prstGeom prst="ellipse">
            <a:avLst/>
          </a:prstGeom>
          <a:solidFill>
            <a:srgbClr val="724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621024" y="1874520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151376" y="1819656"/>
            <a:ext cx="1508760" cy="43891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320" b="1" i="0">
                <a:solidFill>
                  <a:srgbClr val="161B26"/>
                </a:solidFill>
                <a:latin typeface="Arial"/>
              </a:rPr>
              <a:t>Access, interface and be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657600" y="2386584"/>
            <a:ext cx="1965960" cy="133502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070" b="0" i="0">
                <a:solidFill>
                  <a:srgbClr val="5B6372"/>
                </a:solidFill>
                <a:latin typeface="Arial"/>
              </a:rPr>
              <a:t>Tool readiness is part of instructional readiness.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657600" y="3703320"/>
            <a:ext cx="1078992" cy="256032"/>
          </a:xfrm>
          <a:prstGeom prst="rect">
            <a:avLst/>
          </a:prstGeom>
          <a:solidFill>
            <a:srgbClr val="724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657600" y="3703320"/>
            <a:ext cx="1078992" cy="25603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1" i="0">
                <a:solidFill>
                  <a:srgbClr val="FFFFFF"/>
                </a:solidFill>
                <a:latin typeface="Arial"/>
              </a:rPr>
              <a:t>DESIGN LENS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144768" y="1691640"/>
            <a:ext cx="2487168" cy="233172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144768" y="1691640"/>
            <a:ext cx="82296" cy="2331720"/>
          </a:xfrm>
          <a:prstGeom prst="rect">
            <a:avLst/>
          </a:prstGeom>
          <a:solidFill>
            <a:srgbClr val="1098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6364224" y="1874520"/>
            <a:ext cx="420624" cy="420624"/>
          </a:xfrm>
          <a:prstGeom prst="ellipse">
            <a:avLst/>
          </a:prstGeom>
          <a:solidFill>
            <a:srgbClr val="1098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364224" y="1874520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894576" y="1819656"/>
            <a:ext cx="1508760" cy="43891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320" b="1" i="0">
                <a:solidFill>
                  <a:srgbClr val="161B26"/>
                </a:solidFill>
                <a:latin typeface="Arial"/>
              </a:rPr>
              <a:t>A project is a context b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00800" y="2386584"/>
            <a:ext cx="1965960" cy="133502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070" b="0" i="0">
                <a:solidFill>
                  <a:srgbClr val="5B6372"/>
                </a:solidFill>
                <a:latin typeface="Arial"/>
              </a:rPr>
              <a:t>Good boundaries reduce accidental design drift.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400800" y="3703320"/>
            <a:ext cx="1078992" cy="256032"/>
          </a:xfrm>
          <a:prstGeom prst="rect">
            <a:avLst/>
          </a:prstGeom>
          <a:solidFill>
            <a:srgbClr val="1098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400800" y="3703320"/>
            <a:ext cx="1078992" cy="25603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1" i="0">
                <a:solidFill>
                  <a:srgbClr val="FFFFFF"/>
                </a:solidFill>
                <a:latin typeface="Arial"/>
              </a:rPr>
              <a:t>DESIGN LENS</a:t>
            </a:r>
          </a:p>
        </p:txBody>
      </p:sp>
      <p:sp>
        <p:nvSpPr>
          <p:cNvPr id="34" name="Rectangle 33"/>
          <p:cNvSpPr/>
          <p:nvPr/>
        </p:nvSpPr>
        <p:spPr>
          <a:xfrm>
            <a:off x="8887968" y="1691640"/>
            <a:ext cx="2487168" cy="233172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8887968" y="1691640"/>
            <a:ext cx="82296" cy="2331720"/>
          </a:xfrm>
          <a:prstGeom prst="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9107424" y="1874520"/>
            <a:ext cx="420624" cy="420624"/>
          </a:xfrm>
          <a:prstGeom prst="ellipse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107424" y="1874520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637776" y="1819656"/>
            <a:ext cx="1508760" cy="43891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320" b="1" i="0">
                <a:solidFill>
                  <a:srgbClr val="161B26"/>
                </a:solidFill>
                <a:latin typeface="Arial"/>
              </a:rPr>
              <a:t>Import a design system b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144000" y="2386584"/>
            <a:ext cx="1965960" cy="133502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070" b="0" i="0">
                <a:solidFill>
                  <a:srgbClr val="5B6372"/>
                </a:solidFill>
                <a:latin typeface="Arial"/>
              </a:rPr>
              <a:t>A design system is executable context, not a mood-board adjective.</a:t>
            </a:r>
          </a:p>
        </p:txBody>
      </p:sp>
      <p:sp>
        <p:nvSpPr>
          <p:cNvPr id="40" name="Rectangle 39"/>
          <p:cNvSpPr/>
          <p:nvPr/>
        </p:nvSpPr>
        <p:spPr>
          <a:xfrm>
            <a:off x="9144000" y="3703320"/>
            <a:ext cx="1078992" cy="256032"/>
          </a:xfrm>
          <a:prstGeom prst="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9144000" y="3703320"/>
            <a:ext cx="1078992" cy="25603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1" i="0">
                <a:solidFill>
                  <a:srgbClr val="FFFFFF"/>
                </a:solidFill>
                <a:latin typeface="Arial"/>
              </a:rPr>
              <a:t>DESIGN LENS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58368" y="4315968"/>
            <a:ext cx="10835640" cy="13258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914400" y="4480560"/>
            <a:ext cx="1828800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 i="0">
                <a:solidFill>
                  <a:srgbClr val="724CD6"/>
                </a:solidFill>
                <a:latin typeface="Arial"/>
              </a:rPr>
              <a:t>SYNTHESIS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14400" y="4846320"/>
            <a:ext cx="10195560" cy="56692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 i="0">
                <a:solidFill>
                  <a:srgbClr val="161B26"/>
                </a:solidFill>
                <a:latin typeface="Arial"/>
              </a:rPr>
              <a:t>The first generation is a starting point, not a sign-off; a design system is executable context, not a mood-board adjective.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7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58368" y="1737360"/>
            <a:ext cx="10835640" cy="329184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58368" y="1737360"/>
            <a:ext cx="128016" cy="3291840"/>
          </a:xfrm>
          <a:prstGeom prst="rect">
            <a:avLst/>
          </a:prstGeom>
          <a:solidFill>
            <a:srgbClr val="1098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280160" y="2148840"/>
            <a:ext cx="8229600" cy="34747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 i="0">
                <a:solidFill>
                  <a:srgbClr val="10988A"/>
                </a:solidFill>
                <a:latin typeface="Arial"/>
              </a:rPr>
              <a:t>MODULE 3 · LO2 · LO3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80160" y="2606040"/>
            <a:ext cx="9098280" cy="8412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3400" b="1" i="0">
                <a:solidFill>
                  <a:srgbClr val="161B26"/>
                </a:solidFill>
                <a:latin typeface="Arial"/>
              </a:rPr>
              <a:t>Components, Prototypes and Evidence-Based Evaluation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80160" y="3703320"/>
            <a:ext cx="8869680" cy="6583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0" i="0">
                <a:solidFill>
                  <a:srgbClr val="5B6372"/>
                </a:solidFill>
                <a:latin typeface="Arial"/>
              </a:rPr>
              <a:t>Design realistic states, validate behaviour and iterate from observable results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46920" y="2103120"/>
            <a:ext cx="1234440" cy="10972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5400" b="1" i="0">
                <a:solidFill>
                  <a:srgbClr val="E2E8F0"/>
                </a:solidFill>
                <a:latin typeface="Arial"/>
              </a:rPr>
              <a:t>03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6419088"/>
            <a:ext cx="4663440" cy="2194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 i="0">
                <a:solidFill>
                  <a:srgbClr val="5B6372"/>
                </a:solidFill>
                <a:latin typeface="Arial"/>
              </a:rPr>
              <a:t>Claude Design for UX/UI · C744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389120" y="6419088"/>
            <a:ext cx="3657600" cy="2194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0" i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744200" y="6419088"/>
            <a:ext cx="731520" cy="2194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 i="0">
                <a:solidFill>
                  <a:srgbClr val="5B6372"/>
                </a:solidFill>
                <a:latin typeface="Arial"/>
              </a:rPr>
              <a:t>78</a:t>
            </a:r>
          </a:p>
        </p:txBody>
      </p:sp>
    </p:spTree>
  </p:cSld>
  <p:clrMapOvr>
    <a:masterClrMapping/>
  </p:clrMapOvr>
  <p:transition spd="med" advClick="1">
    <p:push dir="l"/>
  </p:transition>
</p:sld>
</file>

<file path=ppt/slides/slide7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098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10988A"/>
                </a:solidFill>
                <a:latin typeface="Arial"/>
              </a:rPr>
              <a:t>MODULE 3 · PRINCIPLE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21792"/>
            <a:ext cx="10835640" cy="6583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 i="0">
                <a:solidFill>
                  <a:srgbClr val="161B26"/>
                </a:solidFill>
                <a:latin typeface="Arial"/>
              </a:rPr>
              <a:t>Component anatomy defines responsibility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6419088"/>
            <a:ext cx="4663440" cy="2194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 i="0">
                <a:solidFill>
                  <a:srgbClr val="5B6372"/>
                </a:solidFill>
                <a:latin typeface="Arial"/>
              </a:rPr>
              <a:t>Claude Design for UX/UI · C744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89120" y="6419088"/>
            <a:ext cx="3657600" cy="2194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0" i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26679" y="6419088"/>
            <a:ext cx="2834640" cy="2194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730" b="0" i="1">
                <a:solidFill>
                  <a:srgbClr val="949DA9"/>
                </a:solidFill>
                <a:latin typeface="Arial"/>
              </a:rPr>
              <a:t>Figma; UXPin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44200" y="6419088"/>
            <a:ext cx="731520" cy="2194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 i="0">
                <a:solidFill>
                  <a:srgbClr val="5B6372"/>
                </a:solidFill>
                <a:latin typeface="Arial"/>
              </a:rPr>
              <a:t>79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58368" y="1691640"/>
            <a:ext cx="2487168" cy="233172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58368" y="1691640"/>
            <a:ext cx="82296" cy="23317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877824" y="1874520"/>
            <a:ext cx="420624" cy="420624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77824" y="1874520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08176" y="1819656"/>
            <a:ext cx="1508760" cy="43891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320" b="1" i="0">
                <a:solidFill>
                  <a:srgbClr val="161B26"/>
                </a:solidFill>
                <a:latin typeface="Arial"/>
              </a:rPr>
              <a:t>Container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2386584"/>
            <a:ext cx="1965960" cy="133502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070" b="0" i="0">
                <a:solidFill>
                  <a:srgbClr val="5B6372"/>
                </a:solidFill>
                <a:latin typeface="Arial"/>
              </a:rPr>
              <a:t>Controls layout, grouping and responsive behaviour.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14400" y="3703320"/>
            <a:ext cx="1078992" cy="25603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3703320"/>
            <a:ext cx="1078992" cy="25603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1" i="0">
                <a:solidFill>
                  <a:srgbClr val="FFFFFF"/>
                </a:solidFill>
                <a:latin typeface="Arial"/>
              </a:rPr>
              <a:t>DESIGN LENS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401568" y="1691640"/>
            <a:ext cx="2487168" cy="233172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401568" y="1691640"/>
            <a:ext cx="82296" cy="2331720"/>
          </a:xfrm>
          <a:prstGeom prst="rect">
            <a:avLst/>
          </a:prstGeom>
          <a:solidFill>
            <a:srgbClr val="724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3621024" y="1874520"/>
            <a:ext cx="420624" cy="420624"/>
          </a:xfrm>
          <a:prstGeom prst="ellipse">
            <a:avLst/>
          </a:prstGeom>
          <a:solidFill>
            <a:srgbClr val="724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621024" y="1874520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151376" y="1819656"/>
            <a:ext cx="1508760" cy="43891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320" b="1" i="0">
                <a:solidFill>
                  <a:srgbClr val="161B26"/>
                </a:solidFill>
                <a:latin typeface="Arial"/>
              </a:rPr>
              <a:t>Content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657600" y="2386584"/>
            <a:ext cx="1965960" cy="133502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070" b="0" i="0">
                <a:solidFill>
                  <a:srgbClr val="5B6372"/>
                </a:solidFill>
                <a:latin typeface="Arial"/>
              </a:rPr>
              <a:t>Labels, icons and values communicate purpose and status.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657600" y="3703320"/>
            <a:ext cx="1078992" cy="256032"/>
          </a:xfrm>
          <a:prstGeom prst="rect">
            <a:avLst/>
          </a:prstGeom>
          <a:solidFill>
            <a:srgbClr val="724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657600" y="3703320"/>
            <a:ext cx="1078992" cy="25603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1" i="0">
                <a:solidFill>
                  <a:srgbClr val="FFFFFF"/>
                </a:solidFill>
                <a:latin typeface="Arial"/>
              </a:rPr>
              <a:t>DESIGN LENS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144768" y="1691640"/>
            <a:ext cx="2487168" cy="233172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144768" y="1691640"/>
            <a:ext cx="82296" cy="2331720"/>
          </a:xfrm>
          <a:prstGeom prst="rect">
            <a:avLst/>
          </a:prstGeom>
          <a:solidFill>
            <a:srgbClr val="1098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6364224" y="1874520"/>
            <a:ext cx="420624" cy="420624"/>
          </a:xfrm>
          <a:prstGeom prst="ellipse">
            <a:avLst/>
          </a:prstGeom>
          <a:solidFill>
            <a:srgbClr val="1098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364224" y="1874520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894576" y="1819656"/>
            <a:ext cx="1508760" cy="43891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320" b="1" i="0">
                <a:solidFill>
                  <a:srgbClr val="161B26"/>
                </a:solidFill>
                <a:latin typeface="Arial"/>
              </a:rPr>
              <a:t>Action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00800" y="2386584"/>
            <a:ext cx="1965960" cy="133502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070" b="0" i="0">
                <a:solidFill>
                  <a:srgbClr val="5B6372"/>
                </a:solidFill>
                <a:latin typeface="Arial"/>
              </a:rPr>
              <a:t>Interaction rules state what users can do and what follows.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400800" y="3703320"/>
            <a:ext cx="1078992" cy="256032"/>
          </a:xfrm>
          <a:prstGeom prst="rect">
            <a:avLst/>
          </a:prstGeom>
          <a:solidFill>
            <a:srgbClr val="1098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400800" y="3703320"/>
            <a:ext cx="1078992" cy="25603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1" i="0">
                <a:solidFill>
                  <a:srgbClr val="FFFFFF"/>
                </a:solidFill>
                <a:latin typeface="Arial"/>
              </a:rPr>
              <a:t>DESIGN LENS</a:t>
            </a:r>
          </a:p>
        </p:txBody>
      </p:sp>
      <p:sp>
        <p:nvSpPr>
          <p:cNvPr id="35" name="Rectangle 34"/>
          <p:cNvSpPr/>
          <p:nvPr/>
        </p:nvSpPr>
        <p:spPr>
          <a:xfrm>
            <a:off x="8887968" y="1691640"/>
            <a:ext cx="2487168" cy="233172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8887968" y="1691640"/>
            <a:ext cx="82296" cy="2331720"/>
          </a:xfrm>
          <a:prstGeom prst="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9107424" y="1874520"/>
            <a:ext cx="420624" cy="420624"/>
          </a:xfrm>
          <a:prstGeom prst="ellipse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107424" y="1874520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637776" y="1819656"/>
            <a:ext cx="1508760" cy="43891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320" b="1" i="0">
                <a:solidFill>
                  <a:srgbClr val="161B26"/>
                </a:solidFill>
                <a:latin typeface="Arial"/>
              </a:rPr>
              <a:t>Contract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144000" y="2386584"/>
            <a:ext cx="1965960" cy="133502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070" b="0" i="0">
                <a:solidFill>
                  <a:srgbClr val="5B6372"/>
                </a:solidFill>
                <a:latin typeface="Arial"/>
              </a:rPr>
              <a:t>Props, variants, states and constraints define safe reuse.</a:t>
            </a:r>
          </a:p>
        </p:txBody>
      </p:sp>
      <p:sp>
        <p:nvSpPr>
          <p:cNvPr id="41" name="Rectangle 40"/>
          <p:cNvSpPr/>
          <p:nvPr/>
        </p:nvSpPr>
        <p:spPr>
          <a:xfrm>
            <a:off x="9144000" y="3703320"/>
            <a:ext cx="1078992" cy="256032"/>
          </a:xfrm>
          <a:prstGeom prst="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9144000" y="3703320"/>
            <a:ext cx="1078992" cy="25603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1" i="0">
                <a:solidFill>
                  <a:srgbClr val="FFFFFF"/>
                </a:solidFill>
                <a:latin typeface="Arial"/>
              </a:rPr>
              <a:t>DESIGN LENS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58368" y="4315968"/>
            <a:ext cx="10835640" cy="13258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914400" y="4480560"/>
            <a:ext cx="1828800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 i="0">
                <a:solidFill>
                  <a:srgbClr val="10988A"/>
                </a:solidFill>
                <a:latin typeface="Arial"/>
              </a:rPr>
              <a:t>SYNTHESIS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14400" y="4846320"/>
            <a:ext cx="10195560" cy="56692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 i="0">
                <a:solidFill>
                  <a:srgbClr val="161B26"/>
                </a:solidFill>
                <a:latin typeface="Arial"/>
              </a:rPr>
              <a:t>Controls layout, grouping and responsive behaviour; props, variants, states and constraints define safe reuse.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8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098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10988A"/>
                </a:solidFill>
                <a:latin typeface="Arial"/>
              </a:rPr>
              <a:t>MODULE 3 · CASE LENS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21792"/>
            <a:ext cx="10835640" cy="6583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200" b="1" i="0">
                <a:solidFill>
                  <a:srgbClr val="161B26"/>
                </a:solidFill>
                <a:latin typeface="Arial"/>
              </a:rPr>
              <a:t>Component anatomy defines responsibility — applied judgement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6419088"/>
            <a:ext cx="4663440" cy="2194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 i="0">
                <a:solidFill>
                  <a:srgbClr val="5B6372"/>
                </a:solidFill>
                <a:latin typeface="Arial"/>
              </a:rPr>
              <a:t>Claude Design for UX/UI · C744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89120" y="6419088"/>
            <a:ext cx="3657600" cy="2194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0" i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26679" y="6419088"/>
            <a:ext cx="2834640" cy="2194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730" b="0" i="1">
                <a:solidFill>
                  <a:srgbClr val="949DA9"/>
                </a:solidFill>
                <a:latin typeface="Arial"/>
              </a:rPr>
              <a:t>Figma; UXPin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44200" y="6419088"/>
            <a:ext cx="731520" cy="2194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 i="0">
                <a:solidFill>
                  <a:srgbClr val="5B6372"/>
                </a:solidFill>
                <a:latin typeface="Arial"/>
              </a:rPr>
              <a:t>80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58368" y="1755648"/>
            <a:ext cx="3392424" cy="3127248"/>
          </a:xfrm>
          <a:prstGeom prst="rect">
            <a:avLst/>
          </a:prstGeom>
          <a:solidFill>
            <a:srgbClr val="FFFFFF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58368" y="1755648"/>
            <a:ext cx="3392424" cy="91440"/>
          </a:xfrm>
          <a:prstGeom prst="rect">
            <a:avLst/>
          </a:prstGeom>
          <a:solidFill>
            <a:srgbClr val="F06F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886968" y="2029968"/>
            <a:ext cx="493776" cy="493776"/>
          </a:xfrm>
          <a:prstGeom prst="ellipse">
            <a:avLst/>
          </a:prstGeom>
          <a:solidFill>
            <a:srgbClr val="F06F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86968" y="2029968"/>
            <a:ext cx="493776" cy="49377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17904" y="2020824"/>
            <a:ext cx="2240280" cy="51206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F06F61"/>
                </a:solidFill>
                <a:latin typeface="Arial"/>
              </a:rPr>
              <a:t>CONTEXT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2798063"/>
            <a:ext cx="2834640" cy="16459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161B26"/>
                </a:solidFill>
                <a:latin typeface="Arial"/>
              </a:rPr>
              <a:t>A card component accepts unlimited actions and content shapes.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14400" y="4526280"/>
            <a:ext cx="2834640" cy="27432"/>
          </a:xfrm>
          <a:prstGeom prst="rect">
            <a:avLst/>
          </a:prstGeom>
          <a:solidFill>
            <a:srgbClr val="F06F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315968" y="1755648"/>
            <a:ext cx="3392424" cy="3127248"/>
          </a:xfrm>
          <a:prstGeom prst="rect">
            <a:avLst/>
          </a:prstGeom>
          <a:solidFill>
            <a:srgbClr val="FFFFFF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315968" y="1755648"/>
            <a:ext cx="3392424" cy="91440"/>
          </a:xfrm>
          <a:prstGeom prst="rect">
            <a:avLst/>
          </a:prstGeom>
          <a:solidFill>
            <a:srgbClr val="1098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4544568" y="2029968"/>
            <a:ext cx="493776" cy="493776"/>
          </a:xfrm>
          <a:prstGeom prst="ellipse">
            <a:avLst/>
          </a:prstGeom>
          <a:solidFill>
            <a:srgbClr val="1098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544568" y="2029968"/>
            <a:ext cx="493776" cy="49377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175504" y="2020824"/>
            <a:ext cx="2240280" cy="51206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10988A"/>
                </a:solidFill>
                <a:latin typeface="Arial"/>
              </a:rPr>
              <a:t>DESIGN MOVE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0" y="2798063"/>
            <a:ext cx="2834640" cy="16459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161B26"/>
                </a:solidFill>
                <a:latin typeface="Arial"/>
              </a:rPr>
              <a:t>Define supported anatomy and create separate patterns when responsibilities diverge.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572000" y="4526280"/>
            <a:ext cx="2834640" cy="27432"/>
          </a:xfrm>
          <a:prstGeom prst="rect">
            <a:avLst/>
          </a:prstGeom>
          <a:solidFill>
            <a:srgbClr val="1098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7973568" y="1755648"/>
            <a:ext cx="3392424" cy="3127248"/>
          </a:xfrm>
          <a:prstGeom prst="rect">
            <a:avLst/>
          </a:prstGeom>
          <a:solidFill>
            <a:srgbClr val="FFFFFF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973568" y="1755648"/>
            <a:ext cx="3392424" cy="91440"/>
          </a:xfrm>
          <a:prstGeom prst="rect">
            <a:avLst/>
          </a:prstGeom>
          <a:solidFill>
            <a:srgbClr val="724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8202168" y="2029968"/>
            <a:ext cx="493776" cy="493776"/>
          </a:xfrm>
          <a:prstGeom prst="ellipse">
            <a:avLst/>
          </a:prstGeom>
          <a:solidFill>
            <a:srgbClr val="724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202168" y="2029968"/>
            <a:ext cx="493776" cy="49377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833104" y="2020824"/>
            <a:ext cx="2240280" cy="51206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724CD6"/>
                </a:solidFill>
                <a:latin typeface="Arial"/>
              </a:rPr>
              <a:t>EVIDENCE STANDARD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229600" y="2798063"/>
            <a:ext cx="2834640" cy="16459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161B26"/>
                </a:solidFill>
                <a:latin typeface="Arial"/>
              </a:rPr>
              <a:t>Reusable does not mean infinitely configurable.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8229600" y="4526280"/>
            <a:ext cx="2834640" cy="27432"/>
          </a:xfrm>
          <a:prstGeom prst="rect">
            <a:avLst/>
          </a:prstGeom>
          <a:solidFill>
            <a:srgbClr val="724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58368" y="5102352"/>
            <a:ext cx="10835640" cy="56692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14400" y="5239512"/>
            <a:ext cx="10241280" cy="29260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250" b="1" i="0">
                <a:solidFill>
                  <a:srgbClr val="161B26"/>
                </a:solidFill>
                <a:latin typeface="Arial"/>
              </a:rPr>
              <a:t>Ask: what user outcome changes, and what evidence would prove it?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8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098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10988A"/>
                </a:solidFill>
                <a:latin typeface="Arial"/>
              </a:rPr>
              <a:t>MODULE 3 · PRINCIPLE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21792"/>
            <a:ext cx="10835640" cy="6583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 i="0">
                <a:solidFill>
                  <a:srgbClr val="161B26"/>
                </a:solidFill>
                <a:latin typeface="Arial"/>
              </a:rPr>
              <a:t>States are part of the component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6419088"/>
            <a:ext cx="4663440" cy="2194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 i="0">
                <a:solidFill>
                  <a:srgbClr val="5B6372"/>
                </a:solidFill>
                <a:latin typeface="Arial"/>
              </a:rPr>
              <a:t>Claude Design for UX/UI · C744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89120" y="6419088"/>
            <a:ext cx="3657600" cy="2194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0" i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26679" y="6419088"/>
            <a:ext cx="2834640" cy="2194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730" b="0" i="1">
                <a:solidFill>
                  <a:srgbClr val="949DA9"/>
                </a:solidFill>
                <a:latin typeface="Arial"/>
              </a:rPr>
              <a:t>Microsoft; WeWeb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44200" y="6419088"/>
            <a:ext cx="731520" cy="2194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 i="0">
                <a:solidFill>
                  <a:srgbClr val="5B6372"/>
                </a:solidFill>
                <a:latin typeface="Arial"/>
              </a:rPr>
              <a:t>81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58368" y="1691640"/>
            <a:ext cx="2487168" cy="233172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58368" y="1691640"/>
            <a:ext cx="82296" cy="23317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877824" y="1874520"/>
            <a:ext cx="420624" cy="420624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77824" y="1874520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08176" y="1819656"/>
            <a:ext cx="1508760" cy="43891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320" b="1" i="0">
                <a:solidFill>
                  <a:srgbClr val="161B26"/>
                </a:solidFill>
                <a:latin typeface="Arial"/>
              </a:rPr>
              <a:t>Default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2386584"/>
            <a:ext cx="1965960" cy="133502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070" b="0" i="0">
                <a:solidFill>
                  <a:srgbClr val="5B6372"/>
                </a:solidFill>
                <a:latin typeface="Arial"/>
              </a:rPr>
              <a:t>The stable state communicates purpose and available action.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14400" y="3703320"/>
            <a:ext cx="1078992" cy="25603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3703320"/>
            <a:ext cx="1078992" cy="25603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1" i="0">
                <a:solidFill>
                  <a:srgbClr val="FFFFFF"/>
                </a:solidFill>
                <a:latin typeface="Arial"/>
              </a:rPr>
              <a:t>DESIGN LENS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401568" y="1691640"/>
            <a:ext cx="2487168" cy="233172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401568" y="1691640"/>
            <a:ext cx="82296" cy="2331720"/>
          </a:xfrm>
          <a:prstGeom prst="rect">
            <a:avLst/>
          </a:prstGeom>
          <a:solidFill>
            <a:srgbClr val="724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3621024" y="1874520"/>
            <a:ext cx="420624" cy="420624"/>
          </a:xfrm>
          <a:prstGeom prst="ellipse">
            <a:avLst/>
          </a:prstGeom>
          <a:solidFill>
            <a:srgbClr val="724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621024" y="1874520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151376" y="1819656"/>
            <a:ext cx="1508760" cy="43891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320" b="1" i="0">
                <a:solidFill>
                  <a:srgbClr val="161B26"/>
                </a:solidFill>
                <a:latin typeface="Arial"/>
              </a:rPr>
              <a:t>Interactive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657600" y="2386584"/>
            <a:ext cx="1965960" cy="133502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070" b="0" i="0">
                <a:solidFill>
                  <a:srgbClr val="5B6372"/>
                </a:solidFill>
                <a:latin typeface="Arial"/>
              </a:rPr>
              <a:t>Hover, pressed and focus states acknowledge user input.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657600" y="3703320"/>
            <a:ext cx="1078992" cy="256032"/>
          </a:xfrm>
          <a:prstGeom prst="rect">
            <a:avLst/>
          </a:prstGeom>
          <a:solidFill>
            <a:srgbClr val="724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657600" y="3703320"/>
            <a:ext cx="1078992" cy="25603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1" i="0">
                <a:solidFill>
                  <a:srgbClr val="FFFFFF"/>
                </a:solidFill>
                <a:latin typeface="Arial"/>
              </a:rPr>
              <a:t>DESIGN LENS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144768" y="1691640"/>
            <a:ext cx="2487168" cy="233172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144768" y="1691640"/>
            <a:ext cx="82296" cy="2331720"/>
          </a:xfrm>
          <a:prstGeom prst="rect">
            <a:avLst/>
          </a:prstGeom>
          <a:solidFill>
            <a:srgbClr val="1098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6364224" y="1874520"/>
            <a:ext cx="420624" cy="420624"/>
          </a:xfrm>
          <a:prstGeom prst="ellipse">
            <a:avLst/>
          </a:prstGeom>
          <a:solidFill>
            <a:srgbClr val="1098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364224" y="1874520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894576" y="1819656"/>
            <a:ext cx="1508760" cy="43891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320" b="1" i="0">
                <a:solidFill>
                  <a:srgbClr val="161B26"/>
                </a:solidFill>
                <a:latin typeface="Arial"/>
              </a:rPr>
              <a:t>Unavailable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00800" y="2386584"/>
            <a:ext cx="1965960" cy="133502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070" b="0" i="0">
                <a:solidFill>
                  <a:srgbClr val="5B6372"/>
                </a:solidFill>
                <a:latin typeface="Arial"/>
              </a:rPr>
              <a:t>Disabled and permission states explain why action is blocked.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400800" y="3703320"/>
            <a:ext cx="1078992" cy="256032"/>
          </a:xfrm>
          <a:prstGeom prst="rect">
            <a:avLst/>
          </a:prstGeom>
          <a:solidFill>
            <a:srgbClr val="1098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400800" y="3703320"/>
            <a:ext cx="1078992" cy="25603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1" i="0">
                <a:solidFill>
                  <a:srgbClr val="FFFFFF"/>
                </a:solidFill>
                <a:latin typeface="Arial"/>
              </a:rPr>
              <a:t>DESIGN LENS</a:t>
            </a:r>
          </a:p>
        </p:txBody>
      </p:sp>
      <p:sp>
        <p:nvSpPr>
          <p:cNvPr id="35" name="Rectangle 34"/>
          <p:cNvSpPr/>
          <p:nvPr/>
        </p:nvSpPr>
        <p:spPr>
          <a:xfrm>
            <a:off x="8887968" y="1691640"/>
            <a:ext cx="2487168" cy="233172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8887968" y="1691640"/>
            <a:ext cx="82296" cy="2331720"/>
          </a:xfrm>
          <a:prstGeom prst="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9107424" y="1874520"/>
            <a:ext cx="420624" cy="420624"/>
          </a:xfrm>
          <a:prstGeom prst="ellipse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107424" y="1874520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637776" y="1819656"/>
            <a:ext cx="1508760" cy="43891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320" b="1" i="0">
                <a:solidFill>
                  <a:srgbClr val="161B26"/>
                </a:solidFill>
                <a:latin typeface="Arial"/>
              </a:rPr>
              <a:t>System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144000" y="2386584"/>
            <a:ext cx="1965960" cy="133502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070" b="0" i="0">
                <a:solidFill>
                  <a:srgbClr val="5B6372"/>
                </a:solidFill>
                <a:latin typeface="Arial"/>
              </a:rPr>
              <a:t>Loading, success and error states reveal progress and outcome.</a:t>
            </a:r>
          </a:p>
        </p:txBody>
      </p:sp>
      <p:sp>
        <p:nvSpPr>
          <p:cNvPr id="41" name="Rectangle 40"/>
          <p:cNvSpPr/>
          <p:nvPr/>
        </p:nvSpPr>
        <p:spPr>
          <a:xfrm>
            <a:off x="9144000" y="3703320"/>
            <a:ext cx="1078992" cy="256032"/>
          </a:xfrm>
          <a:prstGeom prst="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9144000" y="3703320"/>
            <a:ext cx="1078992" cy="25603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1" i="0">
                <a:solidFill>
                  <a:srgbClr val="FFFFFF"/>
                </a:solidFill>
                <a:latin typeface="Arial"/>
              </a:rPr>
              <a:t>DESIGN LENS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58368" y="4315968"/>
            <a:ext cx="10835640" cy="13258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914400" y="4480560"/>
            <a:ext cx="1828800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 i="0">
                <a:solidFill>
                  <a:srgbClr val="10988A"/>
                </a:solidFill>
                <a:latin typeface="Arial"/>
              </a:rPr>
              <a:t>SYNTHESIS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14400" y="4846320"/>
            <a:ext cx="10195560" cy="56692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 i="0">
                <a:solidFill>
                  <a:srgbClr val="161B26"/>
                </a:solidFill>
                <a:latin typeface="Arial"/>
              </a:rPr>
              <a:t>The stable state communicates purpose and available action; loading, success and error states reveal progress and outcome.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8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098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10988A"/>
                </a:solidFill>
                <a:latin typeface="Arial"/>
              </a:rPr>
              <a:t>MODULE 3 · WORKED EXAMPLE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21792"/>
            <a:ext cx="10835640" cy="6583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 i="0">
                <a:solidFill>
                  <a:srgbClr val="161B26"/>
                </a:solidFill>
                <a:latin typeface="Arial"/>
              </a:rPr>
              <a:t>States are part of the component — applied pattern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6419088"/>
            <a:ext cx="4663440" cy="2194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 i="0">
                <a:solidFill>
                  <a:srgbClr val="5B6372"/>
                </a:solidFill>
                <a:latin typeface="Arial"/>
              </a:rPr>
              <a:t>Claude Design for UX/UI · C744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89120" y="6419088"/>
            <a:ext cx="3657600" cy="2194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0" i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26679" y="6419088"/>
            <a:ext cx="2834640" cy="2194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730" b="0" i="1">
                <a:solidFill>
                  <a:srgbClr val="949DA9"/>
                </a:solidFill>
                <a:latin typeface="Arial"/>
              </a:rPr>
              <a:t>Microsoft; WeWeb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44200" y="6419088"/>
            <a:ext cx="731520" cy="2194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 i="0">
                <a:solidFill>
                  <a:srgbClr val="5B6372"/>
                </a:solidFill>
                <a:latin typeface="Arial"/>
              </a:rPr>
              <a:t>82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58368" y="1719072"/>
            <a:ext cx="6446520" cy="416052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58368" y="1719072"/>
            <a:ext cx="91440" cy="4160520"/>
          </a:xfrm>
          <a:prstGeom prst="rect">
            <a:avLst/>
          </a:prstGeom>
          <a:solidFill>
            <a:srgbClr val="1098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32688" y="1938528"/>
            <a:ext cx="5897880" cy="35204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0"/>
              </a:spcAft>
            </a:pPr>
            <a:r>
              <a:rPr sz="1220" b="0" i="0">
                <a:solidFill>
                  <a:srgbClr val="D6E4FF"/>
                </a:solidFill>
                <a:latin typeface="Consolas"/>
              </a:rPr>
              <a:t>const states = ['default','hover','focus','loading','disabled','error'];
function setState(name) {
  preview.dataset.state = name;
  status.textContent = `State: ${name}`;
}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388352" y="1719072"/>
            <a:ext cx="4105656" cy="120700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388352" y="1719072"/>
            <a:ext cx="82296" cy="120700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7626096" y="1920240"/>
            <a:ext cx="411480" cy="41148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626096" y="1920240"/>
            <a:ext cx="411480" cy="4114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11312" y="1883664"/>
            <a:ext cx="2944368" cy="76809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161B26"/>
                </a:solidFill>
                <a:latin typeface="Arial"/>
              </a:rPr>
              <a:t>List the state matrix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388352" y="3099815"/>
            <a:ext cx="4105656" cy="120700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7388352" y="3099815"/>
            <a:ext cx="82296" cy="1207008"/>
          </a:xfrm>
          <a:prstGeom prst="rect">
            <a:avLst/>
          </a:prstGeom>
          <a:solidFill>
            <a:srgbClr val="724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7626096" y="3300984"/>
            <a:ext cx="411480" cy="411480"/>
          </a:xfrm>
          <a:prstGeom prst="ellipse">
            <a:avLst/>
          </a:prstGeom>
          <a:solidFill>
            <a:srgbClr val="724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626096" y="3300984"/>
            <a:ext cx="411480" cy="4114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11312" y="3264408"/>
            <a:ext cx="2944368" cy="76809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161B26"/>
                </a:solidFill>
                <a:latin typeface="Arial"/>
              </a:rPr>
              <a:t>Make state observable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388352" y="4480559"/>
            <a:ext cx="4105656" cy="120700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7388352" y="4480559"/>
            <a:ext cx="82296" cy="1207008"/>
          </a:xfrm>
          <a:prstGeom prst="rect">
            <a:avLst/>
          </a:prstGeom>
          <a:solidFill>
            <a:srgbClr val="1098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7626096" y="4681727"/>
            <a:ext cx="411480" cy="411480"/>
          </a:xfrm>
          <a:prstGeom prst="ellipse">
            <a:avLst/>
          </a:prstGeom>
          <a:solidFill>
            <a:srgbClr val="1098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626096" y="4681727"/>
            <a:ext cx="411480" cy="4114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211312" y="4645151"/>
            <a:ext cx="2944368" cy="76809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161B26"/>
                </a:solidFill>
                <a:latin typeface="Arial"/>
              </a:rPr>
              <a:t>Test transitions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8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098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10988A"/>
                </a:solidFill>
                <a:latin typeface="Arial"/>
              </a:rPr>
              <a:t>MODULE 3 · PRINCIPLE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21792"/>
            <a:ext cx="10835640" cy="6583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 i="0">
                <a:solidFill>
                  <a:srgbClr val="161B26"/>
                </a:solidFill>
                <a:latin typeface="Arial"/>
              </a:rPr>
              <a:t>Interaction design makes cause and effect visible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6419088"/>
            <a:ext cx="4663440" cy="2194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 i="0">
                <a:solidFill>
                  <a:srgbClr val="5B6372"/>
                </a:solidFill>
                <a:latin typeface="Arial"/>
              </a:rPr>
              <a:t>Claude Design for UX/UI · C744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89120" y="6419088"/>
            <a:ext cx="3657600" cy="2194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0" i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26679" y="6419088"/>
            <a:ext cx="2834640" cy="2194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730" b="0" i="1">
                <a:solidFill>
                  <a:srgbClr val="949DA9"/>
                </a:solidFill>
                <a:latin typeface="Arial"/>
              </a:rPr>
              <a:t>UXPin; Microsoft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44200" y="6419088"/>
            <a:ext cx="731520" cy="2194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 i="0">
                <a:solidFill>
                  <a:srgbClr val="5B6372"/>
                </a:solidFill>
                <a:latin typeface="Arial"/>
              </a:rPr>
              <a:t>83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58368" y="1691640"/>
            <a:ext cx="2487168" cy="233172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58368" y="1691640"/>
            <a:ext cx="82296" cy="23317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877824" y="1874520"/>
            <a:ext cx="420624" cy="420624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77824" y="1874520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08176" y="1819656"/>
            <a:ext cx="1508760" cy="43891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320" b="1" i="0">
                <a:solidFill>
                  <a:srgbClr val="161B26"/>
                </a:solidFill>
                <a:latin typeface="Arial"/>
              </a:rPr>
              <a:t>Trigger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2386584"/>
            <a:ext cx="1965960" cy="133502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070" b="0" i="0">
                <a:solidFill>
                  <a:srgbClr val="5B6372"/>
                </a:solidFill>
                <a:latin typeface="Arial"/>
              </a:rPr>
              <a:t>Click, tap, type, drag, time or system event starts a transition.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14400" y="3703320"/>
            <a:ext cx="1078992" cy="25603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3703320"/>
            <a:ext cx="1078992" cy="25603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1" i="0">
                <a:solidFill>
                  <a:srgbClr val="FFFFFF"/>
                </a:solidFill>
                <a:latin typeface="Arial"/>
              </a:rPr>
              <a:t>DESIGN LENS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401568" y="1691640"/>
            <a:ext cx="2487168" cy="233172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401568" y="1691640"/>
            <a:ext cx="82296" cy="2331720"/>
          </a:xfrm>
          <a:prstGeom prst="rect">
            <a:avLst/>
          </a:prstGeom>
          <a:solidFill>
            <a:srgbClr val="724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3621024" y="1874520"/>
            <a:ext cx="420624" cy="420624"/>
          </a:xfrm>
          <a:prstGeom prst="ellipse">
            <a:avLst/>
          </a:prstGeom>
          <a:solidFill>
            <a:srgbClr val="724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621024" y="1874520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151376" y="1819656"/>
            <a:ext cx="1508760" cy="43891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320" b="1" i="0">
                <a:solidFill>
                  <a:srgbClr val="161B26"/>
                </a:solidFill>
                <a:latin typeface="Arial"/>
              </a:rPr>
              <a:t>Rule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657600" y="2386584"/>
            <a:ext cx="1965960" cy="133502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070" b="0" i="0">
                <a:solidFill>
                  <a:srgbClr val="5B6372"/>
                </a:solidFill>
                <a:latin typeface="Arial"/>
              </a:rPr>
              <a:t>Conditions determine whether the action is allowed and where it leads.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657600" y="3703320"/>
            <a:ext cx="1078992" cy="256032"/>
          </a:xfrm>
          <a:prstGeom prst="rect">
            <a:avLst/>
          </a:prstGeom>
          <a:solidFill>
            <a:srgbClr val="724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657600" y="3703320"/>
            <a:ext cx="1078992" cy="25603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1" i="0">
                <a:solidFill>
                  <a:srgbClr val="FFFFFF"/>
                </a:solidFill>
                <a:latin typeface="Arial"/>
              </a:rPr>
              <a:t>DESIGN LENS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144768" y="1691640"/>
            <a:ext cx="2487168" cy="233172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144768" y="1691640"/>
            <a:ext cx="82296" cy="2331720"/>
          </a:xfrm>
          <a:prstGeom prst="rect">
            <a:avLst/>
          </a:prstGeom>
          <a:solidFill>
            <a:srgbClr val="1098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6364224" y="1874520"/>
            <a:ext cx="420624" cy="420624"/>
          </a:xfrm>
          <a:prstGeom prst="ellipse">
            <a:avLst/>
          </a:prstGeom>
          <a:solidFill>
            <a:srgbClr val="1098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364224" y="1874520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894576" y="1819656"/>
            <a:ext cx="1508760" cy="43891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320" b="1" i="0">
                <a:solidFill>
                  <a:srgbClr val="161B26"/>
                </a:solidFill>
                <a:latin typeface="Arial"/>
              </a:rPr>
              <a:t>Response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00800" y="2386584"/>
            <a:ext cx="1965960" cy="133502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070" b="0" i="0">
                <a:solidFill>
                  <a:srgbClr val="5B6372"/>
                </a:solidFill>
                <a:latin typeface="Arial"/>
              </a:rPr>
              <a:t>Visual, content and navigation feedback confirms the effect.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400800" y="3703320"/>
            <a:ext cx="1078992" cy="256032"/>
          </a:xfrm>
          <a:prstGeom prst="rect">
            <a:avLst/>
          </a:prstGeom>
          <a:solidFill>
            <a:srgbClr val="1098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400800" y="3703320"/>
            <a:ext cx="1078992" cy="25603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1" i="0">
                <a:solidFill>
                  <a:srgbClr val="FFFFFF"/>
                </a:solidFill>
                <a:latin typeface="Arial"/>
              </a:rPr>
              <a:t>DESIGN LENS</a:t>
            </a:r>
          </a:p>
        </p:txBody>
      </p:sp>
      <p:sp>
        <p:nvSpPr>
          <p:cNvPr id="35" name="Rectangle 34"/>
          <p:cNvSpPr/>
          <p:nvPr/>
        </p:nvSpPr>
        <p:spPr>
          <a:xfrm>
            <a:off x="8887968" y="1691640"/>
            <a:ext cx="2487168" cy="233172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8887968" y="1691640"/>
            <a:ext cx="82296" cy="2331720"/>
          </a:xfrm>
          <a:prstGeom prst="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9107424" y="1874520"/>
            <a:ext cx="420624" cy="420624"/>
          </a:xfrm>
          <a:prstGeom prst="ellipse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107424" y="1874520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637776" y="1819656"/>
            <a:ext cx="1508760" cy="43891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320" b="1" i="0">
                <a:solidFill>
                  <a:srgbClr val="161B26"/>
                </a:solidFill>
                <a:latin typeface="Arial"/>
              </a:rPr>
              <a:t>Recovery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144000" y="2386584"/>
            <a:ext cx="1965960" cy="133502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070" b="0" i="0">
                <a:solidFill>
                  <a:srgbClr val="5B6372"/>
                </a:solidFill>
                <a:latin typeface="Arial"/>
              </a:rPr>
              <a:t>Undo, retry or correction protects users from cost and confusion.</a:t>
            </a:r>
          </a:p>
        </p:txBody>
      </p:sp>
      <p:sp>
        <p:nvSpPr>
          <p:cNvPr id="41" name="Rectangle 40"/>
          <p:cNvSpPr/>
          <p:nvPr/>
        </p:nvSpPr>
        <p:spPr>
          <a:xfrm>
            <a:off x="9144000" y="3703320"/>
            <a:ext cx="1078992" cy="256032"/>
          </a:xfrm>
          <a:prstGeom prst="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9144000" y="3703320"/>
            <a:ext cx="1078992" cy="25603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1" i="0">
                <a:solidFill>
                  <a:srgbClr val="FFFFFF"/>
                </a:solidFill>
                <a:latin typeface="Arial"/>
              </a:rPr>
              <a:t>DESIGN LENS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58368" y="4315968"/>
            <a:ext cx="10835640" cy="13258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914400" y="4480560"/>
            <a:ext cx="1828800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 i="0">
                <a:solidFill>
                  <a:srgbClr val="10988A"/>
                </a:solidFill>
                <a:latin typeface="Arial"/>
              </a:rPr>
              <a:t>SYNTHESIS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14400" y="4846320"/>
            <a:ext cx="10195560" cy="56692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 i="0">
                <a:solidFill>
                  <a:srgbClr val="161B26"/>
                </a:solidFill>
                <a:latin typeface="Arial"/>
              </a:rPr>
              <a:t>Click, tap, type, drag, time or system event starts a transition; undo, retry or correction protects users from cost and confusion.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8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098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10988A"/>
                </a:solidFill>
                <a:latin typeface="Arial"/>
              </a:rPr>
              <a:t>MODULE 3 · CASE LENS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21792"/>
            <a:ext cx="10835640" cy="6583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1" i="0">
                <a:solidFill>
                  <a:srgbClr val="161B26"/>
                </a:solidFill>
                <a:latin typeface="Arial"/>
              </a:rPr>
              <a:t>Interaction design makes cause and effect visible — applied judgement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6419088"/>
            <a:ext cx="4663440" cy="2194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 i="0">
                <a:solidFill>
                  <a:srgbClr val="5B6372"/>
                </a:solidFill>
                <a:latin typeface="Arial"/>
              </a:rPr>
              <a:t>Claude Design for UX/UI · C744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89120" y="6419088"/>
            <a:ext cx="3657600" cy="2194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0" i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26679" y="6419088"/>
            <a:ext cx="2834640" cy="2194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730" b="0" i="1">
                <a:solidFill>
                  <a:srgbClr val="949DA9"/>
                </a:solidFill>
                <a:latin typeface="Arial"/>
              </a:rPr>
              <a:t>UXPin; Microsoft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44200" y="6419088"/>
            <a:ext cx="731520" cy="2194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 i="0">
                <a:solidFill>
                  <a:srgbClr val="5B6372"/>
                </a:solidFill>
                <a:latin typeface="Arial"/>
              </a:rPr>
              <a:t>84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58368" y="1755648"/>
            <a:ext cx="3392424" cy="3127248"/>
          </a:xfrm>
          <a:prstGeom prst="rect">
            <a:avLst/>
          </a:prstGeom>
          <a:solidFill>
            <a:srgbClr val="FFFFFF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58368" y="1755648"/>
            <a:ext cx="3392424" cy="91440"/>
          </a:xfrm>
          <a:prstGeom prst="rect">
            <a:avLst/>
          </a:prstGeom>
          <a:solidFill>
            <a:srgbClr val="F06F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886968" y="2029968"/>
            <a:ext cx="493776" cy="493776"/>
          </a:xfrm>
          <a:prstGeom prst="ellipse">
            <a:avLst/>
          </a:prstGeom>
          <a:solidFill>
            <a:srgbClr val="F06F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86968" y="2029968"/>
            <a:ext cx="493776" cy="49377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17904" y="2020824"/>
            <a:ext cx="2240280" cy="51206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F06F61"/>
                </a:solidFill>
                <a:latin typeface="Arial"/>
              </a:rPr>
              <a:t>CONTEXT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2798063"/>
            <a:ext cx="2834640" cy="16459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161B26"/>
                </a:solidFill>
                <a:latin typeface="Arial"/>
              </a:rPr>
              <a:t>A button changes pages without preserving the user's entered data.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14400" y="4526280"/>
            <a:ext cx="2834640" cy="27432"/>
          </a:xfrm>
          <a:prstGeom prst="rect">
            <a:avLst/>
          </a:prstGeom>
          <a:solidFill>
            <a:srgbClr val="F06F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315968" y="1755648"/>
            <a:ext cx="3392424" cy="3127248"/>
          </a:xfrm>
          <a:prstGeom prst="rect">
            <a:avLst/>
          </a:prstGeom>
          <a:solidFill>
            <a:srgbClr val="FFFFFF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315968" y="1755648"/>
            <a:ext cx="3392424" cy="91440"/>
          </a:xfrm>
          <a:prstGeom prst="rect">
            <a:avLst/>
          </a:prstGeom>
          <a:solidFill>
            <a:srgbClr val="1098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4544568" y="2029968"/>
            <a:ext cx="493776" cy="493776"/>
          </a:xfrm>
          <a:prstGeom prst="ellipse">
            <a:avLst/>
          </a:prstGeom>
          <a:solidFill>
            <a:srgbClr val="1098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544568" y="2029968"/>
            <a:ext cx="493776" cy="49377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175504" y="2020824"/>
            <a:ext cx="2240280" cy="51206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10988A"/>
                </a:solidFill>
                <a:latin typeface="Arial"/>
              </a:rPr>
              <a:t>DESIGN MOVE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0" y="2798063"/>
            <a:ext cx="2834640" cy="16459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161B26"/>
                </a:solidFill>
                <a:latin typeface="Arial"/>
              </a:rPr>
              <a:t>Define state persistence and recovery as part of the interaction contract.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572000" y="4526280"/>
            <a:ext cx="2834640" cy="27432"/>
          </a:xfrm>
          <a:prstGeom prst="rect">
            <a:avLst/>
          </a:prstGeom>
          <a:solidFill>
            <a:srgbClr val="1098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7973568" y="1755648"/>
            <a:ext cx="3392424" cy="3127248"/>
          </a:xfrm>
          <a:prstGeom prst="rect">
            <a:avLst/>
          </a:prstGeom>
          <a:solidFill>
            <a:srgbClr val="FFFFFF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973568" y="1755648"/>
            <a:ext cx="3392424" cy="91440"/>
          </a:xfrm>
          <a:prstGeom prst="rect">
            <a:avLst/>
          </a:prstGeom>
          <a:solidFill>
            <a:srgbClr val="724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8202168" y="2029968"/>
            <a:ext cx="493776" cy="493776"/>
          </a:xfrm>
          <a:prstGeom prst="ellipse">
            <a:avLst/>
          </a:prstGeom>
          <a:solidFill>
            <a:srgbClr val="724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202168" y="2029968"/>
            <a:ext cx="493776" cy="49377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833104" y="2020824"/>
            <a:ext cx="2240280" cy="51206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724CD6"/>
                </a:solidFill>
                <a:latin typeface="Arial"/>
              </a:rPr>
              <a:t>EVIDENCE STANDARD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229600" y="2798063"/>
            <a:ext cx="2834640" cy="16459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161B26"/>
                </a:solidFill>
                <a:latin typeface="Arial"/>
              </a:rPr>
              <a:t>Every interaction needs a comprehensible before, during and after.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8229600" y="4526280"/>
            <a:ext cx="2834640" cy="27432"/>
          </a:xfrm>
          <a:prstGeom prst="rect">
            <a:avLst/>
          </a:prstGeom>
          <a:solidFill>
            <a:srgbClr val="724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58368" y="5102352"/>
            <a:ext cx="10835640" cy="56692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14400" y="5239512"/>
            <a:ext cx="10241280" cy="29260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250" b="1" i="0">
                <a:solidFill>
                  <a:srgbClr val="161B26"/>
                </a:solidFill>
                <a:latin typeface="Arial"/>
              </a:rPr>
              <a:t>Ask: what user outcome changes, and what evidence would prove it?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8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098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10988A"/>
                </a:solidFill>
                <a:latin typeface="Arial"/>
              </a:rPr>
              <a:t>MODULE 3 · PRINCIPLE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21792"/>
            <a:ext cx="10835640" cy="6583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 i="0">
                <a:solidFill>
                  <a:srgbClr val="161B26"/>
                </a:solidFill>
                <a:latin typeface="Arial"/>
              </a:rPr>
              <a:t>Navigation should match the information model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6419088"/>
            <a:ext cx="4663440" cy="2194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 i="0">
                <a:solidFill>
                  <a:srgbClr val="5B6372"/>
                </a:solidFill>
                <a:latin typeface="Arial"/>
              </a:rPr>
              <a:t>Claude Design for UX/UI · C744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89120" y="6419088"/>
            <a:ext cx="3657600" cy="2194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0" i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26679" y="6419088"/>
            <a:ext cx="2834640" cy="2194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730" b="0" i="1">
                <a:solidFill>
                  <a:srgbClr val="949DA9"/>
                </a:solidFill>
                <a:latin typeface="Arial"/>
              </a:rPr>
              <a:t>Maze; Dribbble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44200" y="6419088"/>
            <a:ext cx="731520" cy="2194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 i="0">
                <a:solidFill>
                  <a:srgbClr val="5B6372"/>
                </a:solidFill>
                <a:latin typeface="Arial"/>
              </a:rPr>
              <a:t>85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58368" y="1691640"/>
            <a:ext cx="2487168" cy="233172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58368" y="1691640"/>
            <a:ext cx="82296" cy="23317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877824" y="1874520"/>
            <a:ext cx="420624" cy="420624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77824" y="1874520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08176" y="1819656"/>
            <a:ext cx="1508760" cy="43891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320" b="1" i="0">
                <a:solidFill>
                  <a:srgbClr val="161B26"/>
                </a:solidFill>
                <a:latin typeface="Arial"/>
              </a:rPr>
              <a:t>Global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2386584"/>
            <a:ext cx="1965960" cy="133502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070" b="0" i="0">
                <a:solidFill>
                  <a:srgbClr val="5B6372"/>
                </a:solidFill>
                <a:latin typeface="Arial"/>
              </a:rPr>
              <a:t>Persistent routes connect the product's major destinations.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14400" y="3703320"/>
            <a:ext cx="1078992" cy="25603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3703320"/>
            <a:ext cx="1078992" cy="25603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1" i="0">
                <a:solidFill>
                  <a:srgbClr val="FFFFFF"/>
                </a:solidFill>
                <a:latin typeface="Arial"/>
              </a:rPr>
              <a:t>DESIGN LENS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401568" y="1691640"/>
            <a:ext cx="2487168" cy="233172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401568" y="1691640"/>
            <a:ext cx="82296" cy="2331720"/>
          </a:xfrm>
          <a:prstGeom prst="rect">
            <a:avLst/>
          </a:prstGeom>
          <a:solidFill>
            <a:srgbClr val="724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3621024" y="1874520"/>
            <a:ext cx="420624" cy="420624"/>
          </a:xfrm>
          <a:prstGeom prst="ellipse">
            <a:avLst/>
          </a:prstGeom>
          <a:solidFill>
            <a:srgbClr val="724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621024" y="1874520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151376" y="1819656"/>
            <a:ext cx="1508760" cy="43891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320" b="1" i="0">
                <a:solidFill>
                  <a:srgbClr val="161B26"/>
                </a:solidFill>
                <a:latin typeface="Arial"/>
              </a:rPr>
              <a:t>Local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657600" y="2386584"/>
            <a:ext cx="1965960" cy="133502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070" b="0" i="0">
                <a:solidFill>
                  <a:srgbClr val="5B6372"/>
                </a:solidFill>
                <a:latin typeface="Arial"/>
              </a:rPr>
              <a:t>Tabs, subnavigation and filters organise a bounded context.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657600" y="3703320"/>
            <a:ext cx="1078992" cy="256032"/>
          </a:xfrm>
          <a:prstGeom prst="rect">
            <a:avLst/>
          </a:prstGeom>
          <a:solidFill>
            <a:srgbClr val="724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657600" y="3703320"/>
            <a:ext cx="1078992" cy="25603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1" i="0">
                <a:solidFill>
                  <a:srgbClr val="FFFFFF"/>
                </a:solidFill>
                <a:latin typeface="Arial"/>
              </a:rPr>
              <a:t>DESIGN LENS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144768" y="1691640"/>
            <a:ext cx="2487168" cy="233172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144768" y="1691640"/>
            <a:ext cx="82296" cy="2331720"/>
          </a:xfrm>
          <a:prstGeom prst="rect">
            <a:avLst/>
          </a:prstGeom>
          <a:solidFill>
            <a:srgbClr val="1098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6364224" y="1874520"/>
            <a:ext cx="420624" cy="420624"/>
          </a:xfrm>
          <a:prstGeom prst="ellipse">
            <a:avLst/>
          </a:prstGeom>
          <a:solidFill>
            <a:srgbClr val="1098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364224" y="1874520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894576" y="1819656"/>
            <a:ext cx="1508760" cy="43891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320" b="1" i="0">
                <a:solidFill>
                  <a:srgbClr val="161B26"/>
                </a:solidFill>
                <a:latin typeface="Arial"/>
              </a:rPr>
              <a:t>Contextual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00800" y="2386584"/>
            <a:ext cx="1965960" cy="133502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070" b="0" i="0">
                <a:solidFill>
                  <a:srgbClr val="5B6372"/>
                </a:solidFill>
                <a:latin typeface="Arial"/>
              </a:rPr>
              <a:t>Links and actions appear where their meaning is strongest.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400800" y="3703320"/>
            <a:ext cx="1078992" cy="256032"/>
          </a:xfrm>
          <a:prstGeom prst="rect">
            <a:avLst/>
          </a:prstGeom>
          <a:solidFill>
            <a:srgbClr val="1098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400800" y="3703320"/>
            <a:ext cx="1078992" cy="25603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1" i="0">
                <a:solidFill>
                  <a:srgbClr val="FFFFFF"/>
                </a:solidFill>
                <a:latin typeface="Arial"/>
              </a:rPr>
              <a:t>DESIGN LENS</a:t>
            </a:r>
          </a:p>
        </p:txBody>
      </p:sp>
      <p:sp>
        <p:nvSpPr>
          <p:cNvPr id="35" name="Rectangle 34"/>
          <p:cNvSpPr/>
          <p:nvPr/>
        </p:nvSpPr>
        <p:spPr>
          <a:xfrm>
            <a:off x="8887968" y="1691640"/>
            <a:ext cx="2487168" cy="233172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8887968" y="1691640"/>
            <a:ext cx="82296" cy="2331720"/>
          </a:xfrm>
          <a:prstGeom prst="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9107424" y="1874520"/>
            <a:ext cx="420624" cy="420624"/>
          </a:xfrm>
          <a:prstGeom prst="ellipse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107424" y="1874520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637776" y="1819656"/>
            <a:ext cx="1508760" cy="43891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320" b="1" i="0">
                <a:solidFill>
                  <a:srgbClr val="161B26"/>
                </a:solidFill>
                <a:latin typeface="Arial"/>
              </a:rPr>
              <a:t>Wayfinding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144000" y="2386584"/>
            <a:ext cx="1965960" cy="133502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070" b="0" i="0">
                <a:solidFill>
                  <a:srgbClr val="5B6372"/>
                </a:solidFill>
                <a:latin typeface="Arial"/>
              </a:rPr>
              <a:t>Current location, history and next options remain visible.</a:t>
            </a:r>
          </a:p>
        </p:txBody>
      </p:sp>
      <p:sp>
        <p:nvSpPr>
          <p:cNvPr id="41" name="Rectangle 40"/>
          <p:cNvSpPr/>
          <p:nvPr/>
        </p:nvSpPr>
        <p:spPr>
          <a:xfrm>
            <a:off x="9144000" y="3703320"/>
            <a:ext cx="1078992" cy="256032"/>
          </a:xfrm>
          <a:prstGeom prst="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9144000" y="3703320"/>
            <a:ext cx="1078992" cy="25603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1" i="0">
                <a:solidFill>
                  <a:srgbClr val="FFFFFF"/>
                </a:solidFill>
                <a:latin typeface="Arial"/>
              </a:rPr>
              <a:t>DESIGN LENS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58368" y="4315968"/>
            <a:ext cx="10835640" cy="13258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914400" y="4480560"/>
            <a:ext cx="1828800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 i="0">
                <a:solidFill>
                  <a:srgbClr val="10988A"/>
                </a:solidFill>
                <a:latin typeface="Arial"/>
              </a:rPr>
              <a:t>SYNTHESIS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14400" y="4846320"/>
            <a:ext cx="10195560" cy="56692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 i="0">
                <a:solidFill>
                  <a:srgbClr val="161B26"/>
                </a:solidFill>
                <a:latin typeface="Arial"/>
              </a:rPr>
              <a:t>Persistent routes connect the product's major destinations; current location, history and next options remain visible.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8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098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10988A"/>
                </a:solidFill>
                <a:latin typeface="Arial"/>
              </a:rPr>
              <a:t>MODULE 3 · CASE LENS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21792"/>
            <a:ext cx="10835640" cy="6583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200" b="1" i="0">
                <a:solidFill>
                  <a:srgbClr val="161B26"/>
                </a:solidFill>
                <a:latin typeface="Arial"/>
              </a:rPr>
              <a:t>Navigation should match the information model — applied judgement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6419088"/>
            <a:ext cx="4663440" cy="2194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 i="0">
                <a:solidFill>
                  <a:srgbClr val="5B6372"/>
                </a:solidFill>
                <a:latin typeface="Arial"/>
              </a:rPr>
              <a:t>Claude Design for UX/UI · C744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89120" y="6419088"/>
            <a:ext cx="3657600" cy="2194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0" i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26679" y="6419088"/>
            <a:ext cx="2834640" cy="2194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730" b="0" i="1">
                <a:solidFill>
                  <a:srgbClr val="949DA9"/>
                </a:solidFill>
                <a:latin typeface="Arial"/>
              </a:rPr>
              <a:t>Maze; Dribbble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44200" y="6419088"/>
            <a:ext cx="731520" cy="2194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 i="0">
                <a:solidFill>
                  <a:srgbClr val="5B6372"/>
                </a:solidFill>
                <a:latin typeface="Arial"/>
              </a:rPr>
              <a:t>86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58368" y="1755648"/>
            <a:ext cx="3392424" cy="3127248"/>
          </a:xfrm>
          <a:prstGeom prst="rect">
            <a:avLst/>
          </a:prstGeom>
          <a:solidFill>
            <a:srgbClr val="FFFFFF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58368" y="1755648"/>
            <a:ext cx="3392424" cy="91440"/>
          </a:xfrm>
          <a:prstGeom prst="rect">
            <a:avLst/>
          </a:prstGeom>
          <a:solidFill>
            <a:srgbClr val="F06F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886968" y="2029968"/>
            <a:ext cx="493776" cy="493776"/>
          </a:xfrm>
          <a:prstGeom prst="ellipse">
            <a:avLst/>
          </a:prstGeom>
          <a:solidFill>
            <a:srgbClr val="F06F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86968" y="2029968"/>
            <a:ext cx="493776" cy="49377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17904" y="2020824"/>
            <a:ext cx="2240280" cy="51206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F06F61"/>
                </a:solidFill>
                <a:latin typeface="Arial"/>
              </a:rPr>
              <a:t>CONTEXT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2798063"/>
            <a:ext cx="2834640" cy="16459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161B26"/>
                </a:solidFill>
                <a:latin typeface="Arial"/>
              </a:rPr>
              <a:t>A mobile app hides the current section and relies on a back button for all movement.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14400" y="4526280"/>
            <a:ext cx="2834640" cy="27432"/>
          </a:xfrm>
          <a:prstGeom prst="rect">
            <a:avLst/>
          </a:prstGeom>
          <a:solidFill>
            <a:srgbClr val="F06F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315968" y="1755648"/>
            <a:ext cx="3392424" cy="3127248"/>
          </a:xfrm>
          <a:prstGeom prst="rect">
            <a:avLst/>
          </a:prstGeom>
          <a:solidFill>
            <a:srgbClr val="FFFFFF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315968" y="1755648"/>
            <a:ext cx="3392424" cy="91440"/>
          </a:xfrm>
          <a:prstGeom prst="rect">
            <a:avLst/>
          </a:prstGeom>
          <a:solidFill>
            <a:srgbClr val="1098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4544568" y="2029968"/>
            <a:ext cx="493776" cy="493776"/>
          </a:xfrm>
          <a:prstGeom prst="ellipse">
            <a:avLst/>
          </a:prstGeom>
          <a:solidFill>
            <a:srgbClr val="1098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544568" y="2029968"/>
            <a:ext cx="493776" cy="49377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175504" y="2020824"/>
            <a:ext cx="2240280" cy="51206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10988A"/>
                </a:solidFill>
                <a:latin typeface="Arial"/>
              </a:rPr>
              <a:t>DESIGN MOVE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0" y="2798063"/>
            <a:ext cx="2834640" cy="16459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161B26"/>
                </a:solidFill>
                <a:latin typeface="Arial"/>
              </a:rPr>
              <a:t>Expose location and primary destinations without overwhelming the task view.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572000" y="4526280"/>
            <a:ext cx="2834640" cy="27432"/>
          </a:xfrm>
          <a:prstGeom prst="rect">
            <a:avLst/>
          </a:prstGeom>
          <a:solidFill>
            <a:srgbClr val="1098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7973568" y="1755648"/>
            <a:ext cx="3392424" cy="3127248"/>
          </a:xfrm>
          <a:prstGeom prst="rect">
            <a:avLst/>
          </a:prstGeom>
          <a:solidFill>
            <a:srgbClr val="FFFFFF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973568" y="1755648"/>
            <a:ext cx="3392424" cy="91440"/>
          </a:xfrm>
          <a:prstGeom prst="rect">
            <a:avLst/>
          </a:prstGeom>
          <a:solidFill>
            <a:srgbClr val="724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8202168" y="2029968"/>
            <a:ext cx="493776" cy="493776"/>
          </a:xfrm>
          <a:prstGeom prst="ellipse">
            <a:avLst/>
          </a:prstGeom>
          <a:solidFill>
            <a:srgbClr val="724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202168" y="2029968"/>
            <a:ext cx="493776" cy="49377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833104" y="2020824"/>
            <a:ext cx="2240280" cy="51206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724CD6"/>
                </a:solidFill>
                <a:latin typeface="Arial"/>
              </a:rPr>
              <a:t>EVIDENCE STANDARD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229600" y="2798063"/>
            <a:ext cx="2834640" cy="16459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161B26"/>
                </a:solidFill>
                <a:latin typeface="Arial"/>
              </a:rPr>
              <a:t>Users should know where they are, what is nearby and how to recover.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8229600" y="4526280"/>
            <a:ext cx="2834640" cy="27432"/>
          </a:xfrm>
          <a:prstGeom prst="rect">
            <a:avLst/>
          </a:prstGeom>
          <a:solidFill>
            <a:srgbClr val="724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58368" y="5102352"/>
            <a:ext cx="10835640" cy="56692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14400" y="5239512"/>
            <a:ext cx="10241280" cy="29260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250" b="1" i="0">
                <a:solidFill>
                  <a:srgbClr val="161B26"/>
                </a:solidFill>
                <a:latin typeface="Arial"/>
              </a:rPr>
              <a:t>Ask: what user outcome changes, and what evidence would prove it?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8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098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10988A"/>
                </a:solidFill>
                <a:latin typeface="Arial"/>
              </a:rPr>
              <a:t>MODULE 3 · PRINCIPLE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21792"/>
            <a:ext cx="10835640" cy="6583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 i="0">
                <a:solidFill>
                  <a:srgbClr val="161B26"/>
                </a:solidFill>
                <a:latin typeface="Arial"/>
              </a:rPr>
              <a:t>Forms are conversations with constraints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6419088"/>
            <a:ext cx="4663440" cy="2194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 i="0">
                <a:solidFill>
                  <a:srgbClr val="5B6372"/>
                </a:solidFill>
                <a:latin typeface="Arial"/>
              </a:rPr>
              <a:t>Claude Design for UX/UI · C744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89120" y="6419088"/>
            <a:ext cx="3657600" cy="2194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0" i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26679" y="6419088"/>
            <a:ext cx="2834640" cy="2194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730" b="0" i="1">
                <a:solidFill>
                  <a:srgbClr val="949DA9"/>
                </a:solidFill>
                <a:latin typeface="Arial"/>
              </a:rPr>
              <a:t>UXPin; Dribbble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44200" y="6419088"/>
            <a:ext cx="731520" cy="2194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 i="0">
                <a:solidFill>
                  <a:srgbClr val="5B6372"/>
                </a:solidFill>
                <a:latin typeface="Arial"/>
              </a:rPr>
              <a:t>87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58368" y="1691640"/>
            <a:ext cx="2487168" cy="233172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58368" y="1691640"/>
            <a:ext cx="82296" cy="23317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877824" y="1874520"/>
            <a:ext cx="420624" cy="420624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77824" y="1874520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08176" y="1819656"/>
            <a:ext cx="1508760" cy="43891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320" b="1" i="0">
                <a:solidFill>
                  <a:srgbClr val="161B26"/>
                </a:solidFill>
                <a:latin typeface="Arial"/>
              </a:rPr>
              <a:t>Ask less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2386584"/>
            <a:ext cx="1965960" cy="133502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070" b="0" i="0">
                <a:solidFill>
                  <a:srgbClr val="5B6372"/>
                </a:solidFill>
                <a:latin typeface="Arial"/>
              </a:rPr>
              <a:t>Request only information needed for the current outcome.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14400" y="3703320"/>
            <a:ext cx="1078992" cy="25603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3703320"/>
            <a:ext cx="1078992" cy="25603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1" i="0">
                <a:solidFill>
                  <a:srgbClr val="FFFFFF"/>
                </a:solidFill>
                <a:latin typeface="Arial"/>
              </a:rPr>
              <a:t>DESIGN LENS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401568" y="1691640"/>
            <a:ext cx="2487168" cy="233172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401568" y="1691640"/>
            <a:ext cx="82296" cy="2331720"/>
          </a:xfrm>
          <a:prstGeom prst="rect">
            <a:avLst/>
          </a:prstGeom>
          <a:solidFill>
            <a:srgbClr val="724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3621024" y="1874520"/>
            <a:ext cx="420624" cy="420624"/>
          </a:xfrm>
          <a:prstGeom prst="ellipse">
            <a:avLst/>
          </a:prstGeom>
          <a:solidFill>
            <a:srgbClr val="724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621024" y="1874520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151376" y="1819656"/>
            <a:ext cx="1508760" cy="43891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320" b="1" i="0">
                <a:solidFill>
                  <a:srgbClr val="161B26"/>
                </a:solidFill>
                <a:latin typeface="Arial"/>
              </a:rPr>
              <a:t>Label clearly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657600" y="2386584"/>
            <a:ext cx="1965960" cy="133502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070" b="0" i="0">
                <a:solidFill>
                  <a:srgbClr val="5B6372"/>
                </a:solidFill>
                <a:latin typeface="Arial"/>
              </a:rPr>
              <a:t>Persistent labels beat placeholders that disappear.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657600" y="3703320"/>
            <a:ext cx="1078992" cy="256032"/>
          </a:xfrm>
          <a:prstGeom prst="rect">
            <a:avLst/>
          </a:prstGeom>
          <a:solidFill>
            <a:srgbClr val="724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657600" y="3703320"/>
            <a:ext cx="1078992" cy="25603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1" i="0">
                <a:solidFill>
                  <a:srgbClr val="FFFFFF"/>
                </a:solidFill>
                <a:latin typeface="Arial"/>
              </a:rPr>
              <a:t>DESIGN LENS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144768" y="1691640"/>
            <a:ext cx="2487168" cy="233172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144768" y="1691640"/>
            <a:ext cx="82296" cy="2331720"/>
          </a:xfrm>
          <a:prstGeom prst="rect">
            <a:avLst/>
          </a:prstGeom>
          <a:solidFill>
            <a:srgbClr val="1098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6364224" y="1874520"/>
            <a:ext cx="420624" cy="420624"/>
          </a:xfrm>
          <a:prstGeom prst="ellipse">
            <a:avLst/>
          </a:prstGeom>
          <a:solidFill>
            <a:srgbClr val="1098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364224" y="1874520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894576" y="1819656"/>
            <a:ext cx="1508760" cy="43891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320" b="1" i="0">
                <a:solidFill>
                  <a:srgbClr val="161B26"/>
                </a:solidFill>
                <a:latin typeface="Arial"/>
              </a:rPr>
              <a:t>Validate locally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00800" y="2386584"/>
            <a:ext cx="1965960" cy="133502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070" b="0" i="0">
                <a:solidFill>
                  <a:srgbClr val="5B6372"/>
                </a:solidFill>
                <a:latin typeface="Arial"/>
              </a:rPr>
              <a:t>Place specific guidance next to the field that needs attention.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400800" y="3703320"/>
            <a:ext cx="1078992" cy="256032"/>
          </a:xfrm>
          <a:prstGeom prst="rect">
            <a:avLst/>
          </a:prstGeom>
          <a:solidFill>
            <a:srgbClr val="1098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400800" y="3703320"/>
            <a:ext cx="1078992" cy="25603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1" i="0">
                <a:solidFill>
                  <a:srgbClr val="FFFFFF"/>
                </a:solidFill>
                <a:latin typeface="Arial"/>
              </a:rPr>
              <a:t>DESIGN LENS</a:t>
            </a:r>
          </a:p>
        </p:txBody>
      </p:sp>
      <p:sp>
        <p:nvSpPr>
          <p:cNvPr id="35" name="Rectangle 34"/>
          <p:cNvSpPr/>
          <p:nvPr/>
        </p:nvSpPr>
        <p:spPr>
          <a:xfrm>
            <a:off x="8887968" y="1691640"/>
            <a:ext cx="2487168" cy="233172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8887968" y="1691640"/>
            <a:ext cx="82296" cy="2331720"/>
          </a:xfrm>
          <a:prstGeom prst="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9107424" y="1874520"/>
            <a:ext cx="420624" cy="420624"/>
          </a:xfrm>
          <a:prstGeom prst="ellipse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107424" y="1874520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637776" y="1819656"/>
            <a:ext cx="1508760" cy="43891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320" b="1" i="0">
                <a:solidFill>
                  <a:srgbClr val="161B26"/>
                </a:solidFill>
                <a:latin typeface="Arial"/>
              </a:rPr>
              <a:t>Preserve progress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144000" y="2386584"/>
            <a:ext cx="1965960" cy="133502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070" b="0" i="0">
                <a:solidFill>
                  <a:srgbClr val="5B6372"/>
                </a:solidFill>
                <a:latin typeface="Arial"/>
              </a:rPr>
              <a:t>Do not erase correct input when one value fails.</a:t>
            </a:r>
          </a:p>
        </p:txBody>
      </p:sp>
      <p:sp>
        <p:nvSpPr>
          <p:cNvPr id="41" name="Rectangle 40"/>
          <p:cNvSpPr/>
          <p:nvPr/>
        </p:nvSpPr>
        <p:spPr>
          <a:xfrm>
            <a:off x="9144000" y="3703320"/>
            <a:ext cx="1078992" cy="256032"/>
          </a:xfrm>
          <a:prstGeom prst="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9144000" y="3703320"/>
            <a:ext cx="1078992" cy="25603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1" i="0">
                <a:solidFill>
                  <a:srgbClr val="FFFFFF"/>
                </a:solidFill>
                <a:latin typeface="Arial"/>
              </a:rPr>
              <a:t>DESIGN LENS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58368" y="4315968"/>
            <a:ext cx="10835640" cy="13258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914400" y="4480560"/>
            <a:ext cx="1828800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 i="0">
                <a:solidFill>
                  <a:srgbClr val="10988A"/>
                </a:solidFill>
                <a:latin typeface="Arial"/>
              </a:rPr>
              <a:t>SYNTHESIS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14400" y="4846320"/>
            <a:ext cx="10195560" cy="56692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 i="0">
                <a:solidFill>
                  <a:srgbClr val="161B26"/>
                </a:solidFill>
                <a:latin typeface="Arial"/>
              </a:rPr>
              <a:t>Request only information needed for the current outcome; do not erase correct input when one value fails.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8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098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10988A"/>
                </a:solidFill>
                <a:latin typeface="Arial"/>
              </a:rPr>
              <a:t>MODULE 3 · WORKED EXAMPLE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21792"/>
            <a:ext cx="10835640" cy="6583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500" b="1" i="0">
                <a:solidFill>
                  <a:srgbClr val="161B26"/>
                </a:solidFill>
                <a:latin typeface="Arial"/>
              </a:rPr>
              <a:t>Forms are conversations with constraints — applied pattern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6419088"/>
            <a:ext cx="4663440" cy="2194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 i="0">
                <a:solidFill>
                  <a:srgbClr val="5B6372"/>
                </a:solidFill>
                <a:latin typeface="Arial"/>
              </a:rPr>
              <a:t>Claude Design for UX/UI · C744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89120" y="6419088"/>
            <a:ext cx="3657600" cy="2194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0" i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26679" y="6419088"/>
            <a:ext cx="2834640" cy="2194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730" b="0" i="1">
                <a:solidFill>
                  <a:srgbClr val="949DA9"/>
                </a:solidFill>
                <a:latin typeface="Arial"/>
              </a:rPr>
              <a:t>UXPin; Dribbble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44200" y="6419088"/>
            <a:ext cx="731520" cy="2194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 i="0">
                <a:solidFill>
                  <a:srgbClr val="5B6372"/>
                </a:solidFill>
                <a:latin typeface="Arial"/>
              </a:rPr>
              <a:t>88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58368" y="1719072"/>
            <a:ext cx="6446520" cy="416052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58368" y="1719072"/>
            <a:ext cx="91440" cy="4160520"/>
          </a:xfrm>
          <a:prstGeom prst="rect">
            <a:avLst/>
          </a:prstGeom>
          <a:solidFill>
            <a:srgbClr val="1098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32688" y="1938528"/>
            <a:ext cx="5897880" cy="35204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0"/>
              </a:spcAft>
            </a:pPr>
            <a:r>
              <a:rPr sz="1220" b="0" i="0">
                <a:solidFill>
                  <a:srgbClr val="D6E4FF"/>
                </a:solidFill>
                <a:latin typeface="Consolas"/>
              </a:rPr>
              <a:t>&lt;label for="email"&gt;Work email&lt;/label&gt;
&lt;input id="email" type="email" aria-describedby="email-help email-error"&gt;
&lt;p id="email-help"&gt;We'll send the booking receipt here.&lt;/p&gt;
&lt;p id="email-error" role="alert"&gt;&lt;/p&gt;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388352" y="1719072"/>
            <a:ext cx="4105656" cy="120700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388352" y="1719072"/>
            <a:ext cx="82296" cy="120700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7626096" y="1920240"/>
            <a:ext cx="411480" cy="41148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626096" y="1920240"/>
            <a:ext cx="411480" cy="4114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11312" y="1883664"/>
            <a:ext cx="2944368" cy="76809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161B26"/>
                </a:solidFill>
                <a:latin typeface="Arial"/>
              </a:rPr>
              <a:t>Persistent label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388352" y="3099815"/>
            <a:ext cx="4105656" cy="120700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7388352" y="3099815"/>
            <a:ext cx="82296" cy="1207008"/>
          </a:xfrm>
          <a:prstGeom prst="rect">
            <a:avLst/>
          </a:prstGeom>
          <a:solidFill>
            <a:srgbClr val="724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7626096" y="3300984"/>
            <a:ext cx="411480" cy="411480"/>
          </a:xfrm>
          <a:prstGeom prst="ellipse">
            <a:avLst/>
          </a:prstGeom>
          <a:solidFill>
            <a:srgbClr val="724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626096" y="3300984"/>
            <a:ext cx="411480" cy="4114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11312" y="3264408"/>
            <a:ext cx="2944368" cy="76809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161B26"/>
                </a:solidFill>
                <a:latin typeface="Arial"/>
              </a:rPr>
              <a:t>Help is associated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388352" y="4480559"/>
            <a:ext cx="4105656" cy="120700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7388352" y="4480559"/>
            <a:ext cx="82296" cy="1207008"/>
          </a:xfrm>
          <a:prstGeom prst="rect">
            <a:avLst/>
          </a:prstGeom>
          <a:solidFill>
            <a:srgbClr val="1098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7626096" y="4681727"/>
            <a:ext cx="411480" cy="411480"/>
          </a:xfrm>
          <a:prstGeom prst="ellipse">
            <a:avLst/>
          </a:prstGeom>
          <a:solidFill>
            <a:srgbClr val="1098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626096" y="4681727"/>
            <a:ext cx="411480" cy="4114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211312" y="4645151"/>
            <a:ext cx="2944368" cy="76809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161B26"/>
                </a:solidFill>
                <a:latin typeface="Arial"/>
              </a:rPr>
              <a:t>Error is announced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8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098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10988A"/>
                </a:solidFill>
                <a:latin typeface="Arial"/>
              </a:rPr>
              <a:t>MODULE 3 · PRINCIPLE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21792"/>
            <a:ext cx="10835640" cy="6583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 i="0">
                <a:solidFill>
                  <a:srgbClr val="161B26"/>
                </a:solidFill>
                <a:latin typeface="Arial"/>
              </a:rPr>
              <a:t>Feedback and microcopy close the loop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6419088"/>
            <a:ext cx="4663440" cy="2194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 i="0">
                <a:solidFill>
                  <a:srgbClr val="5B6372"/>
                </a:solidFill>
                <a:latin typeface="Arial"/>
              </a:rPr>
              <a:t>Claude Design for UX/UI · C744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89120" y="6419088"/>
            <a:ext cx="3657600" cy="2194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0" i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26679" y="6419088"/>
            <a:ext cx="2834640" cy="2194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730" b="0" i="1">
                <a:solidFill>
                  <a:srgbClr val="949DA9"/>
                </a:solidFill>
                <a:latin typeface="Arial"/>
              </a:rPr>
              <a:t>Microsoft; MockFlow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44200" y="6419088"/>
            <a:ext cx="731520" cy="2194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 i="0">
                <a:solidFill>
                  <a:srgbClr val="5B6372"/>
                </a:solidFill>
                <a:latin typeface="Arial"/>
              </a:rPr>
              <a:t>89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58368" y="1691640"/>
            <a:ext cx="2487168" cy="233172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58368" y="1691640"/>
            <a:ext cx="82296" cy="23317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877824" y="1874520"/>
            <a:ext cx="420624" cy="420624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77824" y="1874520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08176" y="1819656"/>
            <a:ext cx="1508760" cy="43891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320" b="1" i="0">
                <a:solidFill>
                  <a:srgbClr val="161B26"/>
                </a:solidFill>
                <a:latin typeface="Arial"/>
              </a:rPr>
              <a:t>Status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2386584"/>
            <a:ext cx="1965960" cy="133502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070" b="0" i="0">
                <a:solidFill>
                  <a:srgbClr val="5B6372"/>
                </a:solidFill>
                <a:latin typeface="Arial"/>
              </a:rPr>
              <a:t>Tell users whether the system is working, waiting or complete.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14400" y="3703320"/>
            <a:ext cx="1078992" cy="25603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3703320"/>
            <a:ext cx="1078992" cy="25603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1" i="0">
                <a:solidFill>
                  <a:srgbClr val="FFFFFF"/>
                </a:solidFill>
                <a:latin typeface="Arial"/>
              </a:rPr>
              <a:t>DESIGN LENS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401568" y="1691640"/>
            <a:ext cx="2487168" cy="233172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401568" y="1691640"/>
            <a:ext cx="82296" cy="2331720"/>
          </a:xfrm>
          <a:prstGeom prst="rect">
            <a:avLst/>
          </a:prstGeom>
          <a:solidFill>
            <a:srgbClr val="724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3621024" y="1874520"/>
            <a:ext cx="420624" cy="420624"/>
          </a:xfrm>
          <a:prstGeom prst="ellipse">
            <a:avLst/>
          </a:prstGeom>
          <a:solidFill>
            <a:srgbClr val="724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621024" y="1874520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151376" y="1819656"/>
            <a:ext cx="1508760" cy="43891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320" b="1" i="0">
                <a:solidFill>
                  <a:srgbClr val="161B26"/>
                </a:solidFill>
                <a:latin typeface="Arial"/>
              </a:rPr>
              <a:t>Specific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657600" y="2386584"/>
            <a:ext cx="1965960" cy="133502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070" b="0" i="0">
                <a:solidFill>
                  <a:srgbClr val="5B6372"/>
                </a:solidFill>
                <a:latin typeface="Arial"/>
              </a:rPr>
              <a:t>Name the item and action rather than saying 'Success'.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657600" y="3703320"/>
            <a:ext cx="1078992" cy="256032"/>
          </a:xfrm>
          <a:prstGeom prst="rect">
            <a:avLst/>
          </a:prstGeom>
          <a:solidFill>
            <a:srgbClr val="724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657600" y="3703320"/>
            <a:ext cx="1078992" cy="25603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1" i="0">
                <a:solidFill>
                  <a:srgbClr val="FFFFFF"/>
                </a:solidFill>
                <a:latin typeface="Arial"/>
              </a:rPr>
              <a:t>DESIGN LENS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144768" y="1691640"/>
            <a:ext cx="2487168" cy="233172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144768" y="1691640"/>
            <a:ext cx="82296" cy="2331720"/>
          </a:xfrm>
          <a:prstGeom prst="rect">
            <a:avLst/>
          </a:prstGeom>
          <a:solidFill>
            <a:srgbClr val="1098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6364224" y="1874520"/>
            <a:ext cx="420624" cy="420624"/>
          </a:xfrm>
          <a:prstGeom prst="ellipse">
            <a:avLst/>
          </a:prstGeom>
          <a:solidFill>
            <a:srgbClr val="1098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364224" y="1874520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894576" y="1819656"/>
            <a:ext cx="1508760" cy="43891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320" b="1" i="0">
                <a:solidFill>
                  <a:srgbClr val="161B26"/>
                </a:solidFill>
                <a:latin typeface="Arial"/>
              </a:rPr>
              <a:t>Proportional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00800" y="2386584"/>
            <a:ext cx="1965960" cy="133502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070" b="0" i="0">
                <a:solidFill>
                  <a:srgbClr val="5B6372"/>
                </a:solidFill>
                <a:latin typeface="Arial"/>
              </a:rPr>
              <a:t>Match prominence and persistence to consequence.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400800" y="3703320"/>
            <a:ext cx="1078992" cy="256032"/>
          </a:xfrm>
          <a:prstGeom prst="rect">
            <a:avLst/>
          </a:prstGeom>
          <a:solidFill>
            <a:srgbClr val="1098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400800" y="3703320"/>
            <a:ext cx="1078992" cy="25603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1" i="0">
                <a:solidFill>
                  <a:srgbClr val="FFFFFF"/>
                </a:solidFill>
                <a:latin typeface="Arial"/>
              </a:rPr>
              <a:t>DESIGN LENS</a:t>
            </a:r>
          </a:p>
        </p:txBody>
      </p:sp>
      <p:sp>
        <p:nvSpPr>
          <p:cNvPr id="35" name="Rectangle 34"/>
          <p:cNvSpPr/>
          <p:nvPr/>
        </p:nvSpPr>
        <p:spPr>
          <a:xfrm>
            <a:off x="8887968" y="1691640"/>
            <a:ext cx="2487168" cy="233172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8887968" y="1691640"/>
            <a:ext cx="82296" cy="2331720"/>
          </a:xfrm>
          <a:prstGeom prst="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9107424" y="1874520"/>
            <a:ext cx="420624" cy="420624"/>
          </a:xfrm>
          <a:prstGeom prst="ellipse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107424" y="1874520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637776" y="1819656"/>
            <a:ext cx="1508760" cy="43891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320" b="1" i="0">
                <a:solidFill>
                  <a:srgbClr val="161B26"/>
                </a:solidFill>
                <a:latin typeface="Arial"/>
              </a:rPr>
              <a:t>Actionable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144000" y="2386584"/>
            <a:ext cx="1965960" cy="133502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070" b="0" i="0">
                <a:solidFill>
                  <a:srgbClr val="5B6372"/>
                </a:solidFill>
                <a:latin typeface="Arial"/>
              </a:rPr>
              <a:t>Errors and empty states offer a realistic next step.</a:t>
            </a:r>
          </a:p>
        </p:txBody>
      </p:sp>
      <p:sp>
        <p:nvSpPr>
          <p:cNvPr id="41" name="Rectangle 40"/>
          <p:cNvSpPr/>
          <p:nvPr/>
        </p:nvSpPr>
        <p:spPr>
          <a:xfrm>
            <a:off x="9144000" y="3703320"/>
            <a:ext cx="1078992" cy="256032"/>
          </a:xfrm>
          <a:prstGeom prst="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9144000" y="3703320"/>
            <a:ext cx="1078992" cy="25603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1" i="0">
                <a:solidFill>
                  <a:srgbClr val="FFFFFF"/>
                </a:solidFill>
                <a:latin typeface="Arial"/>
              </a:rPr>
              <a:t>DESIGN LENS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58368" y="4315968"/>
            <a:ext cx="10835640" cy="13258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914400" y="4480560"/>
            <a:ext cx="1828800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 i="0">
                <a:solidFill>
                  <a:srgbClr val="10988A"/>
                </a:solidFill>
                <a:latin typeface="Arial"/>
              </a:rPr>
              <a:t>SYNTHESIS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14400" y="4846320"/>
            <a:ext cx="10195560" cy="56692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 i="0">
                <a:solidFill>
                  <a:srgbClr val="161B26"/>
                </a:solidFill>
                <a:latin typeface="Arial"/>
              </a:rPr>
              <a:t>Tell users whether the system is working, waiting or complete; errors and empty states offer a realistic next step.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9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098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10988A"/>
                </a:solidFill>
                <a:latin typeface="Arial"/>
              </a:rPr>
              <a:t>MODULE 3 · WORKED EXAMPLE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21792"/>
            <a:ext cx="10835640" cy="6583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500" b="1" i="0">
                <a:solidFill>
                  <a:srgbClr val="161B26"/>
                </a:solidFill>
                <a:latin typeface="Arial"/>
              </a:rPr>
              <a:t>Feedback and microcopy close the loop — applied pattern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6419088"/>
            <a:ext cx="4663440" cy="2194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 i="0">
                <a:solidFill>
                  <a:srgbClr val="5B6372"/>
                </a:solidFill>
                <a:latin typeface="Arial"/>
              </a:rPr>
              <a:t>Claude Design for UX/UI · C744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89120" y="6419088"/>
            <a:ext cx="3657600" cy="2194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0" i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26679" y="6419088"/>
            <a:ext cx="2834640" cy="2194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730" b="0" i="1">
                <a:solidFill>
                  <a:srgbClr val="949DA9"/>
                </a:solidFill>
                <a:latin typeface="Arial"/>
              </a:rPr>
              <a:t>Microsoft; MockFlow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44200" y="6419088"/>
            <a:ext cx="731520" cy="2194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 i="0">
                <a:solidFill>
                  <a:srgbClr val="5B6372"/>
                </a:solidFill>
                <a:latin typeface="Arial"/>
              </a:rPr>
              <a:t>90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58368" y="1719072"/>
            <a:ext cx="6446520" cy="416052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58368" y="1719072"/>
            <a:ext cx="91440" cy="4160520"/>
          </a:xfrm>
          <a:prstGeom prst="rect">
            <a:avLst/>
          </a:prstGeom>
          <a:solidFill>
            <a:srgbClr val="1098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32688" y="1938528"/>
            <a:ext cx="5897880" cy="35204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0"/>
              </a:spcAft>
            </a:pPr>
            <a:r>
              <a:rPr sz="1220" b="0" i="0">
                <a:solidFill>
                  <a:srgbClr val="D6E4FF"/>
                </a:solidFill>
                <a:latin typeface="Consolas"/>
              </a:rPr>
              <a:t>async function saveBooking(data) {
  setStatus('Saving your booking…');
  try { await api.save(data); setStatus('Booking saved'); }
  catch { setStatus('Could not save. Your details are preserved. Retry.'); }
}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388352" y="1719072"/>
            <a:ext cx="4105656" cy="120700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388352" y="1719072"/>
            <a:ext cx="82296" cy="120700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7626096" y="1920240"/>
            <a:ext cx="411480" cy="41148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626096" y="1920240"/>
            <a:ext cx="411480" cy="4114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11312" y="1883664"/>
            <a:ext cx="2944368" cy="76809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161B26"/>
                </a:solidFill>
                <a:latin typeface="Arial"/>
              </a:rPr>
              <a:t>Expose progress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388352" y="3099815"/>
            <a:ext cx="4105656" cy="120700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7388352" y="3099815"/>
            <a:ext cx="82296" cy="1207008"/>
          </a:xfrm>
          <a:prstGeom prst="rect">
            <a:avLst/>
          </a:prstGeom>
          <a:solidFill>
            <a:srgbClr val="724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7626096" y="3300984"/>
            <a:ext cx="411480" cy="411480"/>
          </a:xfrm>
          <a:prstGeom prst="ellipse">
            <a:avLst/>
          </a:prstGeom>
          <a:solidFill>
            <a:srgbClr val="724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626096" y="3300984"/>
            <a:ext cx="411480" cy="4114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11312" y="3264408"/>
            <a:ext cx="2944368" cy="76809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161B26"/>
                </a:solidFill>
                <a:latin typeface="Arial"/>
              </a:rPr>
              <a:t>Name the result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388352" y="4480559"/>
            <a:ext cx="4105656" cy="120700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7388352" y="4480559"/>
            <a:ext cx="82296" cy="1207008"/>
          </a:xfrm>
          <a:prstGeom prst="rect">
            <a:avLst/>
          </a:prstGeom>
          <a:solidFill>
            <a:srgbClr val="1098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7626096" y="4681727"/>
            <a:ext cx="411480" cy="411480"/>
          </a:xfrm>
          <a:prstGeom prst="ellipse">
            <a:avLst/>
          </a:prstGeom>
          <a:solidFill>
            <a:srgbClr val="1098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626096" y="4681727"/>
            <a:ext cx="411480" cy="4114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211312" y="4645151"/>
            <a:ext cx="2944368" cy="76809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161B26"/>
                </a:solidFill>
                <a:latin typeface="Arial"/>
              </a:rPr>
              <a:t>Preserve and recover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9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098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10988A"/>
                </a:solidFill>
                <a:latin typeface="Arial"/>
              </a:rPr>
              <a:t>MODULE 3 · PRINCIPLE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21792"/>
            <a:ext cx="10835640" cy="6583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 i="0">
                <a:solidFill>
                  <a:srgbClr val="161B26"/>
                </a:solidFill>
                <a:latin typeface="Arial"/>
              </a:rPr>
              <a:t>Prototype the riskiest behaviour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6419088"/>
            <a:ext cx="4663440" cy="2194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 i="0">
                <a:solidFill>
                  <a:srgbClr val="5B6372"/>
                </a:solidFill>
                <a:latin typeface="Arial"/>
              </a:rPr>
              <a:t>Claude Design for UX/UI · C744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89120" y="6419088"/>
            <a:ext cx="3657600" cy="2194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0" i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26679" y="6419088"/>
            <a:ext cx="2834640" cy="2194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730" b="0" i="1">
                <a:solidFill>
                  <a:srgbClr val="949DA9"/>
                </a:solidFill>
                <a:latin typeface="Arial"/>
              </a:rPr>
              <a:t>Maze; Anthropic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44200" y="6419088"/>
            <a:ext cx="731520" cy="2194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 i="0">
                <a:solidFill>
                  <a:srgbClr val="5B6372"/>
                </a:solidFill>
                <a:latin typeface="Arial"/>
              </a:rPr>
              <a:t>91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58368" y="1691640"/>
            <a:ext cx="2487168" cy="233172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58368" y="1691640"/>
            <a:ext cx="82296" cy="23317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877824" y="1874520"/>
            <a:ext cx="420624" cy="420624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77824" y="1874520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08176" y="1819656"/>
            <a:ext cx="1508760" cy="43891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320" b="1" i="0">
                <a:solidFill>
                  <a:srgbClr val="161B26"/>
                </a:solidFill>
                <a:latin typeface="Arial"/>
              </a:rPr>
              <a:t>Task risk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2386584"/>
            <a:ext cx="1965960" cy="133502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070" b="0" i="0">
                <a:solidFill>
                  <a:srgbClr val="5B6372"/>
                </a:solidFill>
                <a:latin typeface="Arial"/>
              </a:rPr>
              <a:t>Prototype the path most important to user success.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14400" y="3703320"/>
            <a:ext cx="1078992" cy="25603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3703320"/>
            <a:ext cx="1078992" cy="25603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1" i="0">
                <a:solidFill>
                  <a:srgbClr val="FFFFFF"/>
                </a:solidFill>
                <a:latin typeface="Arial"/>
              </a:rPr>
              <a:t>DESIGN LENS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401568" y="1691640"/>
            <a:ext cx="2487168" cy="233172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401568" y="1691640"/>
            <a:ext cx="82296" cy="2331720"/>
          </a:xfrm>
          <a:prstGeom prst="rect">
            <a:avLst/>
          </a:prstGeom>
          <a:solidFill>
            <a:srgbClr val="724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3621024" y="1874520"/>
            <a:ext cx="420624" cy="420624"/>
          </a:xfrm>
          <a:prstGeom prst="ellipse">
            <a:avLst/>
          </a:prstGeom>
          <a:solidFill>
            <a:srgbClr val="724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621024" y="1874520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151376" y="1819656"/>
            <a:ext cx="1508760" cy="43891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320" b="1" i="0">
                <a:solidFill>
                  <a:srgbClr val="161B26"/>
                </a:solidFill>
                <a:latin typeface="Arial"/>
              </a:rPr>
              <a:t>Interaction risk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657600" y="2386584"/>
            <a:ext cx="1965960" cy="133502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070" b="0" i="0">
                <a:solidFill>
                  <a:srgbClr val="5B6372"/>
                </a:solidFill>
                <a:latin typeface="Arial"/>
              </a:rPr>
              <a:t>Test novel controls, dependencies and state transitions.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657600" y="3703320"/>
            <a:ext cx="1078992" cy="256032"/>
          </a:xfrm>
          <a:prstGeom prst="rect">
            <a:avLst/>
          </a:prstGeom>
          <a:solidFill>
            <a:srgbClr val="724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657600" y="3703320"/>
            <a:ext cx="1078992" cy="25603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1" i="0">
                <a:solidFill>
                  <a:srgbClr val="FFFFFF"/>
                </a:solidFill>
                <a:latin typeface="Arial"/>
              </a:rPr>
              <a:t>DESIGN LENS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144768" y="1691640"/>
            <a:ext cx="2487168" cy="233172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144768" y="1691640"/>
            <a:ext cx="82296" cy="2331720"/>
          </a:xfrm>
          <a:prstGeom prst="rect">
            <a:avLst/>
          </a:prstGeom>
          <a:solidFill>
            <a:srgbClr val="1098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6364224" y="1874520"/>
            <a:ext cx="420624" cy="420624"/>
          </a:xfrm>
          <a:prstGeom prst="ellipse">
            <a:avLst/>
          </a:prstGeom>
          <a:solidFill>
            <a:srgbClr val="1098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364224" y="1874520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894576" y="1819656"/>
            <a:ext cx="1508760" cy="43891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320" b="1" i="0">
                <a:solidFill>
                  <a:srgbClr val="161B26"/>
                </a:solidFill>
                <a:latin typeface="Arial"/>
              </a:rPr>
              <a:t>Content risk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00800" y="2386584"/>
            <a:ext cx="1965960" cy="133502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070" b="0" i="0">
                <a:solidFill>
                  <a:srgbClr val="5B6372"/>
                </a:solidFill>
                <a:latin typeface="Arial"/>
              </a:rPr>
              <a:t>Use realistic labels and edge-case data.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400800" y="3703320"/>
            <a:ext cx="1078992" cy="256032"/>
          </a:xfrm>
          <a:prstGeom prst="rect">
            <a:avLst/>
          </a:prstGeom>
          <a:solidFill>
            <a:srgbClr val="1098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400800" y="3703320"/>
            <a:ext cx="1078992" cy="25603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1" i="0">
                <a:solidFill>
                  <a:srgbClr val="FFFFFF"/>
                </a:solidFill>
                <a:latin typeface="Arial"/>
              </a:rPr>
              <a:t>DESIGN LENS</a:t>
            </a:r>
          </a:p>
        </p:txBody>
      </p:sp>
      <p:sp>
        <p:nvSpPr>
          <p:cNvPr id="35" name="Rectangle 34"/>
          <p:cNvSpPr/>
          <p:nvPr/>
        </p:nvSpPr>
        <p:spPr>
          <a:xfrm>
            <a:off x="8887968" y="1691640"/>
            <a:ext cx="2487168" cy="233172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8887968" y="1691640"/>
            <a:ext cx="82296" cy="2331720"/>
          </a:xfrm>
          <a:prstGeom prst="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9107424" y="1874520"/>
            <a:ext cx="420624" cy="420624"/>
          </a:xfrm>
          <a:prstGeom prst="ellipse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107424" y="1874520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637776" y="1819656"/>
            <a:ext cx="1508760" cy="43891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320" b="1" i="0">
                <a:solidFill>
                  <a:srgbClr val="161B26"/>
                </a:solidFill>
                <a:latin typeface="Arial"/>
              </a:rPr>
              <a:t>Technical risk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144000" y="2386584"/>
            <a:ext cx="1965960" cy="133502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070" b="0" i="0">
                <a:solidFill>
                  <a:srgbClr val="5B6372"/>
                </a:solidFill>
                <a:latin typeface="Arial"/>
              </a:rPr>
              <a:t>Represent latency, permissions and system boundaries honestly.</a:t>
            </a:r>
          </a:p>
        </p:txBody>
      </p:sp>
      <p:sp>
        <p:nvSpPr>
          <p:cNvPr id="41" name="Rectangle 40"/>
          <p:cNvSpPr/>
          <p:nvPr/>
        </p:nvSpPr>
        <p:spPr>
          <a:xfrm>
            <a:off x="9144000" y="3703320"/>
            <a:ext cx="1078992" cy="256032"/>
          </a:xfrm>
          <a:prstGeom prst="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9144000" y="3703320"/>
            <a:ext cx="1078992" cy="25603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1" i="0">
                <a:solidFill>
                  <a:srgbClr val="FFFFFF"/>
                </a:solidFill>
                <a:latin typeface="Arial"/>
              </a:rPr>
              <a:t>DESIGN LENS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58368" y="4315968"/>
            <a:ext cx="10835640" cy="13258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914400" y="4480560"/>
            <a:ext cx="1828800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 i="0">
                <a:solidFill>
                  <a:srgbClr val="10988A"/>
                </a:solidFill>
                <a:latin typeface="Arial"/>
              </a:rPr>
              <a:t>SYNTHESIS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14400" y="4846320"/>
            <a:ext cx="10195560" cy="56692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 i="0">
                <a:solidFill>
                  <a:srgbClr val="161B26"/>
                </a:solidFill>
                <a:latin typeface="Arial"/>
              </a:rPr>
              <a:t>Prototype the path most important to user success; represent latency, permissions and system boundaries honestly.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9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098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10988A"/>
                </a:solidFill>
                <a:latin typeface="Arial"/>
              </a:rPr>
              <a:t>MODULE 3 · CASE LENS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21792"/>
            <a:ext cx="10835640" cy="6583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 i="0">
                <a:solidFill>
                  <a:srgbClr val="161B26"/>
                </a:solidFill>
                <a:latin typeface="Arial"/>
              </a:rPr>
              <a:t>Prototype the riskiest behaviour — applied judgement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6419088"/>
            <a:ext cx="4663440" cy="2194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 i="0">
                <a:solidFill>
                  <a:srgbClr val="5B6372"/>
                </a:solidFill>
                <a:latin typeface="Arial"/>
              </a:rPr>
              <a:t>Claude Design for UX/UI · C744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89120" y="6419088"/>
            <a:ext cx="3657600" cy="2194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0" i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26679" y="6419088"/>
            <a:ext cx="2834640" cy="2194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730" b="0" i="1">
                <a:solidFill>
                  <a:srgbClr val="949DA9"/>
                </a:solidFill>
                <a:latin typeface="Arial"/>
              </a:rPr>
              <a:t>Maze; Anthropic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44200" y="6419088"/>
            <a:ext cx="731520" cy="2194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 i="0">
                <a:solidFill>
                  <a:srgbClr val="5B6372"/>
                </a:solidFill>
                <a:latin typeface="Arial"/>
              </a:rPr>
              <a:t>92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58368" y="1755648"/>
            <a:ext cx="3392424" cy="3127248"/>
          </a:xfrm>
          <a:prstGeom prst="rect">
            <a:avLst/>
          </a:prstGeom>
          <a:solidFill>
            <a:srgbClr val="FFFFFF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58368" y="1755648"/>
            <a:ext cx="3392424" cy="91440"/>
          </a:xfrm>
          <a:prstGeom prst="rect">
            <a:avLst/>
          </a:prstGeom>
          <a:solidFill>
            <a:srgbClr val="F06F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886968" y="2029968"/>
            <a:ext cx="493776" cy="493776"/>
          </a:xfrm>
          <a:prstGeom prst="ellipse">
            <a:avLst/>
          </a:prstGeom>
          <a:solidFill>
            <a:srgbClr val="F06F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86968" y="2029968"/>
            <a:ext cx="493776" cy="49377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17904" y="2020824"/>
            <a:ext cx="2240280" cy="51206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F06F61"/>
                </a:solidFill>
                <a:latin typeface="Arial"/>
              </a:rPr>
              <a:t>CONTEXT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2798063"/>
            <a:ext cx="2834640" cy="16459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161B26"/>
                </a:solidFill>
                <a:latin typeface="Arial"/>
              </a:rPr>
              <a:t>A prototype animates the hero banner but ignores a complex approval flow.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14400" y="4526280"/>
            <a:ext cx="2834640" cy="27432"/>
          </a:xfrm>
          <a:prstGeom prst="rect">
            <a:avLst/>
          </a:prstGeom>
          <a:solidFill>
            <a:srgbClr val="F06F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315968" y="1755648"/>
            <a:ext cx="3392424" cy="3127248"/>
          </a:xfrm>
          <a:prstGeom prst="rect">
            <a:avLst/>
          </a:prstGeom>
          <a:solidFill>
            <a:srgbClr val="FFFFFF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315968" y="1755648"/>
            <a:ext cx="3392424" cy="91440"/>
          </a:xfrm>
          <a:prstGeom prst="rect">
            <a:avLst/>
          </a:prstGeom>
          <a:solidFill>
            <a:srgbClr val="1098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4544568" y="2029968"/>
            <a:ext cx="493776" cy="493776"/>
          </a:xfrm>
          <a:prstGeom prst="ellipse">
            <a:avLst/>
          </a:prstGeom>
          <a:solidFill>
            <a:srgbClr val="1098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544568" y="2029968"/>
            <a:ext cx="493776" cy="49377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175504" y="2020824"/>
            <a:ext cx="2240280" cy="51206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10988A"/>
                </a:solidFill>
                <a:latin typeface="Arial"/>
              </a:rPr>
              <a:t>DESIGN MOVE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0" y="2798063"/>
            <a:ext cx="2834640" cy="16459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161B26"/>
                </a:solidFill>
                <a:latin typeface="Arial"/>
              </a:rPr>
              <a:t>Move effort to the interaction whose failure would invalidate the design.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572000" y="4526280"/>
            <a:ext cx="2834640" cy="27432"/>
          </a:xfrm>
          <a:prstGeom prst="rect">
            <a:avLst/>
          </a:prstGeom>
          <a:solidFill>
            <a:srgbClr val="1098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7973568" y="1755648"/>
            <a:ext cx="3392424" cy="3127248"/>
          </a:xfrm>
          <a:prstGeom prst="rect">
            <a:avLst/>
          </a:prstGeom>
          <a:solidFill>
            <a:srgbClr val="FFFFFF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973568" y="1755648"/>
            <a:ext cx="3392424" cy="91440"/>
          </a:xfrm>
          <a:prstGeom prst="rect">
            <a:avLst/>
          </a:prstGeom>
          <a:solidFill>
            <a:srgbClr val="724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8202168" y="2029968"/>
            <a:ext cx="493776" cy="493776"/>
          </a:xfrm>
          <a:prstGeom prst="ellipse">
            <a:avLst/>
          </a:prstGeom>
          <a:solidFill>
            <a:srgbClr val="724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202168" y="2029968"/>
            <a:ext cx="493776" cy="49377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833104" y="2020824"/>
            <a:ext cx="2240280" cy="51206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724CD6"/>
                </a:solidFill>
                <a:latin typeface="Arial"/>
              </a:rPr>
              <a:t>EVIDENCE STANDARD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229600" y="2798063"/>
            <a:ext cx="2834640" cy="16459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161B26"/>
                </a:solidFill>
                <a:latin typeface="Arial"/>
              </a:rPr>
              <a:t>Prototype uncertainty, not decoration.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8229600" y="4526280"/>
            <a:ext cx="2834640" cy="27432"/>
          </a:xfrm>
          <a:prstGeom prst="rect">
            <a:avLst/>
          </a:prstGeom>
          <a:solidFill>
            <a:srgbClr val="724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58368" y="5102352"/>
            <a:ext cx="10835640" cy="56692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14400" y="5239512"/>
            <a:ext cx="10241280" cy="29260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250" b="1" i="0">
                <a:solidFill>
                  <a:srgbClr val="161B26"/>
                </a:solidFill>
                <a:latin typeface="Arial"/>
              </a:rPr>
              <a:t>Ask: what user outcome changes, and what evidence would prove it?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9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098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10988A"/>
                </a:solidFill>
                <a:latin typeface="Arial"/>
              </a:rPr>
              <a:t>MODULE 3 · PRINCIPLE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21792"/>
            <a:ext cx="10835640" cy="6583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 i="0">
                <a:solidFill>
                  <a:srgbClr val="161B26"/>
                </a:solidFill>
                <a:latin typeface="Arial"/>
              </a:rPr>
              <a:t>Define usability metrics before testing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6419088"/>
            <a:ext cx="4663440" cy="2194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 i="0">
                <a:solidFill>
                  <a:srgbClr val="5B6372"/>
                </a:solidFill>
                <a:latin typeface="Arial"/>
              </a:rPr>
              <a:t>Claude Design for UX/UI · C744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89120" y="6419088"/>
            <a:ext cx="3657600" cy="2194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0" i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26679" y="6419088"/>
            <a:ext cx="2834640" cy="2194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730" b="0" i="1">
                <a:solidFill>
                  <a:srgbClr val="949DA9"/>
                </a:solidFill>
                <a:latin typeface="Arial"/>
              </a:rPr>
              <a:t>Maze; Contentsquare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44200" y="6419088"/>
            <a:ext cx="731520" cy="2194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 i="0">
                <a:solidFill>
                  <a:srgbClr val="5B6372"/>
                </a:solidFill>
                <a:latin typeface="Arial"/>
              </a:rPr>
              <a:t>93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58368" y="1691640"/>
            <a:ext cx="2487168" cy="233172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58368" y="1691640"/>
            <a:ext cx="82296" cy="23317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877824" y="1874520"/>
            <a:ext cx="420624" cy="420624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77824" y="1874520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08176" y="1819656"/>
            <a:ext cx="1508760" cy="43891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320" b="1" i="0">
                <a:solidFill>
                  <a:srgbClr val="161B26"/>
                </a:solidFill>
                <a:latin typeface="Arial"/>
              </a:rPr>
              <a:t>Effectiveness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2386584"/>
            <a:ext cx="1965960" cy="133502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070" b="0" i="0">
                <a:solidFill>
                  <a:srgbClr val="5B6372"/>
                </a:solidFill>
                <a:latin typeface="Arial"/>
              </a:rPr>
              <a:t>Task success, completion quality and critical error rate.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14400" y="3703320"/>
            <a:ext cx="1078992" cy="25603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3703320"/>
            <a:ext cx="1078992" cy="25603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1" i="0">
                <a:solidFill>
                  <a:srgbClr val="FFFFFF"/>
                </a:solidFill>
                <a:latin typeface="Arial"/>
              </a:rPr>
              <a:t>DESIGN LENS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401568" y="1691640"/>
            <a:ext cx="2487168" cy="233172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401568" y="1691640"/>
            <a:ext cx="82296" cy="2331720"/>
          </a:xfrm>
          <a:prstGeom prst="rect">
            <a:avLst/>
          </a:prstGeom>
          <a:solidFill>
            <a:srgbClr val="724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3621024" y="1874520"/>
            <a:ext cx="420624" cy="420624"/>
          </a:xfrm>
          <a:prstGeom prst="ellipse">
            <a:avLst/>
          </a:prstGeom>
          <a:solidFill>
            <a:srgbClr val="724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621024" y="1874520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151376" y="1819656"/>
            <a:ext cx="1508760" cy="43891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320" b="1" i="0">
                <a:solidFill>
                  <a:srgbClr val="161B26"/>
                </a:solidFill>
                <a:latin typeface="Arial"/>
              </a:rPr>
              <a:t>Efficiency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657600" y="2386584"/>
            <a:ext cx="1965960" cy="133502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070" b="0" i="0">
                <a:solidFill>
                  <a:srgbClr val="5B6372"/>
                </a:solidFill>
                <a:latin typeface="Arial"/>
              </a:rPr>
              <a:t>Time, steps and help required to reach the outcome.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657600" y="3703320"/>
            <a:ext cx="1078992" cy="256032"/>
          </a:xfrm>
          <a:prstGeom prst="rect">
            <a:avLst/>
          </a:prstGeom>
          <a:solidFill>
            <a:srgbClr val="724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657600" y="3703320"/>
            <a:ext cx="1078992" cy="25603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1" i="0">
                <a:solidFill>
                  <a:srgbClr val="FFFFFF"/>
                </a:solidFill>
                <a:latin typeface="Arial"/>
              </a:rPr>
              <a:t>DESIGN LENS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144768" y="1691640"/>
            <a:ext cx="2487168" cy="233172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144768" y="1691640"/>
            <a:ext cx="82296" cy="2331720"/>
          </a:xfrm>
          <a:prstGeom prst="rect">
            <a:avLst/>
          </a:prstGeom>
          <a:solidFill>
            <a:srgbClr val="1098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6364224" y="1874520"/>
            <a:ext cx="420624" cy="420624"/>
          </a:xfrm>
          <a:prstGeom prst="ellipse">
            <a:avLst/>
          </a:prstGeom>
          <a:solidFill>
            <a:srgbClr val="1098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364224" y="1874520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894576" y="1819656"/>
            <a:ext cx="1508760" cy="43891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320" b="1" i="0">
                <a:solidFill>
                  <a:srgbClr val="161B26"/>
                </a:solidFill>
                <a:latin typeface="Arial"/>
              </a:rPr>
              <a:t>Satisfaction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00800" y="2386584"/>
            <a:ext cx="1965960" cy="133502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070" b="0" i="0">
                <a:solidFill>
                  <a:srgbClr val="5B6372"/>
                </a:solidFill>
                <a:latin typeface="Arial"/>
              </a:rPr>
              <a:t>Confidence, ease and perceived effort after the task.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400800" y="3703320"/>
            <a:ext cx="1078992" cy="256032"/>
          </a:xfrm>
          <a:prstGeom prst="rect">
            <a:avLst/>
          </a:prstGeom>
          <a:solidFill>
            <a:srgbClr val="1098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400800" y="3703320"/>
            <a:ext cx="1078992" cy="25603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1" i="0">
                <a:solidFill>
                  <a:srgbClr val="FFFFFF"/>
                </a:solidFill>
                <a:latin typeface="Arial"/>
              </a:rPr>
              <a:t>DESIGN LENS</a:t>
            </a:r>
          </a:p>
        </p:txBody>
      </p:sp>
      <p:sp>
        <p:nvSpPr>
          <p:cNvPr id="35" name="Rectangle 34"/>
          <p:cNvSpPr/>
          <p:nvPr/>
        </p:nvSpPr>
        <p:spPr>
          <a:xfrm>
            <a:off x="8887968" y="1691640"/>
            <a:ext cx="2487168" cy="233172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8887968" y="1691640"/>
            <a:ext cx="82296" cy="2331720"/>
          </a:xfrm>
          <a:prstGeom prst="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9107424" y="1874520"/>
            <a:ext cx="420624" cy="420624"/>
          </a:xfrm>
          <a:prstGeom prst="ellipse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107424" y="1874520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637776" y="1819656"/>
            <a:ext cx="1508760" cy="43891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320" b="1" i="0">
                <a:solidFill>
                  <a:srgbClr val="161B26"/>
                </a:solidFill>
                <a:latin typeface="Arial"/>
              </a:rPr>
              <a:t>Accessibility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144000" y="2386584"/>
            <a:ext cx="1965960" cy="133502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070" b="0" i="0">
                <a:solidFill>
                  <a:srgbClr val="5B6372"/>
                </a:solidFill>
                <a:latin typeface="Arial"/>
              </a:rPr>
              <a:t>Keyboard, focus, contrast and assistive-technology checks.</a:t>
            </a:r>
          </a:p>
        </p:txBody>
      </p:sp>
      <p:sp>
        <p:nvSpPr>
          <p:cNvPr id="41" name="Rectangle 40"/>
          <p:cNvSpPr/>
          <p:nvPr/>
        </p:nvSpPr>
        <p:spPr>
          <a:xfrm>
            <a:off x="9144000" y="3703320"/>
            <a:ext cx="1078992" cy="256032"/>
          </a:xfrm>
          <a:prstGeom prst="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9144000" y="3703320"/>
            <a:ext cx="1078992" cy="25603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1" i="0">
                <a:solidFill>
                  <a:srgbClr val="FFFFFF"/>
                </a:solidFill>
                <a:latin typeface="Arial"/>
              </a:rPr>
              <a:t>DESIGN LENS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58368" y="4315968"/>
            <a:ext cx="10835640" cy="13258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914400" y="4480560"/>
            <a:ext cx="1828800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 i="0">
                <a:solidFill>
                  <a:srgbClr val="10988A"/>
                </a:solidFill>
                <a:latin typeface="Arial"/>
              </a:rPr>
              <a:t>SYNTHESIS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14400" y="4846320"/>
            <a:ext cx="10195560" cy="56692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 i="0">
                <a:solidFill>
                  <a:srgbClr val="161B26"/>
                </a:solidFill>
                <a:latin typeface="Arial"/>
              </a:rPr>
              <a:t>Task success, completion quality and critical error rate; keyboard, focus, contrast and assistive-technology checks.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9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098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10988A"/>
                </a:solidFill>
                <a:latin typeface="Arial"/>
              </a:rPr>
              <a:t>MODULE 3 · CASE LENS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21792"/>
            <a:ext cx="10835640" cy="6583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200" b="1" i="0">
                <a:solidFill>
                  <a:srgbClr val="161B26"/>
                </a:solidFill>
                <a:latin typeface="Arial"/>
              </a:rPr>
              <a:t>Define usability metrics before testing — applied judgement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6419088"/>
            <a:ext cx="4663440" cy="2194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 i="0">
                <a:solidFill>
                  <a:srgbClr val="5B6372"/>
                </a:solidFill>
                <a:latin typeface="Arial"/>
              </a:rPr>
              <a:t>Claude Design for UX/UI · C744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89120" y="6419088"/>
            <a:ext cx="3657600" cy="2194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0" i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26679" y="6419088"/>
            <a:ext cx="2834640" cy="2194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730" b="0" i="1">
                <a:solidFill>
                  <a:srgbClr val="949DA9"/>
                </a:solidFill>
                <a:latin typeface="Arial"/>
              </a:rPr>
              <a:t>Maze; Contentsquare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44200" y="6419088"/>
            <a:ext cx="731520" cy="2194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 i="0">
                <a:solidFill>
                  <a:srgbClr val="5B6372"/>
                </a:solidFill>
                <a:latin typeface="Arial"/>
              </a:rPr>
              <a:t>94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58368" y="1755648"/>
            <a:ext cx="3392424" cy="3127248"/>
          </a:xfrm>
          <a:prstGeom prst="rect">
            <a:avLst/>
          </a:prstGeom>
          <a:solidFill>
            <a:srgbClr val="FFFFFF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58368" y="1755648"/>
            <a:ext cx="3392424" cy="91440"/>
          </a:xfrm>
          <a:prstGeom prst="rect">
            <a:avLst/>
          </a:prstGeom>
          <a:solidFill>
            <a:srgbClr val="F06F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886968" y="2029968"/>
            <a:ext cx="493776" cy="493776"/>
          </a:xfrm>
          <a:prstGeom prst="ellipse">
            <a:avLst/>
          </a:prstGeom>
          <a:solidFill>
            <a:srgbClr val="F06F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86968" y="2029968"/>
            <a:ext cx="493776" cy="49377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17904" y="2020824"/>
            <a:ext cx="2240280" cy="51206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F06F61"/>
                </a:solidFill>
                <a:latin typeface="Arial"/>
              </a:rPr>
              <a:t>CONTEXT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2798063"/>
            <a:ext cx="2834640" cy="16459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161B26"/>
                </a:solidFill>
                <a:latin typeface="Arial"/>
              </a:rPr>
              <a:t>A team asks participants whether they 'like' a dashboard.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14400" y="4526280"/>
            <a:ext cx="2834640" cy="27432"/>
          </a:xfrm>
          <a:prstGeom prst="rect">
            <a:avLst/>
          </a:prstGeom>
          <a:solidFill>
            <a:srgbClr val="F06F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315968" y="1755648"/>
            <a:ext cx="3392424" cy="3127248"/>
          </a:xfrm>
          <a:prstGeom prst="rect">
            <a:avLst/>
          </a:prstGeom>
          <a:solidFill>
            <a:srgbClr val="FFFFFF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315968" y="1755648"/>
            <a:ext cx="3392424" cy="91440"/>
          </a:xfrm>
          <a:prstGeom prst="rect">
            <a:avLst/>
          </a:prstGeom>
          <a:solidFill>
            <a:srgbClr val="1098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4544568" y="2029968"/>
            <a:ext cx="493776" cy="493776"/>
          </a:xfrm>
          <a:prstGeom prst="ellipse">
            <a:avLst/>
          </a:prstGeom>
          <a:solidFill>
            <a:srgbClr val="1098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544568" y="2029968"/>
            <a:ext cx="493776" cy="49377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175504" y="2020824"/>
            <a:ext cx="2240280" cy="51206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10988A"/>
                </a:solidFill>
                <a:latin typeface="Arial"/>
              </a:rPr>
              <a:t>DESIGN MOVE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0" y="2798063"/>
            <a:ext cx="2834640" cy="16459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161B26"/>
                </a:solidFill>
                <a:latin typeface="Arial"/>
              </a:rPr>
              <a:t>Give a realistic task and measure success, time, errors and confidence.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572000" y="4526280"/>
            <a:ext cx="2834640" cy="27432"/>
          </a:xfrm>
          <a:prstGeom prst="rect">
            <a:avLst/>
          </a:prstGeom>
          <a:solidFill>
            <a:srgbClr val="1098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7973568" y="1755648"/>
            <a:ext cx="3392424" cy="3127248"/>
          </a:xfrm>
          <a:prstGeom prst="rect">
            <a:avLst/>
          </a:prstGeom>
          <a:solidFill>
            <a:srgbClr val="FFFFFF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973568" y="1755648"/>
            <a:ext cx="3392424" cy="91440"/>
          </a:xfrm>
          <a:prstGeom prst="rect">
            <a:avLst/>
          </a:prstGeom>
          <a:solidFill>
            <a:srgbClr val="724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8202168" y="2029968"/>
            <a:ext cx="493776" cy="493776"/>
          </a:xfrm>
          <a:prstGeom prst="ellipse">
            <a:avLst/>
          </a:prstGeom>
          <a:solidFill>
            <a:srgbClr val="724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202168" y="2029968"/>
            <a:ext cx="493776" cy="49377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833104" y="2020824"/>
            <a:ext cx="2240280" cy="51206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724CD6"/>
                </a:solidFill>
                <a:latin typeface="Arial"/>
              </a:rPr>
              <a:t>EVIDENCE STANDARD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229600" y="2798063"/>
            <a:ext cx="2834640" cy="16459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161B26"/>
                </a:solidFill>
                <a:latin typeface="Arial"/>
              </a:rPr>
              <a:t>A metric must connect to the design's intended outcome.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8229600" y="4526280"/>
            <a:ext cx="2834640" cy="27432"/>
          </a:xfrm>
          <a:prstGeom prst="rect">
            <a:avLst/>
          </a:prstGeom>
          <a:solidFill>
            <a:srgbClr val="724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58368" y="5102352"/>
            <a:ext cx="10835640" cy="56692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14400" y="5239512"/>
            <a:ext cx="10241280" cy="29260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250" b="1" i="0">
                <a:solidFill>
                  <a:srgbClr val="161B26"/>
                </a:solidFill>
                <a:latin typeface="Arial"/>
              </a:rPr>
              <a:t>Ask: what user outcome changes, and what evidence would prove it?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9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098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10988A"/>
                </a:solidFill>
                <a:latin typeface="Arial"/>
              </a:rPr>
              <a:t>MODULE 3 · PRINCIPLE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21792"/>
            <a:ext cx="10835640" cy="6583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 i="0">
                <a:solidFill>
                  <a:srgbClr val="161B26"/>
                </a:solidFill>
                <a:latin typeface="Arial"/>
              </a:rPr>
              <a:t>Heuristic review is a structured expert lens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6419088"/>
            <a:ext cx="4663440" cy="2194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 i="0">
                <a:solidFill>
                  <a:srgbClr val="5B6372"/>
                </a:solidFill>
                <a:latin typeface="Arial"/>
              </a:rPr>
              <a:t>Claude Design for UX/UI · C744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89120" y="6419088"/>
            <a:ext cx="3657600" cy="2194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0" i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26679" y="6419088"/>
            <a:ext cx="2834640" cy="2194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730" b="0" i="1">
                <a:solidFill>
                  <a:srgbClr val="949DA9"/>
                </a:solidFill>
                <a:latin typeface="Arial"/>
              </a:rPr>
              <a:t>Maze; MockFlow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44200" y="6419088"/>
            <a:ext cx="731520" cy="2194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 i="0">
                <a:solidFill>
                  <a:srgbClr val="5B6372"/>
                </a:solidFill>
                <a:latin typeface="Arial"/>
              </a:rPr>
              <a:t>95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58368" y="1691640"/>
            <a:ext cx="2487168" cy="233172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58368" y="1691640"/>
            <a:ext cx="82296" cy="23317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877824" y="1874520"/>
            <a:ext cx="420624" cy="420624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77824" y="1874520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08176" y="1819656"/>
            <a:ext cx="1508760" cy="43891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320" b="1" i="0">
                <a:solidFill>
                  <a:srgbClr val="161B26"/>
                </a:solidFill>
                <a:latin typeface="Arial"/>
              </a:rPr>
              <a:t>Status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2386584"/>
            <a:ext cx="1965960" cy="133502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070" b="0" i="0">
                <a:solidFill>
                  <a:srgbClr val="5B6372"/>
                </a:solidFill>
                <a:latin typeface="Arial"/>
              </a:rPr>
              <a:t>The interface keeps users informed about what is happening.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14400" y="3703320"/>
            <a:ext cx="1078992" cy="25603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3703320"/>
            <a:ext cx="1078992" cy="25603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1" i="0">
                <a:solidFill>
                  <a:srgbClr val="FFFFFF"/>
                </a:solidFill>
                <a:latin typeface="Arial"/>
              </a:rPr>
              <a:t>DESIGN LENS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401568" y="1691640"/>
            <a:ext cx="2487168" cy="233172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401568" y="1691640"/>
            <a:ext cx="82296" cy="2331720"/>
          </a:xfrm>
          <a:prstGeom prst="rect">
            <a:avLst/>
          </a:prstGeom>
          <a:solidFill>
            <a:srgbClr val="724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3621024" y="1874520"/>
            <a:ext cx="420624" cy="420624"/>
          </a:xfrm>
          <a:prstGeom prst="ellipse">
            <a:avLst/>
          </a:prstGeom>
          <a:solidFill>
            <a:srgbClr val="724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621024" y="1874520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151376" y="1819656"/>
            <a:ext cx="1508760" cy="43891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320" b="1" i="0">
                <a:solidFill>
                  <a:srgbClr val="161B26"/>
                </a:solidFill>
                <a:latin typeface="Arial"/>
              </a:rPr>
              <a:t>Match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657600" y="2386584"/>
            <a:ext cx="1965960" cy="133502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070" b="0" i="0">
                <a:solidFill>
                  <a:srgbClr val="5B6372"/>
                </a:solidFill>
                <a:latin typeface="Arial"/>
              </a:rPr>
              <a:t>Language and concepts align with users' real-world understanding.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657600" y="3703320"/>
            <a:ext cx="1078992" cy="256032"/>
          </a:xfrm>
          <a:prstGeom prst="rect">
            <a:avLst/>
          </a:prstGeom>
          <a:solidFill>
            <a:srgbClr val="724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657600" y="3703320"/>
            <a:ext cx="1078992" cy="25603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1" i="0">
                <a:solidFill>
                  <a:srgbClr val="FFFFFF"/>
                </a:solidFill>
                <a:latin typeface="Arial"/>
              </a:rPr>
              <a:t>DESIGN LENS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144768" y="1691640"/>
            <a:ext cx="2487168" cy="233172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144768" y="1691640"/>
            <a:ext cx="82296" cy="2331720"/>
          </a:xfrm>
          <a:prstGeom prst="rect">
            <a:avLst/>
          </a:prstGeom>
          <a:solidFill>
            <a:srgbClr val="1098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6364224" y="1874520"/>
            <a:ext cx="420624" cy="420624"/>
          </a:xfrm>
          <a:prstGeom prst="ellipse">
            <a:avLst/>
          </a:prstGeom>
          <a:solidFill>
            <a:srgbClr val="1098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364224" y="1874520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894576" y="1819656"/>
            <a:ext cx="1508760" cy="43891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320" b="1" i="0">
                <a:solidFill>
                  <a:srgbClr val="161B26"/>
                </a:solidFill>
                <a:latin typeface="Arial"/>
              </a:rPr>
              <a:t>Control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00800" y="2386584"/>
            <a:ext cx="1965960" cy="133502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070" b="0" i="0">
                <a:solidFill>
                  <a:srgbClr val="5B6372"/>
                </a:solidFill>
                <a:latin typeface="Arial"/>
              </a:rPr>
              <a:t>Users can leave, undo and recover from unwanted states.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400800" y="3703320"/>
            <a:ext cx="1078992" cy="256032"/>
          </a:xfrm>
          <a:prstGeom prst="rect">
            <a:avLst/>
          </a:prstGeom>
          <a:solidFill>
            <a:srgbClr val="1098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400800" y="3703320"/>
            <a:ext cx="1078992" cy="25603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1" i="0">
                <a:solidFill>
                  <a:srgbClr val="FFFFFF"/>
                </a:solidFill>
                <a:latin typeface="Arial"/>
              </a:rPr>
              <a:t>DESIGN LENS</a:t>
            </a:r>
          </a:p>
        </p:txBody>
      </p:sp>
      <p:sp>
        <p:nvSpPr>
          <p:cNvPr id="35" name="Rectangle 34"/>
          <p:cNvSpPr/>
          <p:nvPr/>
        </p:nvSpPr>
        <p:spPr>
          <a:xfrm>
            <a:off x="8887968" y="1691640"/>
            <a:ext cx="2487168" cy="233172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8887968" y="1691640"/>
            <a:ext cx="82296" cy="2331720"/>
          </a:xfrm>
          <a:prstGeom prst="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9107424" y="1874520"/>
            <a:ext cx="420624" cy="420624"/>
          </a:xfrm>
          <a:prstGeom prst="ellipse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107424" y="1874520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637776" y="1819656"/>
            <a:ext cx="1508760" cy="43891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320" b="1" i="0">
                <a:solidFill>
                  <a:srgbClr val="161B26"/>
                </a:solidFill>
                <a:latin typeface="Arial"/>
              </a:rPr>
              <a:t>Consistency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144000" y="2386584"/>
            <a:ext cx="1965960" cy="133502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070" b="0" i="0">
                <a:solidFill>
                  <a:srgbClr val="5B6372"/>
                </a:solidFill>
                <a:latin typeface="Arial"/>
              </a:rPr>
              <a:t>Patterns follow product rules and familiar standards.</a:t>
            </a:r>
          </a:p>
        </p:txBody>
      </p:sp>
      <p:sp>
        <p:nvSpPr>
          <p:cNvPr id="41" name="Rectangle 40"/>
          <p:cNvSpPr/>
          <p:nvPr/>
        </p:nvSpPr>
        <p:spPr>
          <a:xfrm>
            <a:off x="9144000" y="3703320"/>
            <a:ext cx="1078992" cy="256032"/>
          </a:xfrm>
          <a:prstGeom prst="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9144000" y="3703320"/>
            <a:ext cx="1078992" cy="25603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1" i="0">
                <a:solidFill>
                  <a:srgbClr val="FFFFFF"/>
                </a:solidFill>
                <a:latin typeface="Arial"/>
              </a:rPr>
              <a:t>DESIGN LENS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58368" y="4315968"/>
            <a:ext cx="10835640" cy="13258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914400" y="4480560"/>
            <a:ext cx="1828800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 i="0">
                <a:solidFill>
                  <a:srgbClr val="10988A"/>
                </a:solidFill>
                <a:latin typeface="Arial"/>
              </a:rPr>
              <a:t>SYNTHESIS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14400" y="4846320"/>
            <a:ext cx="10195560" cy="56692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 i="0">
                <a:solidFill>
                  <a:srgbClr val="161B26"/>
                </a:solidFill>
                <a:latin typeface="Arial"/>
              </a:rPr>
              <a:t>The interface keeps users informed about what is happening; patterns follow product rules and familiar standards.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9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098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10988A"/>
                </a:solidFill>
                <a:latin typeface="Arial"/>
              </a:rPr>
              <a:t>MODULE 3 · CASE LENS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21792"/>
            <a:ext cx="10835640" cy="6583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200" b="1" i="0">
                <a:solidFill>
                  <a:srgbClr val="161B26"/>
                </a:solidFill>
                <a:latin typeface="Arial"/>
              </a:rPr>
              <a:t>Heuristic review is a structured expert lens — applied judgement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6419088"/>
            <a:ext cx="4663440" cy="2194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 i="0">
                <a:solidFill>
                  <a:srgbClr val="5B6372"/>
                </a:solidFill>
                <a:latin typeface="Arial"/>
              </a:rPr>
              <a:t>Claude Design for UX/UI · C744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89120" y="6419088"/>
            <a:ext cx="3657600" cy="2194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0" i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26679" y="6419088"/>
            <a:ext cx="2834640" cy="2194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730" b="0" i="1">
                <a:solidFill>
                  <a:srgbClr val="949DA9"/>
                </a:solidFill>
                <a:latin typeface="Arial"/>
              </a:rPr>
              <a:t>Maze; MockFlow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44200" y="6419088"/>
            <a:ext cx="731520" cy="2194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 i="0">
                <a:solidFill>
                  <a:srgbClr val="5B6372"/>
                </a:solidFill>
                <a:latin typeface="Arial"/>
              </a:rPr>
              <a:t>96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58368" y="1755648"/>
            <a:ext cx="3392424" cy="3127248"/>
          </a:xfrm>
          <a:prstGeom prst="rect">
            <a:avLst/>
          </a:prstGeom>
          <a:solidFill>
            <a:srgbClr val="FFFFFF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58368" y="1755648"/>
            <a:ext cx="3392424" cy="91440"/>
          </a:xfrm>
          <a:prstGeom prst="rect">
            <a:avLst/>
          </a:prstGeom>
          <a:solidFill>
            <a:srgbClr val="F06F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886968" y="2029968"/>
            <a:ext cx="493776" cy="493776"/>
          </a:xfrm>
          <a:prstGeom prst="ellipse">
            <a:avLst/>
          </a:prstGeom>
          <a:solidFill>
            <a:srgbClr val="F06F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86968" y="2029968"/>
            <a:ext cx="493776" cy="49377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17904" y="2020824"/>
            <a:ext cx="2240280" cy="51206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F06F61"/>
                </a:solidFill>
                <a:latin typeface="Arial"/>
              </a:rPr>
              <a:t>CONTEXT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2798063"/>
            <a:ext cx="2834640" cy="16459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161B26"/>
                </a:solidFill>
                <a:latin typeface="Arial"/>
              </a:rPr>
              <a:t>Review comments say only 'this feels confusing'.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14400" y="4526280"/>
            <a:ext cx="2834640" cy="27432"/>
          </a:xfrm>
          <a:prstGeom prst="rect">
            <a:avLst/>
          </a:prstGeom>
          <a:solidFill>
            <a:srgbClr val="F06F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315968" y="1755648"/>
            <a:ext cx="3392424" cy="3127248"/>
          </a:xfrm>
          <a:prstGeom prst="rect">
            <a:avLst/>
          </a:prstGeom>
          <a:solidFill>
            <a:srgbClr val="FFFFFF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315968" y="1755648"/>
            <a:ext cx="3392424" cy="91440"/>
          </a:xfrm>
          <a:prstGeom prst="rect">
            <a:avLst/>
          </a:prstGeom>
          <a:solidFill>
            <a:srgbClr val="1098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4544568" y="2029968"/>
            <a:ext cx="493776" cy="493776"/>
          </a:xfrm>
          <a:prstGeom prst="ellipse">
            <a:avLst/>
          </a:prstGeom>
          <a:solidFill>
            <a:srgbClr val="1098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544568" y="2029968"/>
            <a:ext cx="493776" cy="49377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175504" y="2020824"/>
            <a:ext cx="2240280" cy="51206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10988A"/>
                </a:solidFill>
                <a:latin typeface="Arial"/>
              </a:rPr>
              <a:t>DESIGN MOVE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0" y="2798063"/>
            <a:ext cx="2834640" cy="16459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161B26"/>
                </a:solidFill>
                <a:latin typeface="Arial"/>
              </a:rPr>
              <a:t>Name the violated heuristic, show evidence and propose a testable correction.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572000" y="4526280"/>
            <a:ext cx="2834640" cy="27432"/>
          </a:xfrm>
          <a:prstGeom prst="rect">
            <a:avLst/>
          </a:prstGeom>
          <a:solidFill>
            <a:srgbClr val="1098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7973568" y="1755648"/>
            <a:ext cx="3392424" cy="3127248"/>
          </a:xfrm>
          <a:prstGeom prst="rect">
            <a:avLst/>
          </a:prstGeom>
          <a:solidFill>
            <a:srgbClr val="FFFFFF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973568" y="1755648"/>
            <a:ext cx="3392424" cy="91440"/>
          </a:xfrm>
          <a:prstGeom prst="rect">
            <a:avLst/>
          </a:prstGeom>
          <a:solidFill>
            <a:srgbClr val="724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8202168" y="2029968"/>
            <a:ext cx="493776" cy="493776"/>
          </a:xfrm>
          <a:prstGeom prst="ellipse">
            <a:avLst/>
          </a:prstGeom>
          <a:solidFill>
            <a:srgbClr val="724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202168" y="2029968"/>
            <a:ext cx="493776" cy="49377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833104" y="2020824"/>
            <a:ext cx="2240280" cy="51206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724CD6"/>
                </a:solidFill>
                <a:latin typeface="Arial"/>
              </a:rPr>
              <a:t>EVIDENCE STANDARD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229600" y="2798063"/>
            <a:ext cx="2834640" cy="16459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161B26"/>
                </a:solidFill>
                <a:latin typeface="Arial"/>
              </a:rPr>
              <a:t>Heuristics turn opinion into an inspectable rationale.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8229600" y="4526280"/>
            <a:ext cx="2834640" cy="27432"/>
          </a:xfrm>
          <a:prstGeom prst="rect">
            <a:avLst/>
          </a:prstGeom>
          <a:solidFill>
            <a:srgbClr val="724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58368" y="5102352"/>
            <a:ext cx="10835640" cy="56692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14400" y="5239512"/>
            <a:ext cx="10241280" cy="29260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250" b="1" i="0">
                <a:solidFill>
                  <a:srgbClr val="161B26"/>
                </a:solidFill>
                <a:latin typeface="Arial"/>
              </a:rPr>
              <a:t>Ask: what user outcome changes, and what evidence would prove it?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9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098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10988A"/>
                </a:solidFill>
                <a:latin typeface="Arial"/>
              </a:rPr>
              <a:t>MODULE 3 · PRINCIPLE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21792"/>
            <a:ext cx="10835640" cy="6583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 i="0">
                <a:solidFill>
                  <a:srgbClr val="161B26"/>
                </a:solidFill>
                <a:latin typeface="Arial"/>
              </a:rPr>
              <a:t>Accessibility review across the state matrix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6419088"/>
            <a:ext cx="4663440" cy="2194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 i="0">
                <a:solidFill>
                  <a:srgbClr val="5B6372"/>
                </a:solidFill>
                <a:latin typeface="Arial"/>
              </a:rPr>
              <a:t>Claude Design for UX/UI · C744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89120" y="6419088"/>
            <a:ext cx="3657600" cy="2194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0" i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26679" y="6419088"/>
            <a:ext cx="2834640" cy="2194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730" b="0" i="1">
                <a:solidFill>
                  <a:srgbClr val="949DA9"/>
                </a:solidFill>
                <a:latin typeface="Arial"/>
              </a:rPr>
              <a:t>Figma; WeWeb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44200" y="6419088"/>
            <a:ext cx="731520" cy="2194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 i="0">
                <a:solidFill>
                  <a:srgbClr val="5B6372"/>
                </a:solidFill>
                <a:latin typeface="Arial"/>
              </a:rPr>
              <a:t>97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58368" y="1691640"/>
            <a:ext cx="2487168" cy="233172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58368" y="1691640"/>
            <a:ext cx="82296" cy="23317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877824" y="1874520"/>
            <a:ext cx="420624" cy="420624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77824" y="1874520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08176" y="1819656"/>
            <a:ext cx="1508760" cy="43891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320" b="1" i="0">
                <a:solidFill>
                  <a:srgbClr val="161B26"/>
                </a:solidFill>
                <a:latin typeface="Arial"/>
              </a:rPr>
              <a:t>Contrast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2386584"/>
            <a:ext cx="1965960" cy="133502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070" b="0" i="0">
                <a:solidFill>
                  <a:srgbClr val="5B6372"/>
                </a:solidFill>
                <a:latin typeface="Arial"/>
              </a:rPr>
              <a:t>Check text, icons, controls and focus indicators in every state.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14400" y="3703320"/>
            <a:ext cx="1078992" cy="25603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3703320"/>
            <a:ext cx="1078992" cy="25603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1" i="0">
                <a:solidFill>
                  <a:srgbClr val="FFFFFF"/>
                </a:solidFill>
                <a:latin typeface="Arial"/>
              </a:rPr>
              <a:t>DESIGN LENS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401568" y="1691640"/>
            <a:ext cx="2487168" cy="233172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401568" y="1691640"/>
            <a:ext cx="82296" cy="2331720"/>
          </a:xfrm>
          <a:prstGeom prst="rect">
            <a:avLst/>
          </a:prstGeom>
          <a:solidFill>
            <a:srgbClr val="724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3621024" y="1874520"/>
            <a:ext cx="420624" cy="420624"/>
          </a:xfrm>
          <a:prstGeom prst="ellipse">
            <a:avLst/>
          </a:prstGeom>
          <a:solidFill>
            <a:srgbClr val="724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621024" y="1874520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151376" y="1819656"/>
            <a:ext cx="1508760" cy="43891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320" b="1" i="0">
                <a:solidFill>
                  <a:srgbClr val="161B26"/>
                </a:solidFill>
                <a:latin typeface="Arial"/>
              </a:rPr>
              <a:t>Keyboard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657600" y="2386584"/>
            <a:ext cx="1965960" cy="133502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070" b="0" i="0">
                <a:solidFill>
                  <a:srgbClr val="5B6372"/>
                </a:solidFill>
                <a:latin typeface="Arial"/>
              </a:rPr>
              <a:t>Order, reachability, traps and visible focus support non-pointer use.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657600" y="3703320"/>
            <a:ext cx="1078992" cy="256032"/>
          </a:xfrm>
          <a:prstGeom prst="rect">
            <a:avLst/>
          </a:prstGeom>
          <a:solidFill>
            <a:srgbClr val="724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657600" y="3703320"/>
            <a:ext cx="1078992" cy="25603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1" i="0">
                <a:solidFill>
                  <a:srgbClr val="FFFFFF"/>
                </a:solidFill>
                <a:latin typeface="Arial"/>
              </a:rPr>
              <a:t>DESIGN LENS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144768" y="1691640"/>
            <a:ext cx="2487168" cy="233172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144768" y="1691640"/>
            <a:ext cx="82296" cy="2331720"/>
          </a:xfrm>
          <a:prstGeom prst="rect">
            <a:avLst/>
          </a:prstGeom>
          <a:solidFill>
            <a:srgbClr val="1098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6364224" y="1874520"/>
            <a:ext cx="420624" cy="420624"/>
          </a:xfrm>
          <a:prstGeom prst="ellipse">
            <a:avLst/>
          </a:prstGeom>
          <a:solidFill>
            <a:srgbClr val="1098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364224" y="1874520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894576" y="1819656"/>
            <a:ext cx="1508760" cy="43891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320" b="1" i="0">
                <a:solidFill>
                  <a:srgbClr val="161B26"/>
                </a:solidFill>
                <a:latin typeface="Arial"/>
              </a:rPr>
              <a:t>Semantics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00800" y="2386584"/>
            <a:ext cx="1965960" cy="133502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070" b="0" i="0">
                <a:solidFill>
                  <a:srgbClr val="5B6372"/>
                </a:solidFill>
                <a:latin typeface="Arial"/>
              </a:rPr>
              <a:t>Names, roles, headings and error relationships convey structure.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400800" y="3703320"/>
            <a:ext cx="1078992" cy="256032"/>
          </a:xfrm>
          <a:prstGeom prst="rect">
            <a:avLst/>
          </a:prstGeom>
          <a:solidFill>
            <a:srgbClr val="1098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400800" y="3703320"/>
            <a:ext cx="1078992" cy="25603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1" i="0">
                <a:solidFill>
                  <a:srgbClr val="FFFFFF"/>
                </a:solidFill>
                <a:latin typeface="Arial"/>
              </a:rPr>
              <a:t>DESIGN LENS</a:t>
            </a:r>
          </a:p>
        </p:txBody>
      </p:sp>
      <p:sp>
        <p:nvSpPr>
          <p:cNvPr id="35" name="Rectangle 34"/>
          <p:cNvSpPr/>
          <p:nvPr/>
        </p:nvSpPr>
        <p:spPr>
          <a:xfrm>
            <a:off x="8887968" y="1691640"/>
            <a:ext cx="2487168" cy="233172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8887968" y="1691640"/>
            <a:ext cx="82296" cy="2331720"/>
          </a:xfrm>
          <a:prstGeom prst="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9107424" y="1874520"/>
            <a:ext cx="420624" cy="420624"/>
          </a:xfrm>
          <a:prstGeom prst="ellipse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107424" y="1874520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637776" y="1819656"/>
            <a:ext cx="1508760" cy="43891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320" b="1" i="0">
                <a:solidFill>
                  <a:srgbClr val="161B26"/>
                </a:solidFill>
                <a:latin typeface="Arial"/>
              </a:rPr>
              <a:t>Motion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144000" y="2386584"/>
            <a:ext cx="1965960" cy="133502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070" b="0" i="0">
                <a:solidFill>
                  <a:srgbClr val="5B6372"/>
                </a:solidFill>
                <a:latin typeface="Arial"/>
              </a:rPr>
              <a:t>Purposeful motion respects reduced-motion preferences.</a:t>
            </a:r>
          </a:p>
        </p:txBody>
      </p:sp>
      <p:sp>
        <p:nvSpPr>
          <p:cNvPr id="41" name="Rectangle 40"/>
          <p:cNvSpPr/>
          <p:nvPr/>
        </p:nvSpPr>
        <p:spPr>
          <a:xfrm>
            <a:off x="9144000" y="3703320"/>
            <a:ext cx="1078992" cy="256032"/>
          </a:xfrm>
          <a:prstGeom prst="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9144000" y="3703320"/>
            <a:ext cx="1078992" cy="25603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1" i="0">
                <a:solidFill>
                  <a:srgbClr val="FFFFFF"/>
                </a:solidFill>
                <a:latin typeface="Arial"/>
              </a:rPr>
              <a:t>DESIGN LENS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58368" y="4315968"/>
            <a:ext cx="10835640" cy="13258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914400" y="4480560"/>
            <a:ext cx="1828800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 i="0">
                <a:solidFill>
                  <a:srgbClr val="10988A"/>
                </a:solidFill>
                <a:latin typeface="Arial"/>
              </a:rPr>
              <a:t>SYNTHESIS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14400" y="4846320"/>
            <a:ext cx="10195560" cy="56692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 i="0">
                <a:solidFill>
                  <a:srgbClr val="161B26"/>
                </a:solidFill>
                <a:latin typeface="Arial"/>
              </a:rPr>
              <a:t>Check text, icons, controls and focus indicators in every state; purposeful motion respects reduced-motion preferences.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9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098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10988A"/>
                </a:solidFill>
                <a:latin typeface="Arial"/>
              </a:rPr>
              <a:t>MODULE 3 · CASE LENS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21792"/>
            <a:ext cx="10835640" cy="6583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200" b="1" i="0">
                <a:solidFill>
                  <a:srgbClr val="161B26"/>
                </a:solidFill>
                <a:latin typeface="Arial"/>
              </a:rPr>
              <a:t>Accessibility review across the state matrix — applied judgement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6419088"/>
            <a:ext cx="4663440" cy="2194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 i="0">
                <a:solidFill>
                  <a:srgbClr val="5B6372"/>
                </a:solidFill>
                <a:latin typeface="Arial"/>
              </a:rPr>
              <a:t>Claude Design for UX/UI · C744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89120" y="6419088"/>
            <a:ext cx="3657600" cy="2194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0" i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26679" y="6419088"/>
            <a:ext cx="2834640" cy="2194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730" b="0" i="1">
                <a:solidFill>
                  <a:srgbClr val="949DA9"/>
                </a:solidFill>
                <a:latin typeface="Arial"/>
              </a:rPr>
              <a:t>Figma; WeWeb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44200" y="6419088"/>
            <a:ext cx="731520" cy="2194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 i="0">
                <a:solidFill>
                  <a:srgbClr val="5B6372"/>
                </a:solidFill>
                <a:latin typeface="Arial"/>
              </a:rPr>
              <a:t>98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58368" y="1755648"/>
            <a:ext cx="3392424" cy="3127248"/>
          </a:xfrm>
          <a:prstGeom prst="rect">
            <a:avLst/>
          </a:prstGeom>
          <a:solidFill>
            <a:srgbClr val="FFFFFF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58368" y="1755648"/>
            <a:ext cx="3392424" cy="91440"/>
          </a:xfrm>
          <a:prstGeom prst="rect">
            <a:avLst/>
          </a:prstGeom>
          <a:solidFill>
            <a:srgbClr val="F06F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886968" y="2029968"/>
            <a:ext cx="493776" cy="493776"/>
          </a:xfrm>
          <a:prstGeom prst="ellipse">
            <a:avLst/>
          </a:prstGeom>
          <a:solidFill>
            <a:srgbClr val="F06F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86968" y="2029968"/>
            <a:ext cx="493776" cy="49377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17904" y="2020824"/>
            <a:ext cx="2240280" cy="51206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F06F61"/>
                </a:solidFill>
                <a:latin typeface="Arial"/>
              </a:rPr>
              <a:t>CONTEXT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2798063"/>
            <a:ext cx="2834640" cy="16459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161B26"/>
                </a:solidFill>
                <a:latin typeface="Arial"/>
              </a:rPr>
              <a:t>The default button passes contrast, but its disabled and focus states do not.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14400" y="4526280"/>
            <a:ext cx="2834640" cy="27432"/>
          </a:xfrm>
          <a:prstGeom prst="rect">
            <a:avLst/>
          </a:prstGeom>
          <a:solidFill>
            <a:srgbClr val="F06F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315968" y="1755648"/>
            <a:ext cx="3392424" cy="3127248"/>
          </a:xfrm>
          <a:prstGeom prst="rect">
            <a:avLst/>
          </a:prstGeom>
          <a:solidFill>
            <a:srgbClr val="FFFFFF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315968" y="1755648"/>
            <a:ext cx="3392424" cy="91440"/>
          </a:xfrm>
          <a:prstGeom prst="rect">
            <a:avLst/>
          </a:prstGeom>
          <a:solidFill>
            <a:srgbClr val="1098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4544568" y="2029968"/>
            <a:ext cx="493776" cy="493776"/>
          </a:xfrm>
          <a:prstGeom prst="ellipse">
            <a:avLst/>
          </a:prstGeom>
          <a:solidFill>
            <a:srgbClr val="1098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544568" y="2029968"/>
            <a:ext cx="493776" cy="49377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175504" y="2020824"/>
            <a:ext cx="2240280" cy="51206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10988A"/>
                </a:solidFill>
                <a:latin typeface="Arial"/>
              </a:rPr>
              <a:t>DESIGN MOVE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0" y="2798063"/>
            <a:ext cx="2834640" cy="16459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161B26"/>
                </a:solidFill>
                <a:latin typeface="Arial"/>
              </a:rPr>
              <a:t>Audit variants and states as a matrix rather than checking one screenshot.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572000" y="4526280"/>
            <a:ext cx="2834640" cy="27432"/>
          </a:xfrm>
          <a:prstGeom prst="rect">
            <a:avLst/>
          </a:prstGeom>
          <a:solidFill>
            <a:srgbClr val="1098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7973568" y="1755648"/>
            <a:ext cx="3392424" cy="3127248"/>
          </a:xfrm>
          <a:prstGeom prst="rect">
            <a:avLst/>
          </a:prstGeom>
          <a:solidFill>
            <a:srgbClr val="FFFFFF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973568" y="1755648"/>
            <a:ext cx="3392424" cy="91440"/>
          </a:xfrm>
          <a:prstGeom prst="rect">
            <a:avLst/>
          </a:prstGeom>
          <a:solidFill>
            <a:srgbClr val="724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8202168" y="2029968"/>
            <a:ext cx="493776" cy="493776"/>
          </a:xfrm>
          <a:prstGeom prst="ellipse">
            <a:avLst/>
          </a:prstGeom>
          <a:solidFill>
            <a:srgbClr val="724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202168" y="2029968"/>
            <a:ext cx="493776" cy="49377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833104" y="2020824"/>
            <a:ext cx="2240280" cy="51206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724CD6"/>
                </a:solidFill>
                <a:latin typeface="Arial"/>
              </a:rPr>
              <a:t>EVIDENCE STANDARD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229600" y="2798063"/>
            <a:ext cx="2834640" cy="16459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161B26"/>
                </a:solidFill>
                <a:latin typeface="Arial"/>
              </a:rPr>
              <a:t>Accessibility defects often hide in transitions and exceptions.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8229600" y="4526280"/>
            <a:ext cx="2834640" cy="27432"/>
          </a:xfrm>
          <a:prstGeom prst="rect">
            <a:avLst/>
          </a:prstGeom>
          <a:solidFill>
            <a:srgbClr val="724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58368" y="5102352"/>
            <a:ext cx="10835640" cy="56692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14400" y="5239512"/>
            <a:ext cx="10241280" cy="29260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250" b="1" i="0">
                <a:solidFill>
                  <a:srgbClr val="161B26"/>
                </a:solidFill>
                <a:latin typeface="Arial"/>
              </a:rPr>
              <a:t>Ask: what user outcome changes, and what evidence would prove it?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9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098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10988A"/>
                </a:solidFill>
                <a:latin typeface="Arial"/>
              </a:rPr>
              <a:t>MODULE 3 · PRINCIPLE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21792"/>
            <a:ext cx="10835640" cy="6583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 i="0">
                <a:solidFill>
                  <a:srgbClr val="161B26"/>
                </a:solidFill>
                <a:latin typeface="Arial"/>
              </a:rPr>
              <a:t>User testing observes behaviour, not performance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6419088"/>
            <a:ext cx="4663440" cy="2194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 i="0">
                <a:solidFill>
                  <a:srgbClr val="5B6372"/>
                </a:solidFill>
                <a:latin typeface="Arial"/>
              </a:rPr>
              <a:t>Claude Design for UX/UI · C744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89120" y="6419088"/>
            <a:ext cx="3657600" cy="2194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0" i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26679" y="6419088"/>
            <a:ext cx="2834640" cy="2194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730" b="0" i="1">
                <a:solidFill>
                  <a:srgbClr val="949DA9"/>
                </a:solidFill>
                <a:latin typeface="Arial"/>
              </a:rPr>
              <a:t>Maze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44200" y="6419088"/>
            <a:ext cx="731520" cy="2194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 i="0">
                <a:solidFill>
                  <a:srgbClr val="5B6372"/>
                </a:solidFill>
                <a:latin typeface="Arial"/>
              </a:rPr>
              <a:t>99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58368" y="1691640"/>
            <a:ext cx="2487168" cy="233172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58368" y="1691640"/>
            <a:ext cx="82296" cy="23317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877824" y="1874520"/>
            <a:ext cx="420624" cy="420624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77824" y="1874520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08176" y="1819656"/>
            <a:ext cx="1508760" cy="43891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320" b="1" i="0">
                <a:solidFill>
                  <a:srgbClr val="161B26"/>
                </a:solidFill>
                <a:latin typeface="Arial"/>
              </a:rPr>
              <a:t>Task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2386584"/>
            <a:ext cx="1965960" cy="133502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070" b="0" i="0">
                <a:solidFill>
                  <a:srgbClr val="5B6372"/>
                </a:solidFill>
                <a:latin typeface="Arial"/>
              </a:rPr>
              <a:t>Give a goal and context without teaching the path.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14400" y="3703320"/>
            <a:ext cx="1078992" cy="25603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3703320"/>
            <a:ext cx="1078992" cy="25603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1" i="0">
                <a:solidFill>
                  <a:srgbClr val="FFFFFF"/>
                </a:solidFill>
                <a:latin typeface="Arial"/>
              </a:rPr>
              <a:t>DESIGN LENS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401568" y="1691640"/>
            <a:ext cx="2487168" cy="233172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401568" y="1691640"/>
            <a:ext cx="82296" cy="2331720"/>
          </a:xfrm>
          <a:prstGeom prst="rect">
            <a:avLst/>
          </a:prstGeom>
          <a:solidFill>
            <a:srgbClr val="724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3621024" y="1874520"/>
            <a:ext cx="420624" cy="420624"/>
          </a:xfrm>
          <a:prstGeom prst="ellipse">
            <a:avLst/>
          </a:prstGeom>
          <a:solidFill>
            <a:srgbClr val="724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621024" y="1874520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151376" y="1819656"/>
            <a:ext cx="1508760" cy="43891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320" b="1" i="0">
                <a:solidFill>
                  <a:srgbClr val="161B26"/>
                </a:solidFill>
                <a:latin typeface="Arial"/>
              </a:rPr>
              <a:t>Observe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657600" y="2386584"/>
            <a:ext cx="1965960" cy="133502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070" b="0" i="0">
                <a:solidFill>
                  <a:srgbClr val="5B6372"/>
                </a:solidFill>
                <a:latin typeface="Arial"/>
              </a:rPr>
              <a:t>Record navigation, pauses, errors and spontaneous interpretation.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657600" y="3703320"/>
            <a:ext cx="1078992" cy="256032"/>
          </a:xfrm>
          <a:prstGeom prst="rect">
            <a:avLst/>
          </a:prstGeom>
          <a:solidFill>
            <a:srgbClr val="724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657600" y="3703320"/>
            <a:ext cx="1078992" cy="25603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1" i="0">
                <a:solidFill>
                  <a:srgbClr val="FFFFFF"/>
                </a:solidFill>
                <a:latin typeface="Arial"/>
              </a:rPr>
              <a:t>DESIGN LENS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144768" y="1691640"/>
            <a:ext cx="2487168" cy="233172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144768" y="1691640"/>
            <a:ext cx="82296" cy="2331720"/>
          </a:xfrm>
          <a:prstGeom prst="rect">
            <a:avLst/>
          </a:prstGeom>
          <a:solidFill>
            <a:srgbClr val="1098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6364224" y="1874520"/>
            <a:ext cx="420624" cy="420624"/>
          </a:xfrm>
          <a:prstGeom prst="ellipse">
            <a:avLst/>
          </a:prstGeom>
          <a:solidFill>
            <a:srgbClr val="1098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364224" y="1874520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894576" y="1819656"/>
            <a:ext cx="1508760" cy="43891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320" b="1" i="0">
                <a:solidFill>
                  <a:srgbClr val="161B26"/>
                </a:solidFill>
                <a:latin typeface="Arial"/>
              </a:rPr>
              <a:t>Probe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00800" y="2386584"/>
            <a:ext cx="1965960" cy="133502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070" b="0" i="0">
                <a:solidFill>
                  <a:srgbClr val="5B6372"/>
                </a:solidFill>
                <a:latin typeface="Arial"/>
              </a:rPr>
              <a:t>Ask neutral questions after behaviour occurs.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400800" y="3703320"/>
            <a:ext cx="1078992" cy="256032"/>
          </a:xfrm>
          <a:prstGeom prst="rect">
            <a:avLst/>
          </a:prstGeom>
          <a:solidFill>
            <a:srgbClr val="1098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400800" y="3703320"/>
            <a:ext cx="1078992" cy="25603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1" i="0">
                <a:solidFill>
                  <a:srgbClr val="FFFFFF"/>
                </a:solidFill>
                <a:latin typeface="Arial"/>
              </a:rPr>
              <a:t>DESIGN LENS</a:t>
            </a:r>
          </a:p>
        </p:txBody>
      </p:sp>
      <p:sp>
        <p:nvSpPr>
          <p:cNvPr id="35" name="Rectangle 34"/>
          <p:cNvSpPr/>
          <p:nvPr/>
        </p:nvSpPr>
        <p:spPr>
          <a:xfrm>
            <a:off x="8887968" y="1691640"/>
            <a:ext cx="2487168" cy="233172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8887968" y="1691640"/>
            <a:ext cx="82296" cy="2331720"/>
          </a:xfrm>
          <a:prstGeom prst="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9107424" y="1874520"/>
            <a:ext cx="420624" cy="420624"/>
          </a:xfrm>
          <a:prstGeom prst="ellipse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107424" y="1874520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637776" y="1819656"/>
            <a:ext cx="1508760" cy="43891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320" b="1" i="0">
                <a:solidFill>
                  <a:srgbClr val="161B26"/>
                </a:solidFill>
                <a:latin typeface="Arial"/>
              </a:rPr>
              <a:t>Synthesize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144000" y="2386584"/>
            <a:ext cx="1965960" cy="133502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070" b="0" i="0">
                <a:solidFill>
                  <a:srgbClr val="5B6372"/>
                </a:solidFill>
                <a:latin typeface="Arial"/>
              </a:rPr>
              <a:t>Group evidence by pattern, severity and affected outcome.</a:t>
            </a:r>
          </a:p>
        </p:txBody>
      </p:sp>
      <p:sp>
        <p:nvSpPr>
          <p:cNvPr id="41" name="Rectangle 40"/>
          <p:cNvSpPr/>
          <p:nvPr/>
        </p:nvSpPr>
        <p:spPr>
          <a:xfrm>
            <a:off x="9144000" y="3703320"/>
            <a:ext cx="1078992" cy="256032"/>
          </a:xfrm>
          <a:prstGeom prst="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9144000" y="3703320"/>
            <a:ext cx="1078992" cy="25603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1" i="0">
                <a:solidFill>
                  <a:srgbClr val="FFFFFF"/>
                </a:solidFill>
                <a:latin typeface="Arial"/>
              </a:rPr>
              <a:t>DESIGN LENS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58368" y="4315968"/>
            <a:ext cx="10835640" cy="13258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914400" y="4480560"/>
            <a:ext cx="1828800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 i="0">
                <a:solidFill>
                  <a:srgbClr val="10988A"/>
                </a:solidFill>
                <a:latin typeface="Arial"/>
              </a:rPr>
              <a:t>SYNTHESIS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14400" y="4846320"/>
            <a:ext cx="10195560" cy="56692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 i="0">
                <a:solidFill>
                  <a:srgbClr val="161B26"/>
                </a:solidFill>
                <a:latin typeface="Arial"/>
              </a:rPr>
              <a:t>Give a goal and context without teaching the path; group evidence by pattern, severity and affected outcome.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0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098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10988A"/>
                </a:solidFill>
                <a:latin typeface="Arial"/>
              </a:rPr>
              <a:t>MODULE 3 · CASE LENS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21792"/>
            <a:ext cx="10835640" cy="6583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200" b="1" i="0">
                <a:solidFill>
                  <a:srgbClr val="161B26"/>
                </a:solidFill>
                <a:latin typeface="Arial"/>
              </a:rPr>
              <a:t>User testing observes behaviour, not performance — applied judgement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6419088"/>
            <a:ext cx="4663440" cy="2194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 i="0">
                <a:solidFill>
                  <a:srgbClr val="5B6372"/>
                </a:solidFill>
                <a:latin typeface="Arial"/>
              </a:rPr>
              <a:t>Claude Design for UX/UI · C744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89120" y="6419088"/>
            <a:ext cx="3657600" cy="2194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0" i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26679" y="6419088"/>
            <a:ext cx="2834640" cy="2194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730" b="0" i="1">
                <a:solidFill>
                  <a:srgbClr val="949DA9"/>
                </a:solidFill>
                <a:latin typeface="Arial"/>
              </a:rPr>
              <a:t>Maze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44200" y="6419088"/>
            <a:ext cx="731520" cy="2194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 i="0">
                <a:solidFill>
                  <a:srgbClr val="5B6372"/>
                </a:solidFill>
                <a:latin typeface="Arial"/>
              </a:rPr>
              <a:t>100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58368" y="1755648"/>
            <a:ext cx="3392424" cy="3127248"/>
          </a:xfrm>
          <a:prstGeom prst="rect">
            <a:avLst/>
          </a:prstGeom>
          <a:solidFill>
            <a:srgbClr val="FFFFFF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58368" y="1755648"/>
            <a:ext cx="3392424" cy="91440"/>
          </a:xfrm>
          <a:prstGeom prst="rect">
            <a:avLst/>
          </a:prstGeom>
          <a:solidFill>
            <a:srgbClr val="F06F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886968" y="2029968"/>
            <a:ext cx="493776" cy="493776"/>
          </a:xfrm>
          <a:prstGeom prst="ellipse">
            <a:avLst/>
          </a:prstGeom>
          <a:solidFill>
            <a:srgbClr val="F06F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86968" y="2029968"/>
            <a:ext cx="493776" cy="49377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17904" y="2020824"/>
            <a:ext cx="2240280" cy="51206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F06F61"/>
                </a:solidFill>
                <a:latin typeface="Arial"/>
              </a:rPr>
              <a:t>CONTEXT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2798063"/>
            <a:ext cx="2834640" cy="16459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161B26"/>
                </a:solidFill>
                <a:latin typeface="Arial"/>
              </a:rPr>
              <a:t>A facilitator explains each feature while the participant attempts the task.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14400" y="4526280"/>
            <a:ext cx="2834640" cy="27432"/>
          </a:xfrm>
          <a:prstGeom prst="rect">
            <a:avLst/>
          </a:prstGeom>
          <a:solidFill>
            <a:srgbClr val="F06F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315968" y="1755648"/>
            <a:ext cx="3392424" cy="3127248"/>
          </a:xfrm>
          <a:prstGeom prst="rect">
            <a:avLst/>
          </a:prstGeom>
          <a:solidFill>
            <a:srgbClr val="FFFFFF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315968" y="1755648"/>
            <a:ext cx="3392424" cy="91440"/>
          </a:xfrm>
          <a:prstGeom prst="rect">
            <a:avLst/>
          </a:prstGeom>
          <a:solidFill>
            <a:srgbClr val="1098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4544568" y="2029968"/>
            <a:ext cx="493776" cy="493776"/>
          </a:xfrm>
          <a:prstGeom prst="ellipse">
            <a:avLst/>
          </a:prstGeom>
          <a:solidFill>
            <a:srgbClr val="1098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544568" y="2029968"/>
            <a:ext cx="493776" cy="49377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175504" y="2020824"/>
            <a:ext cx="2240280" cy="51206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10988A"/>
                </a:solidFill>
                <a:latin typeface="Arial"/>
              </a:rPr>
              <a:t>DESIGN MOVE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0" y="2798063"/>
            <a:ext cx="2834640" cy="16459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161B26"/>
                </a:solidFill>
                <a:latin typeface="Arial"/>
              </a:rPr>
              <a:t>Use neutral task wording and allow the interface to communicate for itself.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572000" y="4526280"/>
            <a:ext cx="2834640" cy="27432"/>
          </a:xfrm>
          <a:prstGeom prst="rect">
            <a:avLst/>
          </a:prstGeom>
          <a:solidFill>
            <a:srgbClr val="1098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7973568" y="1755648"/>
            <a:ext cx="3392424" cy="3127248"/>
          </a:xfrm>
          <a:prstGeom prst="rect">
            <a:avLst/>
          </a:prstGeom>
          <a:solidFill>
            <a:srgbClr val="FFFFFF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973568" y="1755648"/>
            <a:ext cx="3392424" cy="91440"/>
          </a:xfrm>
          <a:prstGeom prst="rect">
            <a:avLst/>
          </a:prstGeom>
          <a:solidFill>
            <a:srgbClr val="724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8202168" y="2029968"/>
            <a:ext cx="493776" cy="493776"/>
          </a:xfrm>
          <a:prstGeom prst="ellipse">
            <a:avLst/>
          </a:prstGeom>
          <a:solidFill>
            <a:srgbClr val="724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202168" y="2029968"/>
            <a:ext cx="493776" cy="49377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833104" y="2020824"/>
            <a:ext cx="2240280" cy="51206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724CD6"/>
                </a:solidFill>
                <a:latin typeface="Arial"/>
              </a:rPr>
              <a:t>EVIDENCE STANDARD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229600" y="2798063"/>
            <a:ext cx="2834640" cy="16459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161B26"/>
                </a:solidFill>
                <a:latin typeface="Arial"/>
              </a:rPr>
              <a:t>Testing the participant invalidates evidence about the design.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8229600" y="4526280"/>
            <a:ext cx="2834640" cy="27432"/>
          </a:xfrm>
          <a:prstGeom prst="rect">
            <a:avLst/>
          </a:prstGeom>
          <a:solidFill>
            <a:srgbClr val="724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58368" y="5102352"/>
            <a:ext cx="10835640" cy="56692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14400" y="5239512"/>
            <a:ext cx="10241280" cy="29260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250" b="1" i="0">
                <a:solidFill>
                  <a:srgbClr val="161B26"/>
                </a:solidFill>
                <a:latin typeface="Arial"/>
              </a:rPr>
              <a:t>Ask: what user outcome changes, and what evidence would prove it?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0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098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10988A"/>
                </a:solidFill>
                <a:latin typeface="Arial"/>
              </a:rPr>
              <a:t>MODULE 3 · PRINCIPLE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21792"/>
            <a:ext cx="10835640" cy="6583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 i="0">
                <a:solidFill>
                  <a:srgbClr val="161B26"/>
                </a:solidFill>
                <a:latin typeface="Arial"/>
              </a:rPr>
              <a:t>Iteration needs a change hypothesis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6419088"/>
            <a:ext cx="4663440" cy="2194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 i="0">
                <a:solidFill>
                  <a:srgbClr val="5B6372"/>
                </a:solidFill>
                <a:latin typeface="Arial"/>
              </a:rPr>
              <a:t>Claude Design for UX/UI · C744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89120" y="6419088"/>
            <a:ext cx="3657600" cy="2194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0" i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26679" y="6419088"/>
            <a:ext cx="2834640" cy="2194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730" b="0" i="1">
                <a:solidFill>
                  <a:srgbClr val="949DA9"/>
                </a:solidFill>
                <a:latin typeface="Arial"/>
              </a:rPr>
              <a:t>Contentsquare; Maze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44200" y="6419088"/>
            <a:ext cx="731520" cy="2194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 i="0">
                <a:solidFill>
                  <a:srgbClr val="5B6372"/>
                </a:solidFill>
                <a:latin typeface="Arial"/>
              </a:rPr>
              <a:t>101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58368" y="1691640"/>
            <a:ext cx="2487168" cy="233172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58368" y="1691640"/>
            <a:ext cx="82296" cy="23317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877824" y="1874520"/>
            <a:ext cx="420624" cy="420624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77824" y="1874520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08176" y="1819656"/>
            <a:ext cx="1508760" cy="43891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320" b="1" i="0">
                <a:solidFill>
                  <a:srgbClr val="161B26"/>
                </a:solidFill>
                <a:latin typeface="Arial"/>
              </a:rPr>
              <a:t>Evidence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2386584"/>
            <a:ext cx="1965960" cy="133502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070" b="0" i="0">
                <a:solidFill>
                  <a:srgbClr val="5B6372"/>
                </a:solidFill>
                <a:latin typeface="Arial"/>
              </a:rPr>
              <a:t>Name the observed problem and who it affects.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14400" y="3703320"/>
            <a:ext cx="1078992" cy="25603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3703320"/>
            <a:ext cx="1078992" cy="25603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1" i="0">
                <a:solidFill>
                  <a:srgbClr val="FFFFFF"/>
                </a:solidFill>
                <a:latin typeface="Arial"/>
              </a:rPr>
              <a:t>DESIGN LENS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401568" y="1691640"/>
            <a:ext cx="2487168" cy="233172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401568" y="1691640"/>
            <a:ext cx="82296" cy="2331720"/>
          </a:xfrm>
          <a:prstGeom prst="rect">
            <a:avLst/>
          </a:prstGeom>
          <a:solidFill>
            <a:srgbClr val="724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3621024" y="1874520"/>
            <a:ext cx="420624" cy="420624"/>
          </a:xfrm>
          <a:prstGeom prst="ellipse">
            <a:avLst/>
          </a:prstGeom>
          <a:solidFill>
            <a:srgbClr val="724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621024" y="1874520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151376" y="1819656"/>
            <a:ext cx="1508760" cy="43891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320" b="1" i="0">
                <a:solidFill>
                  <a:srgbClr val="161B26"/>
                </a:solidFill>
                <a:latin typeface="Arial"/>
              </a:rPr>
              <a:t>Hypothesis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657600" y="2386584"/>
            <a:ext cx="1965960" cy="133502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070" b="0" i="0">
                <a:solidFill>
                  <a:srgbClr val="5B6372"/>
                </a:solidFill>
                <a:latin typeface="Arial"/>
              </a:rPr>
              <a:t>Predict how a specific change should improve the outcome.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657600" y="3703320"/>
            <a:ext cx="1078992" cy="256032"/>
          </a:xfrm>
          <a:prstGeom prst="rect">
            <a:avLst/>
          </a:prstGeom>
          <a:solidFill>
            <a:srgbClr val="724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657600" y="3703320"/>
            <a:ext cx="1078992" cy="25603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1" i="0">
                <a:solidFill>
                  <a:srgbClr val="FFFFFF"/>
                </a:solidFill>
                <a:latin typeface="Arial"/>
              </a:rPr>
              <a:t>DESIGN LENS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144768" y="1691640"/>
            <a:ext cx="2487168" cy="233172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144768" y="1691640"/>
            <a:ext cx="82296" cy="2331720"/>
          </a:xfrm>
          <a:prstGeom prst="rect">
            <a:avLst/>
          </a:prstGeom>
          <a:solidFill>
            <a:srgbClr val="1098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6364224" y="1874520"/>
            <a:ext cx="420624" cy="420624"/>
          </a:xfrm>
          <a:prstGeom prst="ellipse">
            <a:avLst/>
          </a:prstGeom>
          <a:solidFill>
            <a:srgbClr val="1098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364224" y="1874520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894576" y="1819656"/>
            <a:ext cx="1508760" cy="43891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320" b="1" i="0">
                <a:solidFill>
                  <a:srgbClr val="161B26"/>
                </a:solidFill>
                <a:latin typeface="Arial"/>
              </a:rPr>
              <a:t>Change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00800" y="2386584"/>
            <a:ext cx="1965960" cy="133502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070" b="0" i="0">
                <a:solidFill>
                  <a:srgbClr val="5B6372"/>
                </a:solidFill>
                <a:latin typeface="Arial"/>
              </a:rPr>
              <a:t>Alter the smallest coherent part that addresses the cause.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400800" y="3703320"/>
            <a:ext cx="1078992" cy="256032"/>
          </a:xfrm>
          <a:prstGeom prst="rect">
            <a:avLst/>
          </a:prstGeom>
          <a:solidFill>
            <a:srgbClr val="1098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400800" y="3703320"/>
            <a:ext cx="1078992" cy="25603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1" i="0">
                <a:solidFill>
                  <a:srgbClr val="FFFFFF"/>
                </a:solidFill>
                <a:latin typeface="Arial"/>
              </a:rPr>
              <a:t>DESIGN LENS</a:t>
            </a:r>
          </a:p>
        </p:txBody>
      </p:sp>
      <p:sp>
        <p:nvSpPr>
          <p:cNvPr id="35" name="Rectangle 34"/>
          <p:cNvSpPr/>
          <p:nvPr/>
        </p:nvSpPr>
        <p:spPr>
          <a:xfrm>
            <a:off x="8887968" y="1691640"/>
            <a:ext cx="2487168" cy="233172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8887968" y="1691640"/>
            <a:ext cx="82296" cy="2331720"/>
          </a:xfrm>
          <a:prstGeom prst="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9107424" y="1874520"/>
            <a:ext cx="420624" cy="420624"/>
          </a:xfrm>
          <a:prstGeom prst="ellipse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107424" y="1874520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637776" y="1819656"/>
            <a:ext cx="1508760" cy="43891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320" b="1" i="0">
                <a:solidFill>
                  <a:srgbClr val="161B26"/>
                </a:solidFill>
                <a:latin typeface="Arial"/>
              </a:rPr>
              <a:t>Retest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144000" y="2386584"/>
            <a:ext cx="1965960" cy="133502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070" b="0" i="0">
                <a:solidFill>
                  <a:srgbClr val="5B6372"/>
                </a:solidFill>
                <a:latin typeface="Arial"/>
              </a:rPr>
              <a:t>Use the same task and metrics to see whether the prediction holds.</a:t>
            </a:r>
          </a:p>
        </p:txBody>
      </p:sp>
      <p:sp>
        <p:nvSpPr>
          <p:cNvPr id="41" name="Rectangle 40"/>
          <p:cNvSpPr/>
          <p:nvPr/>
        </p:nvSpPr>
        <p:spPr>
          <a:xfrm>
            <a:off x="9144000" y="3703320"/>
            <a:ext cx="1078992" cy="256032"/>
          </a:xfrm>
          <a:prstGeom prst="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9144000" y="3703320"/>
            <a:ext cx="1078992" cy="25603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1" i="0">
                <a:solidFill>
                  <a:srgbClr val="FFFFFF"/>
                </a:solidFill>
                <a:latin typeface="Arial"/>
              </a:rPr>
              <a:t>DESIGN LENS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58368" y="4315968"/>
            <a:ext cx="10835640" cy="13258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914400" y="4480560"/>
            <a:ext cx="1828800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 i="0">
                <a:solidFill>
                  <a:srgbClr val="10988A"/>
                </a:solidFill>
                <a:latin typeface="Arial"/>
              </a:rPr>
              <a:t>SYNTHESIS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14400" y="4846320"/>
            <a:ext cx="10195560" cy="56692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 i="0">
                <a:solidFill>
                  <a:srgbClr val="161B26"/>
                </a:solidFill>
                <a:latin typeface="Arial"/>
              </a:rPr>
              <a:t>Name the observed problem and who it affects; use the same task and metrics to see whether the prediction holds.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0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098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10988A"/>
                </a:solidFill>
                <a:latin typeface="Arial"/>
              </a:rPr>
              <a:t>MODULE 3 · CASE LENS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21792"/>
            <a:ext cx="10835640" cy="6583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500" b="1" i="0">
                <a:solidFill>
                  <a:srgbClr val="161B26"/>
                </a:solidFill>
                <a:latin typeface="Arial"/>
              </a:rPr>
              <a:t>Iteration needs a change hypothesis — applied judgement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6419088"/>
            <a:ext cx="4663440" cy="2194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 i="0">
                <a:solidFill>
                  <a:srgbClr val="5B6372"/>
                </a:solidFill>
                <a:latin typeface="Arial"/>
              </a:rPr>
              <a:t>Claude Design for UX/UI · C744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89120" y="6419088"/>
            <a:ext cx="3657600" cy="2194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0" i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26679" y="6419088"/>
            <a:ext cx="2834640" cy="2194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730" b="0" i="1">
                <a:solidFill>
                  <a:srgbClr val="949DA9"/>
                </a:solidFill>
                <a:latin typeface="Arial"/>
              </a:rPr>
              <a:t>Contentsquare; Maze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44200" y="6419088"/>
            <a:ext cx="731520" cy="2194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 i="0">
                <a:solidFill>
                  <a:srgbClr val="5B6372"/>
                </a:solidFill>
                <a:latin typeface="Arial"/>
              </a:rPr>
              <a:t>102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58368" y="1755648"/>
            <a:ext cx="3392424" cy="3127248"/>
          </a:xfrm>
          <a:prstGeom prst="rect">
            <a:avLst/>
          </a:prstGeom>
          <a:solidFill>
            <a:srgbClr val="FFFFFF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58368" y="1755648"/>
            <a:ext cx="3392424" cy="91440"/>
          </a:xfrm>
          <a:prstGeom prst="rect">
            <a:avLst/>
          </a:prstGeom>
          <a:solidFill>
            <a:srgbClr val="F06F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886968" y="2029968"/>
            <a:ext cx="493776" cy="493776"/>
          </a:xfrm>
          <a:prstGeom prst="ellipse">
            <a:avLst/>
          </a:prstGeom>
          <a:solidFill>
            <a:srgbClr val="F06F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86968" y="2029968"/>
            <a:ext cx="493776" cy="49377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17904" y="2020824"/>
            <a:ext cx="2240280" cy="51206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F06F61"/>
                </a:solidFill>
                <a:latin typeface="Arial"/>
              </a:rPr>
              <a:t>CONTEXT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2798063"/>
            <a:ext cx="2834640" cy="16459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161B26"/>
                </a:solidFill>
                <a:latin typeface="Arial"/>
              </a:rPr>
              <a:t>A redesign changes layout, copy and navigation after one failed task.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14400" y="4526280"/>
            <a:ext cx="2834640" cy="27432"/>
          </a:xfrm>
          <a:prstGeom prst="rect">
            <a:avLst/>
          </a:prstGeom>
          <a:solidFill>
            <a:srgbClr val="F06F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315968" y="1755648"/>
            <a:ext cx="3392424" cy="3127248"/>
          </a:xfrm>
          <a:prstGeom prst="rect">
            <a:avLst/>
          </a:prstGeom>
          <a:solidFill>
            <a:srgbClr val="FFFFFF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315968" y="1755648"/>
            <a:ext cx="3392424" cy="91440"/>
          </a:xfrm>
          <a:prstGeom prst="rect">
            <a:avLst/>
          </a:prstGeom>
          <a:solidFill>
            <a:srgbClr val="1098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4544568" y="2029968"/>
            <a:ext cx="493776" cy="493776"/>
          </a:xfrm>
          <a:prstGeom prst="ellipse">
            <a:avLst/>
          </a:prstGeom>
          <a:solidFill>
            <a:srgbClr val="1098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544568" y="2029968"/>
            <a:ext cx="493776" cy="49377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175504" y="2020824"/>
            <a:ext cx="2240280" cy="51206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10988A"/>
                </a:solidFill>
                <a:latin typeface="Arial"/>
              </a:rPr>
              <a:t>DESIGN MOVE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0" y="2798063"/>
            <a:ext cx="2834640" cy="16459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161B26"/>
                </a:solidFill>
                <a:latin typeface="Arial"/>
              </a:rPr>
              <a:t>Isolate the likely cause, make a bounded change and compare the same measure.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572000" y="4526280"/>
            <a:ext cx="2834640" cy="27432"/>
          </a:xfrm>
          <a:prstGeom prst="rect">
            <a:avLst/>
          </a:prstGeom>
          <a:solidFill>
            <a:srgbClr val="1098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7973568" y="1755648"/>
            <a:ext cx="3392424" cy="3127248"/>
          </a:xfrm>
          <a:prstGeom prst="rect">
            <a:avLst/>
          </a:prstGeom>
          <a:solidFill>
            <a:srgbClr val="FFFFFF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973568" y="1755648"/>
            <a:ext cx="3392424" cy="91440"/>
          </a:xfrm>
          <a:prstGeom prst="rect">
            <a:avLst/>
          </a:prstGeom>
          <a:solidFill>
            <a:srgbClr val="724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8202168" y="2029968"/>
            <a:ext cx="493776" cy="493776"/>
          </a:xfrm>
          <a:prstGeom prst="ellipse">
            <a:avLst/>
          </a:prstGeom>
          <a:solidFill>
            <a:srgbClr val="724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202168" y="2029968"/>
            <a:ext cx="493776" cy="49377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833104" y="2020824"/>
            <a:ext cx="2240280" cy="51206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724CD6"/>
                </a:solidFill>
                <a:latin typeface="Arial"/>
              </a:rPr>
              <a:t>EVIDENCE STANDARD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229600" y="2798063"/>
            <a:ext cx="2834640" cy="16459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161B26"/>
                </a:solidFill>
                <a:latin typeface="Arial"/>
              </a:rPr>
              <a:t>Iteration becomes learning when the prediction is explicit.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8229600" y="4526280"/>
            <a:ext cx="2834640" cy="27432"/>
          </a:xfrm>
          <a:prstGeom prst="rect">
            <a:avLst/>
          </a:prstGeom>
          <a:solidFill>
            <a:srgbClr val="724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58368" y="5102352"/>
            <a:ext cx="10835640" cy="56692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14400" y="5239512"/>
            <a:ext cx="10241280" cy="29260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250" b="1" i="0">
                <a:solidFill>
                  <a:srgbClr val="161B26"/>
                </a:solidFill>
                <a:latin typeface="Arial"/>
              </a:rPr>
              <a:t>Ask: what user outcome changes, and what evidence would prove it?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0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098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10988A"/>
                </a:solidFill>
                <a:latin typeface="Arial"/>
              </a:rPr>
              <a:t>MODULE 3 · HANDS-ON ACTIVITY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21792"/>
            <a:ext cx="10835640" cy="6583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 i="0">
                <a:solidFill>
                  <a:srgbClr val="161B26"/>
                </a:solidFill>
                <a:latin typeface="Arial"/>
              </a:rPr>
              <a:t>Lab 5 · Reusable Components and States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6419088"/>
            <a:ext cx="4663440" cy="2194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 i="0">
                <a:solidFill>
                  <a:srgbClr val="5B6372"/>
                </a:solidFill>
                <a:latin typeface="Arial"/>
              </a:rPr>
              <a:t>Claude Design for UX/UI · C744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89120" y="6419088"/>
            <a:ext cx="3657600" cy="2194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0" i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44200" y="6419088"/>
            <a:ext cx="731520" cy="2194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 i="0">
                <a:solidFill>
                  <a:srgbClr val="5B6372"/>
                </a:solidFill>
                <a:latin typeface="Arial"/>
              </a:rPr>
              <a:t>103</a:t>
            </a:r>
          </a:p>
        </p:txBody>
      </p:sp>
      <p:sp>
        <p:nvSpPr>
          <p:cNvPr id="10" name="Rectangle 9"/>
          <p:cNvSpPr/>
          <p:nvPr/>
        </p:nvSpPr>
        <p:spPr>
          <a:xfrm>
            <a:off x="9692640" y="310896"/>
            <a:ext cx="1508760" cy="310896"/>
          </a:xfrm>
          <a:prstGeom prst="rect">
            <a:avLst/>
          </a:prstGeom>
          <a:solidFill>
            <a:srgbClr val="1098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92640" y="310896"/>
            <a:ext cx="1508760" cy="31089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 i="0">
                <a:solidFill>
                  <a:srgbClr val="FFFFFF"/>
                </a:solidFill>
                <a:latin typeface="Arial"/>
              </a:rPr>
              <a:t>25 MIN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49808" y="1755648"/>
            <a:ext cx="10378440" cy="80467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0" i="0">
                <a:solidFill>
                  <a:srgbClr val="161B26"/>
                </a:solidFill>
                <a:latin typeface="Arial"/>
              </a:rPr>
              <a:t>Turn the selected wireframe into a component system with accessible buttons, fields, cards and navigation.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49808" y="2770632"/>
            <a:ext cx="10725912" cy="138988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05840" y="2971800"/>
            <a:ext cx="2011680" cy="2560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 i="0">
                <a:solidFill>
                  <a:srgbClr val="10988A"/>
                </a:solidFill>
                <a:latin typeface="Arial"/>
              </a:rPr>
              <a:t>YOU WILL PRODUCE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05840" y="3401568"/>
            <a:ext cx="10012680" cy="47548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 i="0">
                <a:solidFill>
                  <a:srgbClr val="161B26"/>
                </a:solidFill>
                <a:latin typeface="Arial"/>
              </a:rPr>
              <a:t>component sheet and coded reference with default, focus, loading, disabled and error states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49808" y="4443984"/>
            <a:ext cx="10725912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05840" y="4626864"/>
            <a:ext cx="10012680" cy="31089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5B6372"/>
                </a:solidFill>
                <a:latin typeface="Arial"/>
              </a:rPr>
              <a:t>Tools: Claude Design · HTML · CSS · JavaScript · Full detailed procedure: Learner Guide and labs/lab-05-*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49808" y="5340096"/>
            <a:ext cx="2834640" cy="329184"/>
          </a:xfrm>
          <a:prstGeom prst="rect">
            <a:avLst/>
          </a:prstGeom>
          <a:solidFill>
            <a:srgbClr val="724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49808" y="5340096"/>
            <a:ext cx="2834640" cy="32918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1" i="0">
                <a:solidFill>
                  <a:srgbClr val="FFFFFF"/>
                </a:solidFill>
                <a:latin typeface="Arial"/>
              </a:rPr>
              <a:t>LO2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0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098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10988A"/>
                </a:solidFill>
                <a:latin typeface="Arial"/>
              </a:rPr>
              <a:t>MODULE 3 · CONCEPTUAL WORKFLOW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21792"/>
            <a:ext cx="10835640" cy="6583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 i="0">
                <a:solidFill>
                  <a:srgbClr val="161B26"/>
                </a:solidFill>
                <a:latin typeface="Arial"/>
              </a:rPr>
              <a:t>Lab 5 · Workflow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6419088"/>
            <a:ext cx="4663440" cy="2194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 i="0">
                <a:solidFill>
                  <a:srgbClr val="5B6372"/>
                </a:solidFill>
                <a:latin typeface="Arial"/>
              </a:rPr>
              <a:t>Claude Design for UX/UI · C744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89120" y="6419088"/>
            <a:ext cx="3657600" cy="2194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0" i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44200" y="6419088"/>
            <a:ext cx="731520" cy="2194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 i="0">
                <a:solidFill>
                  <a:srgbClr val="5B6372"/>
                </a:solidFill>
                <a:latin typeface="Arial"/>
              </a:rPr>
              <a:t>104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49808" y="1938528"/>
            <a:ext cx="1925726" cy="2423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49808" y="1938528"/>
            <a:ext cx="1925726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392631" y="2240280"/>
            <a:ext cx="640080" cy="64008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392631" y="2240280"/>
            <a:ext cx="640080" cy="6400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300" b="1" i="0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86968" y="3017520"/>
            <a:ext cx="1651406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 i="0">
                <a:solidFill>
                  <a:srgbClr val="1F6FEB"/>
                </a:solidFill>
                <a:latin typeface="Arial"/>
              </a:rPr>
              <a:t>Define anatomy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96112" y="3474720"/>
            <a:ext cx="1633118" cy="6126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0" i="0">
                <a:solidFill>
                  <a:srgbClr val="5B6372"/>
                </a:solidFill>
                <a:latin typeface="Arial"/>
              </a:rPr>
              <a:t>High-level stage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2675534" y="3150108"/>
            <a:ext cx="274320" cy="0"/>
          </a:xfrm>
          <a:prstGeom prst="line">
            <a:avLst/>
          </a:prstGeom>
          <a:ln w="25400">
            <a:solidFill>
              <a:srgbClr val="10988A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2949854" y="1938528"/>
            <a:ext cx="1925726" cy="2423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2949854" y="1938528"/>
            <a:ext cx="1925726" cy="91440"/>
          </a:xfrm>
          <a:prstGeom prst="rect">
            <a:avLst/>
          </a:prstGeom>
          <a:solidFill>
            <a:srgbClr val="724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3592677" y="2240280"/>
            <a:ext cx="640080" cy="640080"/>
          </a:xfrm>
          <a:prstGeom prst="ellipse">
            <a:avLst/>
          </a:prstGeom>
          <a:solidFill>
            <a:srgbClr val="724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592677" y="2240280"/>
            <a:ext cx="640080" cy="6400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300" b="1" i="0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087014" y="3017520"/>
            <a:ext cx="1651406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 i="0">
                <a:solidFill>
                  <a:srgbClr val="724CD6"/>
                </a:solidFill>
                <a:latin typeface="Arial"/>
              </a:rPr>
              <a:t>Create variants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096158" y="3474720"/>
            <a:ext cx="1633118" cy="6126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0" i="0">
                <a:solidFill>
                  <a:srgbClr val="5B6372"/>
                </a:solidFill>
                <a:latin typeface="Arial"/>
              </a:rPr>
              <a:t>High-level stage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4875580" y="3150108"/>
            <a:ext cx="274320" cy="0"/>
          </a:xfrm>
          <a:prstGeom prst="line">
            <a:avLst/>
          </a:prstGeom>
          <a:ln w="25400">
            <a:solidFill>
              <a:srgbClr val="10988A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23"/>
          <p:cNvSpPr/>
          <p:nvPr/>
        </p:nvSpPr>
        <p:spPr>
          <a:xfrm>
            <a:off x="5149900" y="1938528"/>
            <a:ext cx="1925726" cy="2423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5149900" y="1938528"/>
            <a:ext cx="1925726" cy="91440"/>
          </a:xfrm>
          <a:prstGeom prst="rect">
            <a:avLst/>
          </a:prstGeom>
          <a:solidFill>
            <a:srgbClr val="1098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5792724" y="2240280"/>
            <a:ext cx="640080" cy="640080"/>
          </a:xfrm>
          <a:prstGeom prst="ellipse">
            <a:avLst/>
          </a:prstGeom>
          <a:solidFill>
            <a:srgbClr val="1098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792724" y="2240280"/>
            <a:ext cx="640080" cy="6400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300" b="1" i="0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287060" y="3017520"/>
            <a:ext cx="1651406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 i="0">
                <a:solidFill>
                  <a:srgbClr val="10988A"/>
                </a:solidFill>
                <a:latin typeface="Arial"/>
              </a:rPr>
              <a:t>Add states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296204" y="3474720"/>
            <a:ext cx="1633118" cy="6126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0" i="0">
                <a:solidFill>
                  <a:srgbClr val="5B6372"/>
                </a:solidFill>
                <a:latin typeface="Arial"/>
              </a:rPr>
              <a:t>High-level stage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7075627" y="3150108"/>
            <a:ext cx="274320" cy="0"/>
          </a:xfrm>
          <a:prstGeom prst="line">
            <a:avLst/>
          </a:prstGeom>
          <a:ln w="25400">
            <a:solidFill>
              <a:srgbClr val="10988A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Rounded Rectangle 30"/>
          <p:cNvSpPr/>
          <p:nvPr/>
        </p:nvSpPr>
        <p:spPr>
          <a:xfrm>
            <a:off x="7349947" y="1938528"/>
            <a:ext cx="1925726" cy="2423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7349947" y="1938528"/>
            <a:ext cx="1925726" cy="91440"/>
          </a:xfrm>
          <a:prstGeom prst="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7992770" y="2240280"/>
            <a:ext cx="640080" cy="640080"/>
          </a:xfrm>
          <a:prstGeom prst="ellipse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992770" y="2240280"/>
            <a:ext cx="640080" cy="6400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300" b="1" i="0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487107" y="3017520"/>
            <a:ext cx="1651406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 i="0">
                <a:solidFill>
                  <a:srgbClr val="16845B"/>
                </a:solidFill>
                <a:latin typeface="Arial"/>
              </a:rPr>
              <a:t>Check tokens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496251" y="3474720"/>
            <a:ext cx="1633118" cy="6126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0" i="0">
                <a:solidFill>
                  <a:srgbClr val="5B6372"/>
                </a:solidFill>
                <a:latin typeface="Arial"/>
              </a:rPr>
              <a:t>High-level stage</a:t>
            </a:r>
          </a:p>
        </p:txBody>
      </p:sp>
      <p:cxnSp>
        <p:nvCxnSpPr>
          <p:cNvPr id="37" name="Connector 36"/>
          <p:cNvCxnSpPr/>
          <p:nvPr/>
        </p:nvCxnSpPr>
        <p:spPr>
          <a:xfrm>
            <a:off x="9275673" y="3150108"/>
            <a:ext cx="274320" cy="0"/>
          </a:xfrm>
          <a:prstGeom prst="line">
            <a:avLst/>
          </a:prstGeom>
          <a:ln w="25400">
            <a:solidFill>
              <a:srgbClr val="10988A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Rounded Rectangle 37"/>
          <p:cNvSpPr/>
          <p:nvPr/>
        </p:nvSpPr>
        <p:spPr>
          <a:xfrm>
            <a:off x="9549993" y="1938528"/>
            <a:ext cx="1925726" cy="2423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9549993" y="1938528"/>
            <a:ext cx="1925726" cy="91440"/>
          </a:xfrm>
          <a:prstGeom prst="rect">
            <a:avLst/>
          </a:prstGeom>
          <a:solidFill>
            <a:srgbClr val="C77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10192816" y="2240280"/>
            <a:ext cx="640080" cy="640080"/>
          </a:xfrm>
          <a:prstGeom prst="ellipse">
            <a:avLst/>
          </a:prstGeom>
          <a:solidFill>
            <a:srgbClr val="C77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10192816" y="2240280"/>
            <a:ext cx="640080" cy="6400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300" b="1" i="0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687153" y="3017520"/>
            <a:ext cx="1651406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 i="0">
                <a:solidFill>
                  <a:srgbClr val="C77600"/>
                </a:solidFill>
                <a:latin typeface="Arial"/>
              </a:rPr>
              <a:t>Review accessibility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696297" y="3474720"/>
            <a:ext cx="1633118" cy="6126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0" i="0">
                <a:solidFill>
                  <a:srgbClr val="5B6372"/>
                </a:solidFill>
                <a:latin typeface="Arial"/>
              </a:rPr>
              <a:t>High-level stage</a:t>
            </a:r>
          </a:p>
        </p:txBody>
      </p:sp>
      <p:sp>
        <p:nvSpPr>
          <p:cNvPr id="44" name="Rectangle 43"/>
          <p:cNvSpPr/>
          <p:nvPr/>
        </p:nvSpPr>
        <p:spPr>
          <a:xfrm>
            <a:off x="749808" y="4754880"/>
            <a:ext cx="10725912" cy="80467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960120" y="4919472"/>
            <a:ext cx="182880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 i="0">
                <a:solidFill>
                  <a:srgbClr val="10988A"/>
                </a:solidFill>
                <a:latin typeface="Arial"/>
              </a:rPr>
              <a:t>THE POINT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2331720" y="4855464"/>
            <a:ext cx="8778240" cy="39319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20" b="1" i="0">
                <a:solidFill>
                  <a:srgbClr val="161B26"/>
                </a:solidFill>
                <a:latin typeface="Arial"/>
              </a:rPr>
              <a:t>Detailed click-by-click steps and files are in the Learner Guide and lab folder.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0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16845B"/>
                </a:solidFill>
                <a:latin typeface="Arial"/>
              </a:rPr>
              <a:t>MODULE 3 · VERIFY THE OUTCOME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21792"/>
            <a:ext cx="10835640" cy="6583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 i="0">
                <a:solidFill>
                  <a:srgbClr val="161B26"/>
                </a:solidFill>
                <a:latin typeface="Arial"/>
              </a:rPr>
              <a:t>Lab 5 · Evidence and acceptance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6419088"/>
            <a:ext cx="4663440" cy="2194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 i="0">
                <a:solidFill>
                  <a:srgbClr val="5B6372"/>
                </a:solidFill>
                <a:latin typeface="Arial"/>
              </a:rPr>
              <a:t>Claude Design for UX/UI · C744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89120" y="6419088"/>
            <a:ext cx="3657600" cy="2194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0" i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44200" y="6419088"/>
            <a:ext cx="731520" cy="2194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 i="0">
                <a:solidFill>
                  <a:srgbClr val="5B6372"/>
                </a:solidFill>
                <a:latin typeface="Arial"/>
              </a:rPr>
              <a:t>105</a:t>
            </a:r>
          </a:p>
        </p:txBody>
      </p:sp>
      <p:sp>
        <p:nvSpPr>
          <p:cNvPr id="10" name="Rectangle 9"/>
          <p:cNvSpPr/>
          <p:nvPr/>
        </p:nvSpPr>
        <p:spPr>
          <a:xfrm>
            <a:off x="658368" y="1828800"/>
            <a:ext cx="2487168" cy="2432304"/>
          </a:xfrm>
          <a:prstGeom prst="rect">
            <a:avLst/>
          </a:prstGeom>
          <a:solidFill>
            <a:srgbClr val="E8F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58368" y="1828800"/>
            <a:ext cx="82296" cy="2432304"/>
          </a:xfrm>
          <a:prstGeom prst="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896112" y="2084832"/>
            <a:ext cx="512064" cy="512064"/>
          </a:xfrm>
          <a:prstGeom prst="ellipse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96112" y="2084832"/>
            <a:ext cx="512064" cy="51206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1" i="0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05256" y="2834640"/>
            <a:ext cx="1965960" cy="10515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 i="0">
                <a:solidFill>
                  <a:srgbClr val="161B26"/>
                </a:solidFill>
                <a:latin typeface="Arial"/>
              </a:rPr>
              <a:t>Components use tokens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401568" y="1828800"/>
            <a:ext cx="2487168" cy="2432304"/>
          </a:xfrm>
          <a:prstGeom prst="rect">
            <a:avLst/>
          </a:prstGeom>
          <a:solidFill>
            <a:srgbClr val="E8F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401568" y="1828800"/>
            <a:ext cx="82296" cy="2432304"/>
          </a:xfrm>
          <a:prstGeom prst="rect">
            <a:avLst/>
          </a:prstGeom>
          <a:solidFill>
            <a:srgbClr val="1098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3639312" y="2084832"/>
            <a:ext cx="512064" cy="512064"/>
          </a:xfrm>
          <a:prstGeom prst="ellipse">
            <a:avLst/>
          </a:prstGeom>
          <a:solidFill>
            <a:srgbClr val="1098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639312" y="2084832"/>
            <a:ext cx="512064" cy="51206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1" i="0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48456" y="2834640"/>
            <a:ext cx="1965960" cy="10515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 i="0">
                <a:solidFill>
                  <a:srgbClr val="161B26"/>
                </a:solidFill>
                <a:latin typeface="Arial"/>
              </a:rPr>
              <a:t>Focus is visible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144768" y="1828800"/>
            <a:ext cx="2487168" cy="2432304"/>
          </a:xfrm>
          <a:prstGeom prst="rect">
            <a:avLst/>
          </a:prstGeom>
          <a:solidFill>
            <a:srgbClr val="E8F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144768" y="1828800"/>
            <a:ext cx="82296" cy="243230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6382512" y="2084832"/>
            <a:ext cx="512064" cy="512064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382512" y="2084832"/>
            <a:ext cx="512064" cy="51206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1" i="0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91656" y="2834640"/>
            <a:ext cx="1965960" cy="10515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 i="0">
                <a:solidFill>
                  <a:srgbClr val="161B26"/>
                </a:solidFill>
                <a:latin typeface="Arial"/>
              </a:rPr>
              <a:t>Loading/error states are distinct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887968" y="1828800"/>
            <a:ext cx="2487168" cy="2432304"/>
          </a:xfrm>
          <a:prstGeom prst="rect">
            <a:avLst/>
          </a:prstGeom>
          <a:solidFill>
            <a:srgbClr val="E8F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887968" y="1828800"/>
            <a:ext cx="82296" cy="2432304"/>
          </a:xfrm>
          <a:prstGeom prst="rect">
            <a:avLst/>
          </a:prstGeom>
          <a:solidFill>
            <a:srgbClr val="724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9125712" y="2084832"/>
            <a:ext cx="512064" cy="512064"/>
          </a:xfrm>
          <a:prstGeom prst="ellipse">
            <a:avLst/>
          </a:prstGeom>
          <a:solidFill>
            <a:srgbClr val="724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125712" y="2084832"/>
            <a:ext cx="512064" cy="51206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1" i="0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34856" y="2834640"/>
            <a:ext cx="1965960" cy="10515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 i="0">
                <a:solidFill>
                  <a:srgbClr val="161B26"/>
                </a:solidFill>
                <a:latin typeface="Arial"/>
              </a:rPr>
              <a:t>Reuse does not create drift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58368" y="4617720"/>
            <a:ext cx="10835640" cy="868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32688" y="4800600"/>
            <a:ext cx="10287000" cy="4114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150" b="1" i="0">
                <a:solidFill>
                  <a:srgbClr val="5B6372"/>
                </a:solidFill>
                <a:latin typeface="Arial"/>
              </a:rPr>
              <a:t>Evidence package: index.html, styles.css, states.js, state-matrix.csv, prompt.txt · capture the final Claude Design version link or export.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0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098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10988A"/>
                </a:solidFill>
                <a:latin typeface="Arial"/>
              </a:rPr>
              <a:t>MODULE 3 · HANDS-ON ACTIVITY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21792"/>
            <a:ext cx="10835640" cy="6583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 i="0">
                <a:solidFill>
                  <a:srgbClr val="161B26"/>
                </a:solidFill>
                <a:latin typeface="Arial"/>
              </a:rPr>
              <a:t>Lab 6 · Interactive Responsive Prototype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6419088"/>
            <a:ext cx="4663440" cy="2194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 i="0">
                <a:solidFill>
                  <a:srgbClr val="5B6372"/>
                </a:solidFill>
                <a:latin typeface="Arial"/>
              </a:rPr>
              <a:t>Claude Design for UX/UI · C744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89120" y="6419088"/>
            <a:ext cx="3657600" cy="2194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0" i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44200" y="6419088"/>
            <a:ext cx="731520" cy="2194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 i="0">
                <a:solidFill>
                  <a:srgbClr val="5B6372"/>
                </a:solidFill>
                <a:latin typeface="Arial"/>
              </a:rPr>
              <a:t>106</a:t>
            </a:r>
          </a:p>
        </p:txBody>
      </p:sp>
      <p:sp>
        <p:nvSpPr>
          <p:cNvPr id="10" name="Rectangle 9"/>
          <p:cNvSpPr/>
          <p:nvPr/>
        </p:nvSpPr>
        <p:spPr>
          <a:xfrm>
            <a:off x="9692640" y="310896"/>
            <a:ext cx="1508760" cy="310896"/>
          </a:xfrm>
          <a:prstGeom prst="rect">
            <a:avLst/>
          </a:prstGeom>
          <a:solidFill>
            <a:srgbClr val="1098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92640" y="310896"/>
            <a:ext cx="1508760" cy="31089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 i="0">
                <a:solidFill>
                  <a:srgbClr val="FFFFFF"/>
                </a:solidFill>
                <a:latin typeface="Arial"/>
              </a:rPr>
              <a:t>25 MIN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49808" y="1755648"/>
            <a:ext cx="10378440" cy="80467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0" i="0">
                <a:solidFill>
                  <a:srgbClr val="161B26"/>
                </a:solidFill>
                <a:latin typeface="Arial"/>
              </a:rPr>
              <a:t>Build and connect the high-fidelity wellness flow across desktop and mobile widths.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49808" y="2770632"/>
            <a:ext cx="10725912" cy="138988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05840" y="2971800"/>
            <a:ext cx="2011680" cy="2560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 i="0">
                <a:solidFill>
                  <a:srgbClr val="10988A"/>
                </a:solidFill>
                <a:latin typeface="Arial"/>
              </a:rPr>
              <a:t>YOU WILL PRODUCE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05840" y="3401568"/>
            <a:ext cx="10012680" cy="47548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 i="0">
                <a:solidFill>
                  <a:srgbClr val="161B26"/>
                </a:solidFill>
                <a:latin typeface="Arial"/>
              </a:rPr>
              <a:t>interactive prototype covering booking success, conflict and recovery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49808" y="4443984"/>
            <a:ext cx="10725912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05840" y="4626864"/>
            <a:ext cx="10012680" cy="31089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5B6372"/>
                </a:solidFill>
                <a:latin typeface="Arial"/>
              </a:rPr>
              <a:t>Tools: Claude Design · standalone HTML prototype · Full detailed procedure: Learner Guide and labs/lab-06-*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49808" y="5340096"/>
            <a:ext cx="2834640" cy="329184"/>
          </a:xfrm>
          <a:prstGeom prst="rect">
            <a:avLst/>
          </a:prstGeom>
          <a:solidFill>
            <a:srgbClr val="724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49808" y="5340096"/>
            <a:ext cx="2834640" cy="32918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1" i="0">
                <a:solidFill>
                  <a:srgbClr val="FFFFFF"/>
                </a:solidFill>
                <a:latin typeface="Arial"/>
              </a:rPr>
              <a:t>LO3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0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098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10988A"/>
                </a:solidFill>
                <a:latin typeface="Arial"/>
              </a:rPr>
              <a:t>MODULE 3 · CONCEPTUAL WORKFLOW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21792"/>
            <a:ext cx="10835640" cy="6583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 i="0">
                <a:solidFill>
                  <a:srgbClr val="161B26"/>
                </a:solidFill>
                <a:latin typeface="Arial"/>
              </a:rPr>
              <a:t>Lab 6 · Workflow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6419088"/>
            <a:ext cx="4663440" cy="2194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 i="0">
                <a:solidFill>
                  <a:srgbClr val="5B6372"/>
                </a:solidFill>
                <a:latin typeface="Arial"/>
              </a:rPr>
              <a:t>Claude Design for UX/UI · C744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89120" y="6419088"/>
            <a:ext cx="3657600" cy="2194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0" i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44200" y="6419088"/>
            <a:ext cx="731520" cy="2194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 i="0">
                <a:solidFill>
                  <a:srgbClr val="5B6372"/>
                </a:solidFill>
                <a:latin typeface="Arial"/>
              </a:rPr>
              <a:t>107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49808" y="1938528"/>
            <a:ext cx="1925726" cy="2423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49808" y="1938528"/>
            <a:ext cx="1925726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392631" y="2240280"/>
            <a:ext cx="640080" cy="64008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392631" y="2240280"/>
            <a:ext cx="640080" cy="6400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300" b="1" i="0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86968" y="3017520"/>
            <a:ext cx="1651406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 i="0">
                <a:solidFill>
                  <a:srgbClr val="1F6FEB"/>
                </a:solidFill>
                <a:latin typeface="Arial"/>
              </a:rPr>
              <a:t>Apply system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96112" y="3474720"/>
            <a:ext cx="1633118" cy="6126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0" i="0">
                <a:solidFill>
                  <a:srgbClr val="5B6372"/>
                </a:solidFill>
                <a:latin typeface="Arial"/>
              </a:rPr>
              <a:t>High-level stage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2675534" y="3150108"/>
            <a:ext cx="274320" cy="0"/>
          </a:xfrm>
          <a:prstGeom prst="line">
            <a:avLst/>
          </a:prstGeom>
          <a:ln w="25400">
            <a:solidFill>
              <a:srgbClr val="10988A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2949854" y="1938528"/>
            <a:ext cx="1925726" cy="2423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2949854" y="1938528"/>
            <a:ext cx="1925726" cy="91440"/>
          </a:xfrm>
          <a:prstGeom prst="rect">
            <a:avLst/>
          </a:prstGeom>
          <a:solidFill>
            <a:srgbClr val="724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3592677" y="2240280"/>
            <a:ext cx="640080" cy="640080"/>
          </a:xfrm>
          <a:prstGeom prst="ellipse">
            <a:avLst/>
          </a:prstGeom>
          <a:solidFill>
            <a:srgbClr val="724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592677" y="2240280"/>
            <a:ext cx="640080" cy="6400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300" b="1" i="0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087014" y="3017520"/>
            <a:ext cx="1651406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 i="0">
                <a:solidFill>
                  <a:srgbClr val="724CD6"/>
                </a:solidFill>
                <a:latin typeface="Arial"/>
              </a:rPr>
              <a:t>Connect screens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096158" y="3474720"/>
            <a:ext cx="1633118" cy="6126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0" i="0">
                <a:solidFill>
                  <a:srgbClr val="5B6372"/>
                </a:solidFill>
                <a:latin typeface="Arial"/>
              </a:rPr>
              <a:t>High-level stage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4875580" y="3150108"/>
            <a:ext cx="274320" cy="0"/>
          </a:xfrm>
          <a:prstGeom prst="line">
            <a:avLst/>
          </a:prstGeom>
          <a:ln w="25400">
            <a:solidFill>
              <a:srgbClr val="10988A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23"/>
          <p:cNvSpPr/>
          <p:nvPr/>
        </p:nvSpPr>
        <p:spPr>
          <a:xfrm>
            <a:off x="5149900" y="1938528"/>
            <a:ext cx="1925726" cy="2423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5149900" y="1938528"/>
            <a:ext cx="1925726" cy="91440"/>
          </a:xfrm>
          <a:prstGeom prst="rect">
            <a:avLst/>
          </a:prstGeom>
          <a:solidFill>
            <a:srgbClr val="1098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5792724" y="2240280"/>
            <a:ext cx="640080" cy="640080"/>
          </a:xfrm>
          <a:prstGeom prst="ellipse">
            <a:avLst/>
          </a:prstGeom>
          <a:solidFill>
            <a:srgbClr val="1098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792724" y="2240280"/>
            <a:ext cx="640080" cy="6400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300" b="1" i="0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287060" y="3017520"/>
            <a:ext cx="1651406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 i="0">
                <a:solidFill>
                  <a:srgbClr val="10988A"/>
                </a:solidFill>
                <a:latin typeface="Arial"/>
              </a:rPr>
              <a:t>Model conflict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296204" y="3474720"/>
            <a:ext cx="1633118" cy="6126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0" i="0">
                <a:solidFill>
                  <a:srgbClr val="5B6372"/>
                </a:solidFill>
                <a:latin typeface="Arial"/>
              </a:rPr>
              <a:t>High-level stage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7075627" y="3150108"/>
            <a:ext cx="274320" cy="0"/>
          </a:xfrm>
          <a:prstGeom prst="line">
            <a:avLst/>
          </a:prstGeom>
          <a:ln w="25400">
            <a:solidFill>
              <a:srgbClr val="10988A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Rounded Rectangle 30"/>
          <p:cNvSpPr/>
          <p:nvPr/>
        </p:nvSpPr>
        <p:spPr>
          <a:xfrm>
            <a:off x="7349947" y="1938528"/>
            <a:ext cx="1925726" cy="2423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7349947" y="1938528"/>
            <a:ext cx="1925726" cy="91440"/>
          </a:xfrm>
          <a:prstGeom prst="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7992770" y="2240280"/>
            <a:ext cx="640080" cy="640080"/>
          </a:xfrm>
          <a:prstGeom prst="ellipse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992770" y="2240280"/>
            <a:ext cx="640080" cy="6400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300" b="1" i="0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487107" y="3017520"/>
            <a:ext cx="1651406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 i="0">
                <a:solidFill>
                  <a:srgbClr val="16845B"/>
                </a:solidFill>
                <a:latin typeface="Arial"/>
              </a:rPr>
              <a:t>Adapt breakpoints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496251" y="3474720"/>
            <a:ext cx="1633118" cy="6126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0" i="0">
                <a:solidFill>
                  <a:srgbClr val="5B6372"/>
                </a:solidFill>
                <a:latin typeface="Arial"/>
              </a:rPr>
              <a:t>High-level stage</a:t>
            </a:r>
          </a:p>
        </p:txBody>
      </p:sp>
      <p:cxnSp>
        <p:nvCxnSpPr>
          <p:cNvPr id="37" name="Connector 36"/>
          <p:cNvCxnSpPr/>
          <p:nvPr/>
        </p:nvCxnSpPr>
        <p:spPr>
          <a:xfrm>
            <a:off x="9275673" y="3150108"/>
            <a:ext cx="274320" cy="0"/>
          </a:xfrm>
          <a:prstGeom prst="line">
            <a:avLst/>
          </a:prstGeom>
          <a:ln w="25400">
            <a:solidFill>
              <a:srgbClr val="10988A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Rounded Rectangle 37"/>
          <p:cNvSpPr/>
          <p:nvPr/>
        </p:nvSpPr>
        <p:spPr>
          <a:xfrm>
            <a:off x="9549993" y="1938528"/>
            <a:ext cx="1925726" cy="2423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9549993" y="1938528"/>
            <a:ext cx="1925726" cy="91440"/>
          </a:xfrm>
          <a:prstGeom prst="rect">
            <a:avLst/>
          </a:prstGeom>
          <a:solidFill>
            <a:srgbClr val="C77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10192816" y="2240280"/>
            <a:ext cx="640080" cy="640080"/>
          </a:xfrm>
          <a:prstGeom prst="ellipse">
            <a:avLst/>
          </a:prstGeom>
          <a:solidFill>
            <a:srgbClr val="C77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10192816" y="2240280"/>
            <a:ext cx="640080" cy="6400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300" b="1" i="0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687153" y="3017520"/>
            <a:ext cx="1651406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 i="0">
                <a:solidFill>
                  <a:srgbClr val="C77600"/>
                </a:solidFill>
                <a:latin typeface="Arial"/>
              </a:rPr>
              <a:t>Preview task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696297" y="3474720"/>
            <a:ext cx="1633118" cy="6126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0" i="0">
                <a:solidFill>
                  <a:srgbClr val="5B6372"/>
                </a:solidFill>
                <a:latin typeface="Arial"/>
              </a:rPr>
              <a:t>High-level stage</a:t>
            </a:r>
          </a:p>
        </p:txBody>
      </p:sp>
      <p:sp>
        <p:nvSpPr>
          <p:cNvPr id="44" name="Rectangle 43"/>
          <p:cNvSpPr/>
          <p:nvPr/>
        </p:nvSpPr>
        <p:spPr>
          <a:xfrm>
            <a:off x="749808" y="4754880"/>
            <a:ext cx="10725912" cy="80467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960120" y="4919472"/>
            <a:ext cx="182880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 i="0">
                <a:solidFill>
                  <a:srgbClr val="10988A"/>
                </a:solidFill>
                <a:latin typeface="Arial"/>
              </a:rPr>
              <a:t>THE POINT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2331720" y="4855464"/>
            <a:ext cx="8778240" cy="39319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20" b="1" i="0">
                <a:solidFill>
                  <a:srgbClr val="161B26"/>
                </a:solidFill>
                <a:latin typeface="Arial"/>
              </a:rPr>
              <a:t>Detailed click-by-click steps and files are in the Learner Guide and lab folder.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0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16845B"/>
                </a:solidFill>
                <a:latin typeface="Arial"/>
              </a:rPr>
              <a:t>MODULE 3 · VERIFY THE OUTCOME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21792"/>
            <a:ext cx="10835640" cy="6583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 i="0">
                <a:solidFill>
                  <a:srgbClr val="161B26"/>
                </a:solidFill>
                <a:latin typeface="Arial"/>
              </a:rPr>
              <a:t>Lab 6 · Evidence and acceptance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6419088"/>
            <a:ext cx="4663440" cy="2194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 i="0">
                <a:solidFill>
                  <a:srgbClr val="5B6372"/>
                </a:solidFill>
                <a:latin typeface="Arial"/>
              </a:rPr>
              <a:t>Claude Design for UX/UI · C744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89120" y="6419088"/>
            <a:ext cx="3657600" cy="2194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0" i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44200" y="6419088"/>
            <a:ext cx="731520" cy="2194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 i="0">
                <a:solidFill>
                  <a:srgbClr val="5B6372"/>
                </a:solidFill>
                <a:latin typeface="Arial"/>
              </a:rPr>
              <a:t>108</a:t>
            </a:r>
          </a:p>
        </p:txBody>
      </p:sp>
      <p:sp>
        <p:nvSpPr>
          <p:cNvPr id="10" name="Rectangle 9"/>
          <p:cNvSpPr/>
          <p:nvPr/>
        </p:nvSpPr>
        <p:spPr>
          <a:xfrm>
            <a:off x="658368" y="1828800"/>
            <a:ext cx="2487168" cy="2432304"/>
          </a:xfrm>
          <a:prstGeom prst="rect">
            <a:avLst/>
          </a:prstGeom>
          <a:solidFill>
            <a:srgbClr val="E8F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58368" y="1828800"/>
            <a:ext cx="82296" cy="2432304"/>
          </a:xfrm>
          <a:prstGeom prst="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896112" y="2084832"/>
            <a:ext cx="512064" cy="512064"/>
          </a:xfrm>
          <a:prstGeom prst="ellipse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96112" y="2084832"/>
            <a:ext cx="512064" cy="51206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1" i="0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05256" y="2834640"/>
            <a:ext cx="1965960" cy="10515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 i="0">
                <a:solidFill>
                  <a:srgbClr val="161B26"/>
                </a:solidFill>
                <a:latin typeface="Arial"/>
              </a:rPr>
              <a:t>Primary task is complete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401568" y="1828800"/>
            <a:ext cx="2487168" cy="2432304"/>
          </a:xfrm>
          <a:prstGeom prst="rect">
            <a:avLst/>
          </a:prstGeom>
          <a:solidFill>
            <a:srgbClr val="E8F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401568" y="1828800"/>
            <a:ext cx="82296" cy="2432304"/>
          </a:xfrm>
          <a:prstGeom prst="rect">
            <a:avLst/>
          </a:prstGeom>
          <a:solidFill>
            <a:srgbClr val="1098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3639312" y="2084832"/>
            <a:ext cx="512064" cy="512064"/>
          </a:xfrm>
          <a:prstGeom prst="ellipse">
            <a:avLst/>
          </a:prstGeom>
          <a:solidFill>
            <a:srgbClr val="1098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639312" y="2084832"/>
            <a:ext cx="512064" cy="51206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1" i="0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48456" y="2834640"/>
            <a:ext cx="1965960" cy="10515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 i="0">
                <a:solidFill>
                  <a:srgbClr val="161B26"/>
                </a:solidFill>
                <a:latin typeface="Arial"/>
              </a:rPr>
              <a:t>Conflict state preserves progress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144768" y="1828800"/>
            <a:ext cx="2487168" cy="2432304"/>
          </a:xfrm>
          <a:prstGeom prst="rect">
            <a:avLst/>
          </a:prstGeom>
          <a:solidFill>
            <a:srgbClr val="E8F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144768" y="1828800"/>
            <a:ext cx="82296" cy="243230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6382512" y="2084832"/>
            <a:ext cx="512064" cy="512064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382512" y="2084832"/>
            <a:ext cx="512064" cy="51206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1" i="0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91656" y="2834640"/>
            <a:ext cx="1965960" cy="10515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 i="0">
                <a:solidFill>
                  <a:srgbClr val="161B26"/>
                </a:solidFill>
                <a:latin typeface="Arial"/>
              </a:rPr>
              <a:t>Mobile layout adapts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887968" y="1828800"/>
            <a:ext cx="2487168" cy="2432304"/>
          </a:xfrm>
          <a:prstGeom prst="rect">
            <a:avLst/>
          </a:prstGeom>
          <a:solidFill>
            <a:srgbClr val="E8F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887968" y="1828800"/>
            <a:ext cx="82296" cy="2432304"/>
          </a:xfrm>
          <a:prstGeom prst="rect">
            <a:avLst/>
          </a:prstGeom>
          <a:solidFill>
            <a:srgbClr val="724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9125712" y="2084832"/>
            <a:ext cx="512064" cy="512064"/>
          </a:xfrm>
          <a:prstGeom prst="ellipse">
            <a:avLst/>
          </a:prstGeom>
          <a:solidFill>
            <a:srgbClr val="724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125712" y="2084832"/>
            <a:ext cx="512064" cy="51206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1" i="0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34856" y="2834640"/>
            <a:ext cx="1965960" cy="10515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 i="0">
                <a:solidFill>
                  <a:srgbClr val="161B26"/>
                </a:solidFill>
                <a:latin typeface="Arial"/>
              </a:rPr>
              <a:t>All actions provide feedback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58368" y="4617720"/>
            <a:ext cx="10835640" cy="868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32688" y="4800600"/>
            <a:ext cx="10287000" cy="4114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150" b="1" i="0">
                <a:solidFill>
                  <a:srgbClr val="5B6372"/>
                </a:solidFill>
                <a:latin typeface="Arial"/>
              </a:rPr>
              <a:t>Evidence package: index.html, styles.css, app.js, prototype-test.md, prompt.txt · capture the final Claude Design version link or export.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0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098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10988A"/>
                </a:solidFill>
                <a:latin typeface="Arial"/>
              </a:rPr>
              <a:t>MODULE 3 · NATIVE CHART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21792"/>
            <a:ext cx="10835640" cy="6583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 i="0">
                <a:solidFill>
                  <a:srgbClr val="161B26"/>
                </a:solidFill>
                <a:latin typeface="Arial"/>
              </a:rPr>
              <a:t>Find expensive defects earlier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6419088"/>
            <a:ext cx="4663440" cy="2194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 i="0">
                <a:solidFill>
                  <a:srgbClr val="5B6372"/>
                </a:solidFill>
                <a:latin typeface="Arial"/>
              </a:rPr>
              <a:t>Claude Design for UX/UI · C744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89120" y="6419088"/>
            <a:ext cx="3657600" cy="2194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0" i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26679" y="6419088"/>
            <a:ext cx="2834640" cy="2194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730" b="0" i="1">
                <a:solidFill>
                  <a:srgbClr val="949DA9"/>
                </a:solidFill>
                <a:latin typeface="Arial"/>
              </a:rPr>
              <a:t>Indicative teaching data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44200" y="6419088"/>
            <a:ext cx="731520" cy="2194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 i="0">
                <a:solidFill>
                  <a:srgbClr val="5B6372"/>
                </a:solidFill>
                <a:latin typeface="Arial"/>
              </a:rPr>
              <a:t>109</a:t>
            </a:r>
          </a:p>
        </p:txBody>
      </p:sp>
      <p:graphicFrame>
        <p:nvGraphicFramePr>
          <p:cNvPr id="11" name="Chart 10"/>
          <p:cNvGraphicFramePr>
            <a:graphicFrameLocks noGrp="1"/>
          </p:cNvGraphicFramePr>
          <p:nvPr/>
        </p:nvGraphicFramePr>
        <p:xfrm>
          <a:off x="868680" y="1737360"/>
          <a:ext cx="6629400" cy="37033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2" name="Rectangle 11"/>
          <p:cNvSpPr/>
          <p:nvPr/>
        </p:nvSpPr>
        <p:spPr>
          <a:xfrm>
            <a:off x="7818120" y="1755648"/>
            <a:ext cx="3657600" cy="368503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818120" y="1755648"/>
            <a:ext cx="91440" cy="3685032"/>
          </a:xfrm>
          <a:prstGeom prst="rect">
            <a:avLst/>
          </a:prstGeom>
          <a:solidFill>
            <a:srgbClr val="1098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156448" y="2084831"/>
            <a:ext cx="2880360" cy="31089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 i="0">
                <a:solidFill>
                  <a:srgbClr val="10988A"/>
                </a:solidFill>
                <a:latin typeface="Arial"/>
              </a:rPr>
              <a:t>WHAT THE DATA SHOWS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56448" y="2670048"/>
            <a:ext cx="2880360" cy="16002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 i="0">
                <a:solidFill>
                  <a:srgbClr val="161B26"/>
                </a:solidFill>
                <a:latin typeface="Arial"/>
              </a:rPr>
              <a:t>Indicative teaching ratio: validation cost rises when flow and state defects survive into build.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156448" y="4617720"/>
            <a:ext cx="2880360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 i="0">
                <a:solidFill>
                  <a:srgbClr val="5B6372"/>
                </a:solidFill>
                <a:latin typeface="Arial"/>
              </a:rPr>
              <a:t>Use charts to support a decision—not as decoration.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098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10988A"/>
                </a:solidFill>
                <a:latin typeface="Arial"/>
              </a:rPr>
              <a:t>MODULE 3 · RETRIEVE AND APPLY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21792"/>
            <a:ext cx="10835640" cy="6583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 i="0">
                <a:solidFill>
                  <a:srgbClr val="161B26"/>
                </a:solidFill>
                <a:latin typeface="Arial"/>
              </a:rPr>
              <a:t>Module 3 · Decision recap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6419088"/>
            <a:ext cx="4663440" cy="2194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 i="0">
                <a:solidFill>
                  <a:srgbClr val="5B6372"/>
                </a:solidFill>
                <a:latin typeface="Arial"/>
              </a:rPr>
              <a:t>Claude Design for UX/UI · C744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89120" y="6419088"/>
            <a:ext cx="3657600" cy="2194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0" i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44200" y="6419088"/>
            <a:ext cx="731520" cy="2194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 i="0">
                <a:solidFill>
                  <a:srgbClr val="5B6372"/>
                </a:solidFill>
                <a:latin typeface="Arial"/>
              </a:rPr>
              <a:t>110</a:t>
            </a:r>
          </a:p>
        </p:txBody>
      </p:sp>
      <p:sp>
        <p:nvSpPr>
          <p:cNvPr id="10" name="Rectangle 9"/>
          <p:cNvSpPr/>
          <p:nvPr/>
        </p:nvSpPr>
        <p:spPr>
          <a:xfrm>
            <a:off x="658368" y="1691640"/>
            <a:ext cx="2487168" cy="233172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58368" y="1691640"/>
            <a:ext cx="82296" cy="23317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877824" y="1874520"/>
            <a:ext cx="420624" cy="420624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77824" y="1874520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08176" y="1819656"/>
            <a:ext cx="1508760" cy="43891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320" b="1" i="0">
                <a:solidFill>
                  <a:srgbClr val="161B26"/>
                </a:solidFill>
                <a:latin typeface="Arial"/>
              </a:rPr>
              <a:t>Component anatomy define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2386584"/>
            <a:ext cx="1965960" cy="133502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070" b="0" i="0">
                <a:solidFill>
                  <a:srgbClr val="5B6372"/>
                </a:solidFill>
                <a:latin typeface="Arial"/>
              </a:rPr>
              <a:t>Reusable does not mean infinitely configurable.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14400" y="3703320"/>
            <a:ext cx="1078992" cy="25603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4400" y="3703320"/>
            <a:ext cx="1078992" cy="25603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1" i="0">
                <a:solidFill>
                  <a:srgbClr val="FFFFFF"/>
                </a:solidFill>
                <a:latin typeface="Arial"/>
              </a:rPr>
              <a:t>DESIGN LENS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401568" y="1691640"/>
            <a:ext cx="2487168" cy="233172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3401568" y="1691640"/>
            <a:ext cx="82296" cy="2331720"/>
          </a:xfrm>
          <a:prstGeom prst="rect">
            <a:avLst/>
          </a:prstGeom>
          <a:solidFill>
            <a:srgbClr val="724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3621024" y="1874520"/>
            <a:ext cx="420624" cy="420624"/>
          </a:xfrm>
          <a:prstGeom prst="ellipse">
            <a:avLst/>
          </a:prstGeom>
          <a:solidFill>
            <a:srgbClr val="724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621024" y="1874520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151376" y="1819656"/>
            <a:ext cx="1508760" cy="43891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320" b="1" i="0">
                <a:solidFill>
                  <a:srgbClr val="161B26"/>
                </a:solidFill>
                <a:latin typeface="Arial"/>
              </a:rPr>
              <a:t>States are part of the c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657600" y="2386584"/>
            <a:ext cx="1965960" cy="133502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070" b="0" i="0">
                <a:solidFill>
                  <a:srgbClr val="5B6372"/>
                </a:solidFill>
                <a:latin typeface="Arial"/>
              </a:rPr>
              <a:t>A component without states is an illustration, not an interaction.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657600" y="3703320"/>
            <a:ext cx="1078992" cy="256032"/>
          </a:xfrm>
          <a:prstGeom prst="rect">
            <a:avLst/>
          </a:prstGeom>
          <a:solidFill>
            <a:srgbClr val="724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657600" y="3703320"/>
            <a:ext cx="1078992" cy="25603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1" i="0">
                <a:solidFill>
                  <a:srgbClr val="FFFFFF"/>
                </a:solidFill>
                <a:latin typeface="Arial"/>
              </a:rPr>
              <a:t>DESIGN LENS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144768" y="1691640"/>
            <a:ext cx="2487168" cy="233172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144768" y="1691640"/>
            <a:ext cx="82296" cy="2331720"/>
          </a:xfrm>
          <a:prstGeom prst="rect">
            <a:avLst/>
          </a:prstGeom>
          <a:solidFill>
            <a:srgbClr val="1098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6364224" y="1874520"/>
            <a:ext cx="420624" cy="420624"/>
          </a:xfrm>
          <a:prstGeom prst="ellipse">
            <a:avLst/>
          </a:prstGeom>
          <a:solidFill>
            <a:srgbClr val="1098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364224" y="1874520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894576" y="1819656"/>
            <a:ext cx="1508760" cy="43891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320" b="1" i="0">
                <a:solidFill>
                  <a:srgbClr val="161B26"/>
                </a:solidFill>
                <a:latin typeface="Arial"/>
              </a:rPr>
              <a:t>Interaction design makes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00800" y="2386584"/>
            <a:ext cx="1965960" cy="133502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070" b="0" i="0">
                <a:solidFill>
                  <a:srgbClr val="5B6372"/>
                </a:solidFill>
                <a:latin typeface="Arial"/>
              </a:rPr>
              <a:t>Every interaction needs a comprehensible before, during and after.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400800" y="3703320"/>
            <a:ext cx="1078992" cy="256032"/>
          </a:xfrm>
          <a:prstGeom prst="rect">
            <a:avLst/>
          </a:prstGeom>
          <a:solidFill>
            <a:srgbClr val="1098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400800" y="3703320"/>
            <a:ext cx="1078992" cy="25603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1" i="0">
                <a:solidFill>
                  <a:srgbClr val="FFFFFF"/>
                </a:solidFill>
                <a:latin typeface="Arial"/>
              </a:rPr>
              <a:t>DESIGN LENS</a:t>
            </a:r>
          </a:p>
        </p:txBody>
      </p:sp>
      <p:sp>
        <p:nvSpPr>
          <p:cNvPr id="34" name="Rectangle 33"/>
          <p:cNvSpPr/>
          <p:nvPr/>
        </p:nvSpPr>
        <p:spPr>
          <a:xfrm>
            <a:off x="8887968" y="1691640"/>
            <a:ext cx="2487168" cy="233172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8887968" y="1691640"/>
            <a:ext cx="82296" cy="2331720"/>
          </a:xfrm>
          <a:prstGeom prst="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9107424" y="1874520"/>
            <a:ext cx="420624" cy="420624"/>
          </a:xfrm>
          <a:prstGeom prst="ellipse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107424" y="1874520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637776" y="1819656"/>
            <a:ext cx="1508760" cy="43891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320" b="1" i="0">
                <a:solidFill>
                  <a:srgbClr val="161B26"/>
                </a:solidFill>
                <a:latin typeface="Arial"/>
              </a:rPr>
              <a:t>Navigation should match 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144000" y="2386584"/>
            <a:ext cx="1965960" cy="133502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070" b="0" i="0">
                <a:solidFill>
                  <a:srgbClr val="5B6372"/>
                </a:solidFill>
                <a:latin typeface="Arial"/>
              </a:rPr>
              <a:t>Users should know where they are, what is nearby and how to recover.</a:t>
            </a:r>
          </a:p>
        </p:txBody>
      </p:sp>
      <p:sp>
        <p:nvSpPr>
          <p:cNvPr id="40" name="Rectangle 39"/>
          <p:cNvSpPr/>
          <p:nvPr/>
        </p:nvSpPr>
        <p:spPr>
          <a:xfrm>
            <a:off x="9144000" y="3703320"/>
            <a:ext cx="1078992" cy="256032"/>
          </a:xfrm>
          <a:prstGeom prst="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9144000" y="3703320"/>
            <a:ext cx="1078992" cy="25603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1" i="0">
                <a:solidFill>
                  <a:srgbClr val="FFFFFF"/>
                </a:solidFill>
                <a:latin typeface="Arial"/>
              </a:rPr>
              <a:t>DESIGN LENS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58368" y="4315968"/>
            <a:ext cx="10835640" cy="13258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914400" y="4480560"/>
            <a:ext cx="1828800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 i="0">
                <a:solidFill>
                  <a:srgbClr val="10988A"/>
                </a:solidFill>
                <a:latin typeface="Arial"/>
              </a:rPr>
              <a:t>SYNTHESIS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14400" y="4846320"/>
            <a:ext cx="10195560" cy="56692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 i="0">
                <a:solidFill>
                  <a:srgbClr val="161B26"/>
                </a:solidFill>
                <a:latin typeface="Arial"/>
              </a:rPr>
              <a:t>Reusable does not mean infinitely configurable; users should know where they are, what is nearby and how to recover.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58368" y="1737360"/>
            <a:ext cx="10835640" cy="329184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58368" y="1737360"/>
            <a:ext cx="128016" cy="3291840"/>
          </a:xfrm>
          <a:prstGeom prst="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280160" y="2148840"/>
            <a:ext cx="8229600" cy="34747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 i="0">
                <a:solidFill>
                  <a:srgbClr val="16845B"/>
                </a:solidFill>
                <a:latin typeface="Arial"/>
              </a:rPr>
              <a:t>MODULE 4 · LO4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80160" y="2606040"/>
            <a:ext cx="9098280" cy="8412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3400" b="1" i="0">
                <a:solidFill>
                  <a:srgbClr val="161B26"/>
                </a:solidFill>
                <a:latin typeface="Arial"/>
              </a:rPr>
              <a:t>Documentation, Collaboration and Handoff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80160" y="3703320"/>
            <a:ext cx="8869680" cy="6583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0" i="0">
                <a:solidFill>
                  <a:srgbClr val="5B6372"/>
                </a:solidFill>
                <a:latin typeface="Arial"/>
              </a:rPr>
              <a:t>Keep design intent, decisions and deliverables usable beyond the canvas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46920" y="2103120"/>
            <a:ext cx="1234440" cy="10972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5400" b="1" i="0">
                <a:solidFill>
                  <a:srgbClr val="E2E8F0"/>
                </a:solidFill>
                <a:latin typeface="Arial"/>
              </a:rPr>
              <a:t>04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6419088"/>
            <a:ext cx="4663440" cy="2194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 i="0">
                <a:solidFill>
                  <a:srgbClr val="5B6372"/>
                </a:solidFill>
                <a:latin typeface="Arial"/>
              </a:rPr>
              <a:t>Claude Design for UX/UI · C744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389120" y="6419088"/>
            <a:ext cx="3657600" cy="2194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0" i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744200" y="6419088"/>
            <a:ext cx="731520" cy="2194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 i="0">
                <a:solidFill>
                  <a:srgbClr val="5B6372"/>
                </a:solidFill>
                <a:latin typeface="Arial"/>
              </a:rPr>
              <a:t>111</a:t>
            </a:r>
          </a:p>
        </p:txBody>
      </p:sp>
    </p:spTree>
  </p:cSld>
  <p:clrMapOvr>
    <a:masterClrMapping/>
  </p:clrMapOvr>
  <p:transition spd="med" advClick="1">
    <p:push dir="l"/>
  </p:transition>
</p:sld>
</file>

<file path=ppt/slides/slide1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16845B"/>
                </a:solidFill>
                <a:latin typeface="Arial"/>
              </a:rPr>
              <a:t>MODULE 4 · PRINCIPLE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21792"/>
            <a:ext cx="10835640" cy="6583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 i="0">
                <a:solidFill>
                  <a:srgbClr val="161B26"/>
                </a:solidFill>
                <a:latin typeface="Arial"/>
              </a:rPr>
              <a:t>Collaboration needs permission clarity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6419088"/>
            <a:ext cx="4663440" cy="2194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 i="0">
                <a:solidFill>
                  <a:srgbClr val="5B6372"/>
                </a:solidFill>
                <a:latin typeface="Arial"/>
              </a:rPr>
              <a:t>Claude Design for UX/UI · C744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89120" y="6419088"/>
            <a:ext cx="3657600" cy="2194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0" i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26679" y="6419088"/>
            <a:ext cx="2834640" cy="2194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730" b="0" i="1">
                <a:solidFill>
                  <a:srgbClr val="949DA9"/>
                </a:solidFill>
                <a:latin typeface="Arial"/>
              </a:rPr>
              <a:t>Anthropic Help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44200" y="6419088"/>
            <a:ext cx="731520" cy="2194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 i="0">
                <a:solidFill>
                  <a:srgbClr val="5B6372"/>
                </a:solidFill>
                <a:latin typeface="Arial"/>
              </a:rPr>
              <a:t>112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58368" y="1691640"/>
            <a:ext cx="2487168" cy="233172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58368" y="1691640"/>
            <a:ext cx="82296" cy="23317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877824" y="1874520"/>
            <a:ext cx="420624" cy="420624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77824" y="1874520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08176" y="1819656"/>
            <a:ext cx="1508760" cy="43891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320" b="1" i="0">
                <a:solidFill>
                  <a:srgbClr val="161B26"/>
                </a:solidFill>
                <a:latin typeface="Arial"/>
              </a:rPr>
              <a:t>View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2386584"/>
            <a:ext cx="1965960" cy="133502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070" b="0" i="0">
                <a:solidFill>
                  <a:srgbClr val="5B6372"/>
                </a:solidFill>
                <a:latin typeface="Arial"/>
              </a:rPr>
              <a:t>Stakeholders can inspect the current design without changing it.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14400" y="3703320"/>
            <a:ext cx="1078992" cy="25603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3703320"/>
            <a:ext cx="1078992" cy="25603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1" i="0">
                <a:solidFill>
                  <a:srgbClr val="FFFFFF"/>
                </a:solidFill>
                <a:latin typeface="Arial"/>
              </a:rPr>
              <a:t>DESIGN LENS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401568" y="1691640"/>
            <a:ext cx="2487168" cy="233172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401568" y="1691640"/>
            <a:ext cx="82296" cy="2331720"/>
          </a:xfrm>
          <a:prstGeom prst="rect">
            <a:avLst/>
          </a:prstGeom>
          <a:solidFill>
            <a:srgbClr val="724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3621024" y="1874520"/>
            <a:ext cx="420624" cy="420624"/>
          </a:xfrm>
          <a:prstGeom prst="ellipse">
            <a:avLst/>
          </a:prstGeom>
          <a:solidFill>
            <a:srgbClr val="724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621024" y="1874520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151376" y="1819656"/>
            <a:ext cx="1508760" cy="43891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320" b="1" i="0">
                <a:solidFill>
                  <a:srgbClr val="161B26"/>
                </a:solidFill>
                <a:latin typeface="Arial"/>
              </a:rPr>
              <a:t>Comment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657600" y="2386584"/>
            <a:ext cx="1965960" cy="133502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070" b="0" i="0">
                <a:solidFill>
                  <a:srgbClr val="5B6372"/>
                </a:solidFill>
                <a:latin typeface="Arial"/>
              </a:rPr>
              <a:t>Reviewers discuss decisions in context while authors retain control.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657600" y="3703320"/>
            <a:ext cx="1078992" cy="256032"/>
          </a:xfrm>
          <a:prstGeom prst="rect">
            <a:avLst/>
          </a:prstGeom>
          <a:solidFill>
            <a:srgbClr val="724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657600" y="3703320"/>
            <a:ext cx="1078992" cy="25603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1" i="0">
                <a:solidFill>
                  <a:srgbClr val="FFFFFF"/>
                </a:solidFill>
                <a:latin typeface="Arial"/>
              </a:rPr>
              <a:t>DESIGN LENS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144768" y="1691640"/>
            <a:ext cx="2487168" cy="233172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144768" y="1691640"/>
            <a:ext cx="82296" cy="2331720"/>
          </a:xfrm>
          <a:prstGeom prst="rect">
            <a:avLst/>
          </a:prstGeom>
          <a:solidFill>
            <a:srgbClr val="1098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6364224" y="1874520"/>
            <a:ext cx="420624" cy="420624"/>
          </a:xfrm>
          <a:prstGeom prst="ellipse">
            <a:avLst/>
          </a:prstGeom>
          <a:solidFill>
            <a:srgbClr val="1098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364224" y="1874520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894576" y="1819656"/>
            <a:ext cx="1508760" cy="43891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320" b="1" i="0">
                <a:solidFill>
                  <a:srgbClr val="161B26"/>
                </a:solidFill>
                <a:latin typeface="Arial"/>
              </a:rPr>
              <a:t>Edit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00800" y="2386584"/>
            <a:ext cx="1965960" cy="133502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070" b="0" i="0">
                <a:solidFill>
                  <a:srgbClr val="5B6372"/>
                </a:solidFill>
                <a:latin typeface="Arial"/>
              </a:rPr>
              <a:t>Collaborators can modify the design and should follow ownership rules.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400800" y="3703320"/>
            <a:ext cx="1078992" cy="256032"/>
          </a:xfrm>
          <a:prstGeom prst="rect">
            <a:avLst/>
          </a:prstGeom>
          <a:solidFill>
            <a:srgbClr val="1098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400800" y="3703320"/>
            <a:ext cx="1078992" cy="25603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1" i="0">
                <a:solidFill>
                  <a:srgbClr val="FFFFFF"/>
                </a:solidFill>
                <a:latin typeface="Arial"/>
              </a:rPr>
              <a:t>DESIGN LENS</a:t>
            </a:r>
          </a:p>
        </p:txBody>
      </p:sp>
      <p:sp>
        <p:nvSpPr>
          <p:cNvPr id="35" name="Rectangle 34"/>
          <p:cNvSpPr/>
          <p:nvPr/>
        </p:nvSpPr>
        <p:spPr>
          <a:xfrm>
            <a:off x="8887968" y="1691640"/>
            <a:ext cx="2487168" cy="233172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8887968" y="1691640"/>
            <a:ext cx="82296" cy="2331720"/>
          </a:xfrm>
          <a:prstGeom prst="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9107424" y="1874520"/>
            <a:ext cx="420624" cy="420624"/>
          </a:xfrm>
          <a:prstGeom prst="ellipse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107424" y="1874520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637776" y="1819656"/>
            <a:ext cx="1508760" cy="43891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320" b="1" i="0">
                <a:solidFill>
                  <a:srgbClr val="161B26"/>
                </a:solidFill>
                <a:latin typeface="Arial"/>
              </a:rPr>
              <a:t>Organisation scope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144000" y="2386584"/>
            <a:ext cx="1965960" cy="133502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070" b="0" i="0">
                <a:solidFill>
                  <a:srgbClr val="5B6372"/>
                </a:solidFill>
                <a:latin typeface="Arial"/>
              </a:rPr>
              <a:t>Sharing remains aligned with workplace access boundaries.</a:t>
            </a:r>
          </a:p>
        </p:txBody>
      </p:sp>
      <p:sp>
        <p:nvSpPr>
          <p:cNvPr id="41" name="Rectangle 40"/>
          <p:cNvSpPr/>
          <p:nvPr/>
        </p:nvSpPr>
        <p:spPr>
          <a:xfrm>
            <a:off x="9144000" y="3703320"/>
            <a:ext cx="1078992" cy="256032"/>
          </a:xfrm>
          <a:prstGeom prst="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9144000" y="3703320"/>
            <a:ext cx="1078992" cy="25603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1" i="0">
                <a:solidFill>
                  <a:srgbClr val="FFFFFF"/>
                </a:solidFill>
                <a:latin typeface="Arial"/>
              </a:rPr>
              <a:t>DESIGN LENS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58368" y="4315968"/>
            <a:ext cx="10835640" cy="13258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914400" y="4480560"/>
            <a:ext cx="1828800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 i="0">
                <a:solidFill>
                  <a:srgbClr val="16845B"/>
                </a:solidFill>
                <a:latin typeface="Arial"/>
              </a:rPr>
              <a:t>SYNTHESIS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14400" y="4846320"/>
            <a:ext cx="10195560" cy="56692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 i="0">
                <a:solidFill>
                  <a:srgbClr val="161B26"/>
                </a:solidFill>
                <a:latin typeface="Arial"/>
              </a:rPr>
              <a:t>Stakeholders can inspect the current design without changing it; sharing remains aligned with workplace access boundaries.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16845B"/>
                </a:solidFill>
                <a:latin typeface="Arial"/>
              </a:rPr>
              <a:t>MODULE 4 · CASE LENS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21792"/>
            <a:ext cx="10835640" cy="6583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500" b="1" i="0">
                <a:solidFill>
                  <a:srgbClr val="161B26"/>
                </a:solidFill>
                <a:latin typeface="Arial"/>
              </a:rPr>
              <a:t>Collaboration needs permission clarity — applied judgement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6419088"/>
            <a:ext cx="4663440" cy="2194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 i="0">
                <a:solidFill>
                  <a:srgbClr val="5B6372"/>
                </a:solidFill>
                <a:latin typeface="Arial"/>
              </a:rPr>
              <a:t>Claude Design for UX/UI · C744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89120" y="6419088"/>
            <a:ext cx="3657600" cy="2194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0" i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26679" y="6419088"/>
            <a:ext cx="2834640" cy="2194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730" b="0" i="1">
                <a:solidFill>
                  <a:srgbClr val="949DA9"/>
                </a:solidFill>
                <a:latin typeface="Arial"/>
              </a:rPr>
              <a:t>Anthropic Help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44200" y="6419088"/>
            <a:ext cx="731520" cy="2194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 i="0">
                <a:solidFill>
                  <a:srgbClr val="5B6372"/>
                </a:solidFill>
                <a:latin typeface="Arial"/>
              </a:rPr>
              <a:t>113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58368" y="1755648"/>
            <a:ext cx="3392424" cy="3127248"/>
          </a:xfrm>
          <a:prstGeom prst="rect">
            <a:avLst/>
          </a:prstGeom>
          <a:solidFill>
            <a:srgbClr val="FFFFFF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58368" y="1755648"/>
            <a:ext cx="3392424" cy="91440"/>
          </a:xfrm>
          <a:prstGeom prst="rect">
            <a:avLst/>
          </a:prstGeom>
          <a:solidFill>
            <a:srgbClr val="F06F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886968" y="2029968"/>
            <a:ext cx="493776" cy="493776"/>
          </a:xfrm>
          <a:prstGeom prst="ellipse">
            <a:avLst/>
          </a:prstGeom>
          <a:solidFill>
            <a:srgbClr val="F06F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86968" y="2029968"/>
            <a:ext cx="493776" cy="49377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17904" y="2020824"/>
            <a:ext cx="2240280" cy="51206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F06F61"/>
                </a:solidFill>
                <a:latin typeface="Arial"/>
              </a:rPr>
              <a:t>CONTEXT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2798063"/>
            <a:ext cx="2834640" cy="16459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161B26"/>
                </a:solidFill>
                <a:latin typeface="Arial"/>
              </a:rPr>
              <a:t>A public edit link is shared for a confidential internal prototype.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14400" y="4526280"/>
            <a:ext cx="2834640" cy="27432"/>
          </a:xfrm>
          <a:prstGeom prst="rect">
            <a:avLst/>
          </a:prstGeom>
          <a:solidFill>
            <a:srgbClr val="F06F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315968" y="1755648"/>
            <a:ext cx="3392424" cy="3127248"/>
          </a:xfrm>
          <a:prstGeom prst="rect">
            <a:avLst/>
          </a:prstGeom>
          <a:solidFill>
            <a:srgbClr val="FFFFFF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315968" y="1755648"/>
            <a:ext cx="3392424" cy="91440"/>
          </a:xfrm>
          <a:prstGeom prst="rect">
            <a:avLst/>
          </a:prstGeom>
          <a:solidFill>
            <a:srgbClr val="1098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4544568" y="2029968"/>
            <a:ext cx="493776" cy="493776"/>
          </a:xfrm>
          <a:prstGeom prst="ellipse">
            <a:avLst/>
          </a:prstGeom>
          <a:solidFill>
            <a:srgbClr val="1098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544568" y="2029968"/>
            <a:ext cx="493776" cy="49377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175504" y="2020824"/>
            <a:ext cx="2240280" cy="51206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10988A"/>
                </a:solidFill>
                <a:latin typeface="Arial"/>
              </a:rPr>
              <a:t>DESIGN MOVE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0" y="2798063"/>
            <a:ext cx="2834640" cy="16459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161B26"/>
                </a:solidFill>
                <a:latin typeface="Arial"/>
              </a:rPr>
              <a:t>Match permission to the collaborator's role and review sensitive content before sharing.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572000" y="4526280"/>
            <a:ext cx="2834640" cy="27432"/>
          </a:xfrm>
          <a:prstGeom prst="rect">
            <a:avLst/>
          </a:prstGeom>
          <a:solidFill>
            <a:srgbClr val="1098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7973568" y="1755648"/>
            <a:ext cx="3392424" cy="3127248"/>
          </a:xfrm>
          <a:prstGeom prst="rect">
            <a:avLst/>
          </a:prstGeom>
          <a:solidFill>
            <a:srgbClr val="FFFFFF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973568" y="1755648"/>
            <a:ext cx="3392424" cy="91440"/>
          </a:xfrm>
          <a:prstGeom prst="rect">
            <a:avLst/>
          </a:prstGeom>
          <a:solidFill>
            <a:srgbClr val="724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8202168" y="2029968"/>
            <a:ext cx="493776" cy="493776"/>
          </a:xfrm>
          <a:prstGeom prst="ellipse">
            <a:avLst/>
          </a:prstGeom>
          <a:solidFill>
            <a:srgbClr val="724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202168" y="2029968"/>
            <a:ext cx="493776" cy="49377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833104" y="2020824"/>
            <a:ext cx="2240280" cy="51206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724CD6"/>
                </a:solidFill>
                <a:latin typeface="Arial"/>
              </a:rPr>
              <a:t>EVIDENCE STANDARD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229600" y="2798063"/>
            <a:ext cx="2834640" cy="16459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161B26"/>
                </a:solidFill>
                <a:latin typeface="Arial"/>
              </a:rPr>
              <a:t>Convenience does not replace access governance.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8229600" y="4526280"/>
            <a:ext cx="2834640" cy="27432"/>
          </a:xfrm>
          <a:prstGeom prst="rect">
            <a:avLst/>
          </a:prstGeom>
          <a:solidFill>
            <a:srgbClr val="724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58368" y="5102352"/>
            <a:ext cx="10835640" cy="56692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14400" y="5239512"/>
            <a:ext cx="10241280" cy="29260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250" b="1" i="0">
                <a:solidFill>
                  <a:srgbClr val="161B26"/>
                </a:solidFill>
                <a:latin typeface="Arial"/>
              </a:rPr>
              <a:t>Ask: what user outcome changes, and what evidence would prove it?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16845B"/>
                </a:solidFill>
                <a:latin typeface="Arial"/>
              </a:rPr>
              <a:t>MODULE 4 · PRINCIPLE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21792"/>
            <a:ext cx="10835640" cy="6583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 i="0">
                <a:solidFill>
                  <a:srgbClr val="161B26"/>
                </a:solidFill>
                <a:latin typeface="Arial"/>
              </a:rPr>
              <a:t>Choose export by downstream job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6419088"/>
            <a:ext cx="4663440" cy="2194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 i="0">
                <a:solidFill>
                  <a:srgbClr val="5B6372"/>
                </a:solidFill>
                <a:latin typeface="Arial"/>
              </a:rPr>
              <a:t>Claude Design for UX/UI · C744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89120" y="6419088"/>
            <a:ext cx="3657600" cy="2194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0" i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26679" y="6419088"/>
            <a:ext cx="2834640" cy="2194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730" b="0" i="1">
                <a:solidFill>
                  <a:srgbClr val="949DA9"/>
                </a:solidFill>
                <a:latin typeface="Arial"/>
              </a:rPr>
              <a:t>Anthropic Help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44200" y="6419088"/>
            <a:ext cx="731520" cy="2194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 i="0">
                <a:solidFill>
                  <a:srgbClr val="5B6372"/>
                </a:solidFill>
                <a:latin typeface="Arial"/>
              </a:rPr>
              <a:t>114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58368" y="1691640"/>
            <a:ext cx="2487168" cy="233172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58368" y="1691640"/>
            <a:ext cx="82296" cy="23317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877824" y="1874520"/>
            <a:ext cx="420624" cy="420624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77824" y="1874520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08176" y="1819656"/>
            <a:ext cx="1508760" cy="43891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320" b="1" i="0">
                <a:solidFill>
                  <a:srgbClr val="161B26"/>
                </a:solidFill>
                <a:latin typeface="Arial"/>
              </a:rPr>
              <a:t>PDF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2386584"/>
            <a:ext cx="1965960" cy="133502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070" b="0" i="0">
                <a:solidFill>
                  <a:srgbClr val="5B6372"/>
                </a:solidFill>
                <a:latin typeface="Arial"/>
              </a:rPr>
              <a:t>Fixed review, archive or presentation with stable layout.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14400" y="3703320"/>
            <a:ext cx="1078992" cy="25603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3703320"/>
            <a:ext cx="1078992" cy="25603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1" i="0">
                <a:solidFill>
                  <a:srgbClr val="FFFFFF"/>
                </a:solidFill>
                <a:latin typeface="Arial"/>
              </a:rPr>
              <a:t>DESIGN LENS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401568" y="1691640"/>
            <a:ext cx="2487168" cy="233172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401568" y="1691640"/>
            <a:ext cx="82296" cy="2331720"/>
          </a:xfrm>
          <a:prstGeom prst="rect">
            <a:avLst/>
          </a:prstGeom>
          <a:solidFill>
            <a:srgbClr val="724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3621024" y="1874520"/>
            <a:ext cx="420624" cy="420624"/>
          </a:xfrm>
          <a:prstGeom prst="ellipse">
            <a:avLst/>
          </a:prstGeom>
          <a:solidFill>
            <a:srgbClr val="724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621024" y="1874520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151376" y="1819656"/>
            <a:ext cx="1508760" cy="43891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320" b="1" i="0">
                <a:solidFill>
                  <a:srgbClr val="161B26"/>
                </a:solidFill>
                <a:latin typeface="Arial"/>
              </a:rPr>
              <a:t>PPTX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657600" y="2386584"/>
            <a:ext cx="1965960" cy="133502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070" b="0" i="0">
                <a:solidFill>
                  <a:srgbClr val="5B6372"/>
                </a:solidFill>
                <a:latin typeface="Arial"/>
              </a:rPr>
              <a:t>Editable presentation content for facilitated communication.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657600" y="3703320"/>
            <a:ext cx="1078992" cy="256032"/>
          </a:xfrm>
          <a:prstGeom prst="rect">
            <a:avLst/>
          </a:prstGeom>
          <a:solidFill>
            <a:srgbClr val="724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657600" y="3703320"/>
            <a:ext cx="1078992" cy="25603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1" i="0">
                <a:solidFill>
                  <a:srgbClr val="FFFFFF"/>
                </a:solidFill>
                <a:latin typeface="Arial"/>
              </a:rPr>
              <a:t>DESIGN LENS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144768" y="1691640"/>
            <a:ext cx="2487168" cy="233172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144768" y="1691640"/>
            <a:ext cx="82296" cy="2331720"/>
          </a:xfrm>
          <a:prstGeom prst="rect">
            <a:avLst/>
          </a:prstGeom>
          <a:solidFill>
            <a:srgbClr val="1098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6364224" y="1874520"/>
            <a:ext cx="420624" cy="420624"/>
          </a:xfrm>
          <a:prstGeom prst="ellipse">
            <a:avLst/>
          </a:prstGeom>
          <a:solidFill>
            <a:srgbClr val="1098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364224" y="1874520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894576" y="1819656"/>
            <a:ext cx="1508760" cy="43891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320" b="1" i="0">
                <a:solidFill>
                  <a:srgbClr val="161B26"/>
                </a:solidFill>
                <a:latin typeface="Arial"/>
              </a:rPr>
              <a:t>HTML / ZIP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00800" y="2386584"/>
            <a:ext cx="1965960" cy="133502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070" b="0" i="0">
                <a:solidFill>
                  <a:srgbClr val="5B6372"/>
                </a:solidFill>
                <a:latin typeface="Arial"/>
              </a:rPr>
              <a:t>Interactive handoff, local review or implementation starting point.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400800" y="3703320"/>
            <a:ext cx="1078992" cy="256032"/>
          </a:xfrm>
          <a:prstGeom prst="rect">
            <a:avLst/>
          </a:prstGeom>
          <a:solidFill>
            <a:srgbClr val="1098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400800" y="3703320"/>
            <a:ext cx="1078992" cy="25603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1" i="0">
                <a:solidFill>
                  <a:srgbClr val="FFFFFF"/>
                </a:solidFill>
                <a:latin typeface="Arial"/>
              </a:rPr>
              <a:t>DESIGN LENS</a:t>
            </a:r>
          </a:p>
        </p:txBody>
      </p:sp>
      <p:sp>
        <p:nvSpPr>
          <p:cNvPr id="35" name="Rectangle 34"/>
          <p:cNvSpPr/>
          <p:nvPr/>
        </p:nvSpPr>
        <p:spPr>
          <a:xfrm>
            <a:off x="8887968" y="1691640"/>
            <a:ext cx="2487168" cy="233172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8887968" y="1691640"/>
            <a:ext cx="82296" cy="2331720"/>
          </a:xfrm>
          <a:prstGeom prst="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9107424" y="1874520"/>
            <a:ext cx="420624" cy="420624"/>
          </a:xfrm>
          <a:prstGeom prst="ellipse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107424" y="1874520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637776" y="1819656"/>
            <a:ext cx="1508760" cy="43891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320" b="1" i="0">
                <a:solidFill>
                  <a:srgbClr val="161B26"/>
                </a:solidFill>
                <a:latin typeface="Arial"/>
              </a:rPr>
              <a:t>Tool transfer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144000" y="2386584"/>
            <a:ext cx="1965960" cy="133502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070" b="0" i="0">
                <a:solidFill>
                  <a:srgbClr val="5B6372"/>
                </a:solidFill>
                <a:latin typeface="Arial"/>
              </a:rPr>
              <a:t>Continue refinement in supported design or delivery tools.</a:t>
            </a:r>
          </a:p>
        </p:txBody>
      </p:sp>
      <p:sp>
        <p:nvSpPr>
          <p:cNvPr id="41" name="Rectangle 40"/>
          <p:cNvSpPr/>
          <p:nvPr/>
        </p:nvSpPr>
        <p:spPr>
          <a:xfrm>
            <a:off x="9144000" y="3703320"/>
            <a:ext cx="1078992" cy="256032"/>
          </a:xfrm>
          <a:prstGeom prst="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9144000" y="3703320"/>
            <a:ext cx="1078992" cy="25603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1" i="0">
                <a:solidFill>
                  <a:srgbClr val="FFFFFF"/>
                </a:solidFill>
                <a:latin typeface="Arial"/>
              </a:rPr>
              <a:t>DESIGN LENS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58368" y="4315968"/>
            <a:ext cx="10835640" cy="13258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914400" y="4480560"/>
            <a:ext cx="1828800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 i="0">
                <a:solidFill>
                  <a:srgbClr val="16845B"/>
                </a:solidFill>
                <a:latin typeface="Arial"/>
              </a:rPr>
              <a:t>SYNTHESIS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14400" y="4846320"/>
            <a:ext cx="10195560" cy="56692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 i="0">
                <a:solidFill>
                  <a:srgbClr val="161B26"/>
                </a:solidFill>
                <a:latin typeface="Arial"/>
              </a:rPr>
              <a:t>Fixed review, archive or presentation with stable layout; continue refinement in supported design or delivery tools.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16845B"/>
                </a:solidFill>
                <a:latin typeface="Arial"/>
              </a:rPr>
              <a:t>MODULE 4 · CASE LENS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21792"/>
            <a:ext cx="10835640" cy="6583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 i="0">
                <a:solidFill>
                  <a:srgbClr val="161B26"/>
                </a:solidFill>
                <a:latin typeface="Arial"/>
              </a:rPr>
              <a:t>Choose export by downstream job — applied judgement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6419088"/>
            <a:ext cx="4663440" cy="2194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 i="0">
                <a:solidFill>
                  <a:srgbClr val="5B6372"/>
                </a:solidFill>
                <a:latin typeface="Arial"/>
              </a:rPr>
              <a:t>Claude Design for UX/UI · C744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89120" y="6419088"/>
            <a:ext cx="3657600" cy="2194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0" i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26679" y="6419088"/>
            <a:ext cx="2834640" cy="2194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730" b="0" i="1">
                <a:solidFill>
                  <a:srgbClr val="949DA9"/>
                </a:solidFill>
                <a:latin typeface="Arial"/>
              </a:rPr>
              <a:t>Anthropic Help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44200" y="6419088"/>
            <a:ext cx="731520" cy="2194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 i="0">
                <a:solidFill>
                  <a:srgbClr val="5B6372"/>
                </a:solidFill>
                <a:latin typeface="Arial"/>
              </a:rPr>
              <a:t>115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58368" y="1755648"/>
            <a:ext cx="3392424" cy="3127248"/>
          </a:xfrm>
          <a:prstGeom prst="rect">
            <a:avLst/>
          </a:prstGeom>
          <a:solidFill>
            <a:srgbClr val="FFFFFF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58368" y="1755648"/>
            <a:ext cx="3392424" cy="91440"/>
          </a:xfrm>
          <a:prstGeom prst="rect">
            <a:avLst/>
          </a:prstGeom>
          <a:solidFill>
            <a:srgbClr val="F06F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886968" y="2029968"/>
            <a:ext cx="493776" cy="493776"/>
          </a:xfrm>
          <a:prstGeom prst="ellipse">
            <a:avLst/>
          </a:prstGeom>
          <a:solidFill>
            <a:srgbClr val="F06F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86968" y="2029968"/>
            <a:ext cx="493776" cy="49377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17904" y="2020824"/>
            <a:ext cx="2240280" cy="51206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F06F61"/>
                </a:solidFill>
                <a:latin typeface="Arial"/>
              </a:rPr>
              <a:t>CONTEXT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2798063"/>
            <a:ext cx="2834640" cy="16459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161B26"/>
                </a:solidFill>
                <a:latin typeface="Arial"/>
              </a:rPr>
              <a:t>A developer receives only a flat screenshot of an interactive stateful prototype.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14400" y="4526280"/>
            <a:ext cx="2834640" cy="27432"/>
          </a:xfrm>
          <a:prstGeom prst="rect">
            <a:avLst/>
          </a:prstGeom>
          <a:solidFill>
            <a:srgbClr val="F06F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315968" y="1755648"/>
            <a:ext cx="3392424" cy="3127248"/>
          </a:xfrm>
          <a:prstGeom prst="rect">
            <a:avLst/>
          </a:prstGeom>
          <a:solidFill>
            <a:srgbClr val="FFFFFF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315968" y="1755648"/>
            <a:ext cx="3392424" cy="91440"/>
          </a:xfrm>
          <a:prstGeom prst="rect">
            <a:avLst/>
          </a:prstGeom>
          <a:solidFill>
            <a:srgbClr val="1098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4544568" y="2029968"/>
            <a:ext cx="493776" cy="493776"/>
          </a:xfrm>
          <a:prstGeom prst="ellipse">
            <a:avLst/>
          </a:prstGeom>
          <a:solidFill>
            <a:srgbClr val="1098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544568" y="2029968"/>
            <a:ext cx="493776" cy="49377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175504" y="2020824"/>
            <a:ext cx="2240280" cy="51206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10988A"/>
                </a:solidFill>
                <a:latin typeface="Arial"/>
              </a:rPr>
              <a:t>DESIGN MOVE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0" y="2798063"/>
            <a:ext cx="2834640" cy="16459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161B26"/>
                </a:solidFill>
                <a:latin typeface="Arial"/>
              </a:rPr>
              <a:t>Export an interactive or code-bearing format and include the design contract.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572000" y="4526280"/>
            <a:ext cx="2834640" cy="27432"/>
          </a:xfrm>
          <a:prstGeom prst="rect">
            <a:avLst/>
          </a:prstGeom>
          <a:solidFill>
            <a:srgbClr val="1098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7973568" y="1755648"/>
            <a:ext cx="3392424" cy="3127248"/>
          </a:xfrm>
          <a:prstGeom prst="rect">
            <a:avLst/>
          </a:prstGeom>
          <a:solidFill>
            <a:srgbClr val="FFFFFF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973568" y="1755648"/>
            <a:ext cx="3392424" cy="91440"/>
          </a:xfrm>
          <a:prstGeom prst="rect">
            <a:avLst/>
          </a:prstGeom>
          <a:solidFill>
            <a:srgbClr val="724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8202168" y="2029968"/>
            <a:ext cx="493776" cy="493776"/>
          </a:xfrm>
          <a:prstGeom prst="ellipse">
            <a:avLst/>
          </a:prstGeom>
          <a:solidFill>
            <a:srgbClr val="724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202168" y="2029968"/>
            <a:ext cx="493776" cy="49377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833104" y="2020824"/>
            <a:ext cx="2240280" cy="51206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724CD6"/>
                </a:solidFill>
                <a:latin typeface="Arial"/>
              </a:rPr>
              <a:t>EVIDENCE STANDARD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229600" y="2798063"/>
            <a:ext cx="2834640" cy="16459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161B26"/>
                </a:solidFill>
                <a:latin typeface="Arial"/>
              </a:rPr>
              <a:t>The best format preserves what the next role needs to know.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8229600" y="4526280"/>
            <a:ext cx="2834640" cy="27432"/>
          </a:xfrm>
          <a:prstGeom prst="rect">
            <a:avLst/>
          </a:prstGeom>
          <a:solidFill>
            <a:srgbClr val="724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58368" y="5102352"/>
            <a:ext cx="10835640" cy="56692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14400" y="5239512"/>
            <a:ext cx="10241280" cy="29260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250" b="1" i="0">
                <a:solidFill>
                  <a:srgbClr val="161B26"/>
                </a:solidFill>
                <a:latin typeface="Arial"/>
              </a:rPr>
              <a:t>Ask: what user outcome changes, and what evidence would prove it?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16845B"/>
                </a:solidFill>
                <a:latin typeface="Arial"/>
              </a:rPr>
              <a:t>MODULE 4 · PRINCIPLE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21792"/>
            <a:ext cx="10835640" cy="6583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 i="0">
                <a:solidFill>
                  <a:srgbClr val="161B26"/>
                </a:solidFill>
                <a:latin typeface="Arial"/>
              </a:rPr>
              <a:t>Claude Design and Claude Code handoff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6419088"/>
            <a:ext cx="4663440" cy="2194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 i="0">
                <a:solidFill>
                  <a:srgbClr val="5B6372"/>
                </a:solidFill>
                <a:latin typeface="Arial"/>
              </a:rPr>
              <a:t>Claude Design for UX/UI · C744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89120" y="6419088"/>
            <a:ext cx="3657600" cy="2194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0" i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26679" y="6419088"/>
            <a:ext cx="2834640" cy="2194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730" b="0" i="1">
                <a:solidFill>
                  <a:srgbClr val="949DA9"/>
                </a:solidFill>
                <a:latin typeface="Arial"/>
              </a:rPr>
              <a:t>Anthropic; Anthropic Help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44200" y="6419088"/>
            <a:ext cx="731520" cy="2194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 i="0">
                <a:solidFill>
                  <a:srgbClr val="5B6372"/>
                </a:solidFill>
                <a:latin typeface="Arial"/>
              </a:rPr>
              <a:t>116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58368" y="1691640"/>
            <a:ext cx="2487168" cy="233172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58368" y="1691640"/>
            <a:ext cx="82296" cy="23317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877824" y="1874520"/>
            <a:ext cx="420624" cy="420624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77824" y="1874520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08176" y="1819656"/>
            <a:ext cx="1508760" cy="43891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320" b="1" i="0">
                <a:solidFill>
                  <a:srgbClr val="161B26"/>
                </a:solidFill>
                <a:latin typeface="Arial"/>
              </a:rPr>
              <a:t>Synchronise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2386584"/>
            <a:ext cx="1965960" cy="133502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070" b="0" i="0">
                <a:solidFill>
                  <a:srgbClr val="5B6372"/>
                </a:solidFill>
                <a:latin typeface="Arial"/>
              </a:rPr>
              <a:t>Bring design-system context into the workflow with /design-sync.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14400" y="3703320"/>
            <a:ext cx="1078992" cy="25603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3703320"/>
            <a:ext cx="1078992" cy="25603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1" i="0">
                <a:solidFill>
                  <a:srgbClr val="FFFFFF"/>
                </a:solidFill>
                <a:latin typeface="Arial"/>
              </a:rPr>
              <a:t>DESIGN LENS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401568" y="1691640"/>
            <a:ext cx="2487168" cy="233172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401568" y="1691640"/>
            <a:ext cx="82296" cy="2331720"/>
          </a:xfrm>
          <a:prstGeom prst="rect">
            <a:avLst/>
          </a:prstGeom>
          <a:solidFill>
            <a:srgbClr val="724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3621024" y="1874520"/>
            <a:ext cx="420624" cy="420624"/>
          </a:xfrm>
          <a:prstGeom prst="ellipse">
            <a:avLst/>
          </a:prstGeom>
          <a:solidFill>
            <a:srgbClr val="724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621024" y="1874520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151376" y="1819656"/>
            <a:ext cx="1508760" cy="43891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320" b="1" i="0">
                <a:solidFill>
                  <a:srgbClr val="161B26"/>
                </a:solidFill>
                <a:latin typeface="Arial"/>
              </a:rPr>
              <a:t>Connect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657600" y="2386584"/>
            <a:ext cx="1965960" cy="133502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070" b="0" i="0">
                <a:solidFill>
                  <a:srgbClr val="5B6372"/>
                </a:solidFill>
                <a:latin typeface="Arial"/>
              </a:rPr>
              <a:t>The Claude Design MCP path supports design work from Claude Code.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657600" y="3703320"/>
            <a:ext cx="1078992" cy="256032"/>
          </a:xfrm>
          <a:prstGeom prst="rect">
            <a:avLst/>
          </a:prstGeom>
          <a:solidFill>
            <a:srgbClr val="724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657600" y="3703320"/>
            <a:ext cx="1078992" cy="25603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1" i="0">
                <a:solidFill>
                  <a:srgbClr val="FFFFFF"/>
                </a:solidFill>
                <a:latin typeface="Arial"/>
              </a:rPr>
              <a:t>DESIGN LENS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144768" y="1691640"/>
            <a:ext cx="2487168" cy="233172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144768" y="1691640"/>
            <a:ext cx="82296" cy="2331720"/>
          </a:xfrm>
          <a:prstGeom prst="rect">
            <a:avLst/>
          </a:prstGeom>
          <a:solidFill>
            <a:srgbClr val="1098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6364224" y="1874520"/>
            <a:ext cx="420624" cy="420624"/>
          </a:xfrm>
          <a:prstGeom prst="ellipse">
            <a:avLst/>
          </a:prstGeom>
          <a:solidFill>
            <a:srgbClr val="1098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364224" y="1874520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894576" y="1819656"/>
            <a:ext cx="1508760" cy="43891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320" b="1" i="0">
                <a:solidFill>
                  <a:srgbClr val="161B26"/>
                </a:solidFill>
                <a:latin typeface="Arial"/>
              </a:rPr>
              <a:t>Bundle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00800" y="2386584"/>
            <a:ext cx="1965960" cy="133502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070" b="0" i="0">
                <a:solidFill>
                  <a:srgbClr val="5B6372"/>
                </a:solidFill>
                <a:latin typeface="Arial"/>
              </a:rPr>
              <a:t>Handoff packages design intent, assets and structure together.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400800" y="3703320"/>
            <a:ext cx="1078992" cy="256032"/>
          </a:xfrm>
          <a:prstGeom prst="rect">
            <a:avLst/>
          </a:prstGeom>
          <a:solidFill>
            <a:srgbClr val="1098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400800" y="3703320"/>
            <a:ext cx="1078992" cy="25603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1" i="0">
                <a:solidFill>
                  <a:srgbClr val="FFFFFF"/>
                </a:solidFill>
                <a:latin typeface="Arial"/>
              </a:rPr>
              <a:t>DESIGN LENS</a:t>
            </a:r>
          </a:p>
        </p:txBody>
      </p:sp>
      <p:sp>
        <p:nvSpPr>
          <p:cNvPr id="35" name="Rectangle 34"/>
          <p:cNvSpPr/>
          <p:nvPr/>
        </p:nvSpPr>
        <p:spPr>
          <a:xfrm>
            <a:off x="8887968" y="1691640"/>
            <a:ext cx="2487168" cy="233172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8887968" y="1691640"/>
            <a:ext cx="82296" cy="2331720"/>
          </a:xfrm>
          <a:prstGeom prst="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9107424" y="1874520"/>
            <a:ext cx="420624" cy="420624"/>
          </a:xfrm>
          <a:prstGeom prst="ellipse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107424" y="1874520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637776" y="1819656"/>
            <a:ext cx="1508760" cy="43891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320" b="1" i="0">
                <a:solidFill>
                  <a:srgbClr val="161B26"/>
                </a:solidFill>
                <a:latin typeface="Arial"/>
              </a:rPr>
              <a:t>Verify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144000" y="2386584"/>
            <a:ext cx="1965960" cy="133502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070" b="0" i="0">
                <a:solidFill>
                  <a:srgbClr val="5B6372"/>
                </a:solidFill>
                <a:latin typeface="Arial"/>
              </a:rPr>
              <a:t>Implementation still needs visual, responsive and accessibility checks.</a:t>
            </a:r>
          </a:p>
        </p:txBody>
      </p:sp>
      <p:sp>
        <p:nvSpPr>
          <p:cNvPr id="41" name="Rectangle 40"/>
          <p:cNvSpPr/>
          <p:nvPr/>
        </p:nvSpPr>
        <p:spPr>
          <a:xfrm>
            <a:off x="9144000" y="3703320"/>
            <a:ext cx="1078992" cy="256032"/>
          </a:xfrm>
          <a:prstGeom prst="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9144000" y="3703320"/>
            <a:ext cx="1078992" cy="25603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1" i="0">
                <a:solidFill>
                  <a:srgbClr val="FFFFFF"/>
                </a:solidFill>
                <a:latin typeface="Arial"/>
              </a:rPr>
              <a:t>DESIGN LENS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58368" y="4315968"/>
            <a:ext cx="10835640" cy="13258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914400" y="4480560"/>
            <a:ext cx="1828800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 i="0">
                <a:solidFill>
                  <a:srgbClr val="16845B"/>
                </a:solidFill>
                <a:latin typeface="Arial"/>
              </a:rPr>
              <a:t>SYNTHESIS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14400" y="4846320"/>
            <a:ext cx="10195560" cy="56692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 i="0">
                <a:solidFill>
                  <a:srgbClr val="161B26"/>
                </a:solidFill>
                <a:latin typeface="Arial"/>
              </a:rPr>
              <a:t>Bring design-system context into the workflow with /design-sync; implementation still needs visual, responsive and accessibility checks.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16845B"/>
                </a:solidFill>
                <a:latin typeface="Arial"/>
              </a:rPr>
              <a:t>MODULE 4 · WORKED EXAMPLE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21792"/>
            <a:ext cx="10835640" cy="6583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500" b="1" i="0">
                <a:solidFill>
                  <a:srgbClr val="161B26"/>
                </a:solidFill>
                <a:latin typeface="Arial"/>
              </a:rPr>
              <a:t>Claude Design and Claude Code handoff — applied pattern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6419088"/>
            <a:ext cx="4663440" cy="2194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 i="0">
                <a:solidFill>
                  <a:srgbClr val="5B6372"/>
                </a:solidFill>
                <a:latin typeface="Arial"/>
              </a:rPr>
              <a:t>Claude Design for UX/UI · C744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89120" y="6419088"/>
            <a:ext cx="3657600" cy="2194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0" i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26679" y="6419088"/>
            <a:ext cx="2834640" cy="2194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730" b="0" i="1">
                <a:solidFill>
                  <a:srgbClr val="949DA9"/>
                </a:solidFill>
                <a:latin typeface="Arial"/>
              </a:rPr>
              <a:t>Anthropic; Anthropic Help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44200" y="6419088"/>
            <a:ext cx="731520" cy="2194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 i="0">
                <a:solidFill>
                  <a:srgbClr val="5B6372"/>
                </a:solidFill>
                <a:latin typeface="Arial"/>
              </a:rPr>
              <a:t>117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58368" y="1719072"/>
            <a:ext cx="6446520" cy="416052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58368" y="1719072"/>
            <a:ext cx="91440" cy="4160520"/>
          </a:xfrm>
          <a:prstGeom prst="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32688" y="1938528"/>
            <a:ext cx="5897880" cy="35204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0"/>
              </a:spcAft>
            </a:pPr>
            <a:r>
              <a:rPr sz="1220" b="0" i="0">
                <a:solidFill>
                  <a:srgbClr val="D6E4FF"/>
                </a:solidFill>
                <a:latin typeface="Consolas"/>
              </a:rPr>
              <a:t>claude mcp add --scope user --transport http claude-design \
  https://api.anthropic.com/v1/design/mcp
/design-login
/design-sync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388352" y="1719072"/>
            <a:ext cx="4105656" cy="120700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388352" y="1719072"/>
            <a:ext cx="82296" cy="120700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7626096" y="1920240"/>
            <a:ext cx="411480" cy="41148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626096" y="1920240"/>
            <a:ext cx="411480" cy="4114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11312" y="1883664"/>
            <a:ext cx="2944368" cy="76809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161B26"/>
                </a:solidFill>
                <a:latin typeface="Arial"/>
              </a:rPr>
              <a:t>Connect once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388352" y="3099815"/>
            <a:ext cx="4105656" cy="120700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7388352" y="3099815"/>
            <a:ext cx="82296" cy="1207008"/>
          </a:xfrm>
          <a:prstGeom prst="rect">
            <a:avLst/>
          </a:prstGeom>
          <a:solidFill>
            <a:srgbClr val="724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7626096" y="3300984"/>
            <a:ext cx="411480" cy="411480"/>
          </a:xfrm>
          <a:prstGeom prst="ellipse">
            <a:avLst/>
          </a:prstGeom>
          <a:solidFill>
            <a:srgbClr val="724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626096" y="3300984"/>
            <a:ext cx="411480" cy="4114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11312" y="3264408"/>
            <a:ext cx="2944368" cy="76809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161B26"/>
                </a:solidFill>
                <a:latin typeface="Arial"/>
              </a:rPr>
              <a:t>Authenticate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388352" y="4480559"/>
            <a:ext cx="4105656" cy="120700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7388352" y="4480559"/>
            <a:ext cx="82296" cy="1207008"/>
          </a:xfrm>
          <a:prstGeom prst="rect">
            <a:avLst/>
          </a:prstGeom>
          <a:solidFill>
            <a:srgbClr val="1098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7626096" y="4681727"/>
            <a:ext cx="411480" cy="411480"/>
          </a:xfrm>
          <a:prstGeom prst="ellipse">
            <a:avLst/>
          </a:prstGeom>
          <a:solidFill>
            <a:srgbClr val="1098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626096" y="4681727"/>
            <a:ext cx="411480" cy="4114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211312" y="4645151"/>
            <a:ext cx="2944368" cy="76809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161B26"/>
                </a:solidFill>
                <a:latin typeface="Arial"/>
              </a:rPr>
              <a:t>Synchronise the system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16845B"/>
                </a:solidFill>
                <a:latin typeface="Arial"/>
              </a:rPr>
              <a:t>MODULE 4 · PRINCIPLE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21792"/>
            <a:ext cx="10835640" cy="6583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 i="0">
                <a:solidFill>
                  <a:srgbClr val="161B26"/>
                </a:solidFill>
                <a:latin typeface="Arial"/>
              </a:rPr>
              <a:t>A decision log explains why the UI changed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6419088"/>
            <a:ext cx="4663440" cy="2194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 i="0">
                <a:solidFill>
                  <a:srgbClr val="5B6372"/>
                </a:solidFill>
                <a:latin typeface="Arial"/>
              </a:rPr>
              <a:t>Claude Design for UX/UI · C744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89120" y="6419088"/>
            <a:ext cx="3657600" cy="2194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0" i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26679" y="6419088"/>
            <a:ext cx="2834640" cy="2194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730" b="0" i="1">
                <a:solidFill>
                  <a:srgbClr val="949DA9"/>
                </a:solidFill>
                <a:latin typeface="Arial"/>
              </a:rPr>
              <a:t>Interface Design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44200" y="6419088"/>
            <a:ext cx="731520" cy="2194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 i="0">
                <a:solidFill>
                  <a:srgbClr val="5B6372"/>
                </a:solidFill>
                <a:latin typeface="Arial"/>
              </a:rPr>
              <a:t>118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58368" y="1691640"/>
            <a:ext cx="2487168" cy="233172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58368" y="1691640"/>
            <a:ext cx="82296" cy="23317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877824" y="1874520"/>
            <a:ext cx="420624" cy="420624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77824" y="1874520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08176" y="1819656"/>
            <a:ext cx="1508760" cy="43891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320" b="1" i="0">
                <a:solidFill>
                  <a:srgbClr val="161B26"/>
                </a:solidFill>
                <a:latin typeface="Arial"/>
              </a:rPr>
              <a:t>Context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2386584"/>
            <a:ext cx="1965960" cy="133502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070" b="0" i="0">
                <a:solidFill>
                  <a:srgbClr val="5B6372"/>
                </a:solidFill>
                <a:latin typeface="Arial"/>
              </a:rPr>
              <a:t>Describe the user problem, constraint and affected flow.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14400" y="3703320"/>
            <a:ext cx="1078992" cy="25603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3703320"/>
            <a:ext cx="1078992" cy="25603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1" i="0">
                <a:solidFill>
                  <a:srgbClr val="FFFFFF"/>
                </a:solidFill>
                <a:latin typeface="Arial"/>
              </a:rPr>
              <a:t>DESIGN LENS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401568" y="1691640"/>
            <a:ext cx="2487168" cy="233172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401568" y="1691640"/>
            <a:ext cx="82296" cy="2331720"/>
          </a:xfrm>
          <a:prstGeom prst="rect">
            <a:avLst/>
          </a:prstGeom>
          <a:solidFill>
            <a:srgbClr val="724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3621024" y="1874520"/>
            <a:ext cx="420624" cy="420624"/>
          </a:xfrm>
          <a:prstGeom prst="ellipse">
            <a:avLst/>
          </a:prstGeom>
          <a:solidFill>
            <a:srgbClr val="724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621024" y="1874520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151376" y="1819656"/>
            <a:ext cx="1508760" cy="43891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320" b="1" i="0">
                <a:solidFill>
                  <a:srgbClr val="161B26"/>
                </a:solidFill>
                <a:latin typeface="Arial"/>
              </a:rPr>
              <a:t>Decision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657600" y="2386584"/>
            <a:ext cx="1965960" cy="133502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070" b="0" i="0">
                <a:solidFill>
                  <a:srgbClr val="5B6372"/>
                </a:solidFill>
                <a:latin typeface="Arial"/>
              </a:rPr>
              <a:t>State what changed and the component or screen impacted.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657600" y="3703320"/>
            <a:ext cx="1078992" cy="256032"/>
          </a:xfrm>
          <a:prstGeom prst="rect">
            <a:avLst/>
          </a:prstGeom>
          <a:solidFill>
            <a:srgbClr val="724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657600" y="3703320"/>
            <a:ext cx="1078992" cy="25603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1" i="0">
                <a:solidFill>
                  <a:srgbClr val="FFFFFF"/>
                </a:solidFill>
                <a:latin typeface="Arial"/>
              </a:rPr>
              <a:t>DESIGN LENS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144768" y="1691640"/>
            <a:ext cx="2487168" cy="233172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144768" y="1691640"/>
            <a:ext cx="82296" cy="2331720"/>
          </a:xfrm>
          <a:prstGeom prst="rect">
            <a:avLst/>
          </a:prstGeom>
          <a:solidFill>
            <a:srgbClr val="1098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6364224" y="1874520"/>
            <a:ext cx="420624" cy="420624"/>
          </a:xfrm>
          <a:prstGeom prst="ellipse">
            <a:avLst/>
          </a:prstGeom>
          <a:solidFill>
            <a:srgbClr val="1098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364224" y="1874520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894576" y="1819656"/>
            <a:ext cx="1508760" cy="43891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320" b="1" i="0">
                <a:solidFill>
                  <a:srgbClr val="161B26"/>
                </a:solidFill>
                <a:latin typeface="Arial"/>
              </a:rPr>
              <a:t>Rationale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00800" y="2386584"/>
            <a:ext cx="1965960" cy="133502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070" b="0" i="0">
                <a:solidFill>
                  <a:srgbClr val="5B6372"/>
                </a:solidFill>
                <a:latin typeface="Arial"/>
              </a:rPr>
              <a:t>Connect the change to research, testing or system rules.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400800" y="3703320"/>
            <a:ext cx="1078992" cy="256032"/>
          </a:xfrm>
          <a:prstGeom prst="rect">
            <a:avLst/>
          </a:prstGeom>
          <a:solidFill>
            <a:srgbClr val="1098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400800" y="3703320"/>
            <a:ext cx="1078992" cy="25603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1" i="0">
                <a:solidFill>
                  <a:srgbClr val="FFFFFF"/>
                </a:solidFill>
                <a:latin typeface="Arial"/>
              </a:rPr>
              <a:t>DESIGN LENS</a:t>
            </a:r>
          </a:p>
        </p:txBody>
      </p:sp>
      <p:sp>
        <p:nvSpPr>
          <p:cNvPr id="35" name="Rectangle 34"/>
          <p:cNvSpPr/>
          <p:nvPr/>
        </p:nvSpPr>
        <p:spPr>
          <a:xfrm>
            <a:off x="8887968" y="1691640"/>
            <a:ext cx="2487168" cy="233172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8887968" y="1691640"/>
            <a:ext cx="82296" cy="2331720"/>
          </a:xfrm>
          <a:prstGeom prst="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9107424" y="1874520"/>
            <a:ext cx="420624" cy="420624"/>
          </a:xfrm>
          <a:prstGeom prst="ellipse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107424" y="1874520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637776" y="1819656"/>
            <a:ext cx="1508760" cy="43891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320" b="1" i="0">
                <a:solidFill>
                  <a:srgbClr val="161B26"/>
                </a:solidFill>
                <a:latin typeface="Arial"/>
              </a:rPr>
              <a:t>Consequence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144000" y="2386584"/>
            <a:ext cx="1965960" cy="133502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070" b="0" i="0">
                <a:solidFill>
                  <a:srgbClr val="5B6372"/>
                </a:solidFill>
                <a:latin typeface="Arial"/>
              </a:rPr>
              <a:t>Record trade-offs, follow-up work and the new version.</a:t>
            </a:r>
          </a:p>
        </p:txBody>
      </p:sp>
      <p:sp>
        <p:nvSpPr>
          <p:cNvPr id="41" name="Rectangle 40"/>
          <p:cNvSpPr/>
          <p:nvPr/>
        </p:nvSpPr>
        <p:spPr>
          <a:xfrm>
            <a:off x="9144000" y="3703320"/>
            <a:ext cx="1078992" cy="256032"/>
          </a:xfrm>
          <a:prstGeom prst="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9144000" y="3703320"/>
            <a:ext cx="1078992" cy="25603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1" i="0">
                <a:solidFill>
                  <a:srgbClr val="FFFFFF"/>
                </a:solidFill>
                <a:latin typeface="Arial"/>
              </a:rPr>
              <a:t>DESIGN LENS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58368" y="4315968"/>
            <a:ext cx="10835640" cy="13258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914400" y="4480560"/>
            <a:ext cx="1828800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 i="0">
                <a:solidFill>
                  <a:srgbClr val="16845B"/>
                </a:solidFill>
                <a:latin typeface="Arial"/>
              </a:rPr>
              <a:t>SYNTHESIS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14400" y="4846320"/>
            <a:ext cx="10195560" cy="56692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 i="0">
                <a:solidFill>
                  <a:srgbClr val="161B26"/>
                </a:solidFill>
                <a:latin typeface="Arial"/>
              </a:rPr>
              <a:t>Describe the user problem, constraint and affected flow; record trade-offs, follow-up work and the new version.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16845B"/>
                </a:solidFill>
                <a:latin typeface="Arial"/>
              </a:rPr>
              <a:t>MODULE 4 · CASE LENS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21792"/>
            <a:ext cx="10835640" cy="6583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200" b="1" i="0">
                <a:solidFill>
                  <a:srgbClr val="161B26"/>
                </a:solidFill>
                <a:latin typeface="Arial"/>
              </a:rPr>
              <a:t>A decision log explains why the UI changed — applied judgement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6419088"/>
            <a:ext cx="4663440" cy="2194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 i="0">
                <a:solidFill>
                  <a:srgbClr val="5B6372"/>
                </a:solidFill>
                <a:latin typeface="Arial"/>
              </a:rPr>
              <a:t>Claude Design for UX/UI · C744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89120" y="6419088"/>
            <a:ext cx="3657600" cy="2194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0" i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26679" y="6419088"/>
            <a:ext cx="2834640" cy="2194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730" b="0" i="1">
                <a:solidFill>
                  <a:srgbClr val="949DA9"/>
                </a:solidFill>
                <a:latin typeface="Arial"/>
              </a:rPr>
              <a:t>Interface Design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44200" y="6419088"/>
            <a:ext cx="731520" cy="2194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 i="0">
                <a:solidFill>
                  <a:srgbClr val="5B6372"/>
                </a:solidFill>
                <a:latin typeface="Arial"/>
              </a:rPr>
              <a:t>119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58368" y="1755648"/>
            <a:ext cx="3392424" cy="3127248"/>
          </a:xfrm>
          <a:prstGeom prst="rect">
            <a:avLst/>
          </a:prstGeom>
          <a:solidFill>
            <a:srgbClr val="FFFFFF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58368" y="1755648"/>
            <a:ext cx="3392424" cy="91440"/>
          </a:xfrm>
          <a:prstGeom prst="rect">
            <a:avLst/>
          </a:prstGeom>
          <a:solidFill>
            <a:srgbClr val="F06F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886968" y="2029968"/>
            <a:ext cx="493776" cy="493776"/>
          </a:xfrm>
          <a:prstGeom prst="ellipse">
            <a:avLst/>
          </a:prstGeom>
          <a:solidFill>
            <a:srgbClr val="F06F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86968" y="2029968"/>
            <a:ext cx="493776" cy="49377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17904" y="2020824"/>
            <a:ext cx="2240280" cy="51206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F06F61"/>
                </a:solidFill>
                <a:latin typeface="Arial"/>
              </a:rPr>
              <a:t>CONTEXT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2798063"/>
            <a:ext cx="2834640" cy="16459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161B26"/>
                </a:solidFill>
                <a:latin typeface="Arial"/>
              </a:rPr>
              <a:t>A button moved between versions with no explanation or test evidence.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14400" y="4526280"/>
            <a:ext cx="2834640" cy="27432"/>
          </a:xfrm>
          <a:prstGeom prst="rect">
            <a:avLst/>
          </a:prstGeom>
          <a:solidFill>
            <a:srgbClr val="F06F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315968" y="1755648"/>
            <a:ext cx="3392424" cy="3127248"/>
          </a:xfrm>
          <a:prstGeom prst="rect">
            <a:avLst/>
          </a:prstGeom>
          <a:solidFill>
            <a:srgbClr val="FFFFFF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315968" y="1755648"/>
            <a:ext cx="3392424" cy="91440"/>
          </a:xfrm>
          <a:prstGeom prst="rect">
            <a:avLst/>
          </a:prstGeom>
          <a:solidFill>
            <a:srgbClr val="1098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4544568" y="2029968"/>
            <a:ext cx="493776" cy="493776"/>
          </a:xfrm>
          <a:prstGeom prst="ellipse">
            <a:avLst/>
          </a:prstGeom>
          <a:solidFill>
            <a:srgbClr val="1098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544568" y="2029968"/>
            <a:ext cx="493776" cy="49377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175504" y="2020824"/>
            <a:ext cx="2240280" cy="51206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10988A"/>
                </a:solidFill>
                <a:latin typeface="Arial"/>
              </a:rPr>
              <a:t>DESIGN MOVE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0" y="2798063"/>
            <a:ext cx="2834640" cy="16459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161B26"/>
                </a:solidFill>
                <a:latin typeface="Arial"/>
              </a:rPr>
              <a:t>Add a concise decision entry tied to the observed navigation problem.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572000" y="4526280"/>
            <a:ext cx="2834640" cy="27432"/>
          </a:xfrm>
          <a:prstGeom prst="rect">
            <a:avLst/>
          </a:prstGeom>
          <a:solidFill>
            <a:srgbClr val="1098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7973568" y="1755648"/>
            <a:ext cx="3392424" cy="3127248"/>
          </a:xfrm>
          <a:prstGeom prst="rect">
            <a:avLst/>
          </a:prstGeom>
          <a:solidFill>
            <a:srgbClr val="FFFFFF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973568" y="1755648"/>
            <a:ext cx="3392424" cy="91440"/>
          </a:xfrm>
          <a:prstGeom prst="rect">
            <a:avLst/>
          </a:prstGeom>
          <a:solidFill>
            <a:srgbClr val="724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8202168" y="2029968"/>
            <a:ext cx="493776" cy="493776"/>
          </a:xfrm>
          <a:prstGeom prst="ellipse">
            <a:avLst/>
          </a:prstGeom>
          <a:solidFill>
            <a:srgbClr val="724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202168" y="2029968"/>
            <a:ext cx="493776" cy="49377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833104" y="2020824"/>
            <a:ext cx="2240280" cy="51206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724CD6"/>
                </a:solidFill>
                <a:latin typeface="Arial"/>
              </a:rPr>
              <a:t>EVIDENCE STANDARD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229600" y="2798063"/>
            <a:ext cx="2834640" cy="16459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161B26"/>
                </a:solidFill>
                <a:latin typeface="Arial"/>
              </a:rPr>
              <a:t>Documentation preserves intent when people and tools change.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8229600" y="4526280"/>
            <a:ext cx="2834640" cy="27432"/>
          </a:xfrm>
          <a:prstGeom prst="rect">
            <a:avLst/>
          </a:prstGeom>
          <a:solidFill>
            <a:srgbClr val="724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58368" y="5102352"/>
            <a:ext cx="10835640" cy="56692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14400" y="5239512"/>
            <a:ext cx="10241280" cy="29260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250" b="1" i="0">
                <a:solidFill>
                  <a:srgbClr val="161B26"/>
                </a:solidFill>
                <a:latin typeface="Arial"/>
              </a:rPr>
              <a:t>Ask: what user outcome changes, and what evidence would prove it?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16845B"/>
                </a:solidFill>
                <a:latin typeface="Arial"/>
              </a:rPr>
              <a:t>MODULE 4 · PRINCIPLE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21792"/>
            <a:ext cx="10835640" cy="6583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 i="0">
                <a:solidFill>
                  <a:srgbClr val="161B26"/>
                </a:solidFill>
                <a:latin typeface="Arial"/>
              </a:rPr>
              <a:t>User guides are task support, not feature inventory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6419088"/>
            <a:ext cx="4663440" cy="2194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 i="0">
                <a:solidFill>
                  <a:srgbClr val="5B6372"/>
                </a:solidFill>
                <a:latin typeface="Arial"/>
              </a:rPr>
              <a:t>Claude Design for UX/UI · C744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89120" y="6419088"/>
            <a:ext cx="3657600" cy="2194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0" i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26679" y="6419088"/>
            <a:ext cx="2834640" cy="2194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730" b="0" i="1">
                <a:solidFill>
                  <a:srgbClr val="949DA9"/>
                </a:solidFill>
                <a:latin typeface="Arial"/>
              </a:rPr>
              <a:t>Microsoft; Maze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44200" y="6419088"/>
            <a:ext cx="731520" cy="2194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 i="0">
                <a:solidFill>
                  <a:srgbClr val="5B6372"/>
                </a:solidFill>
                <a:latin typeface="Arial"/>
              </a:rPr>
              <a:t>120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58368" y="1691640"/>
            <a:ext cx="2487168" cy="233172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58368" y="1691640"/>
            <a:ext cx="82296" cy="23317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877824" y="1874520"/>
            <a:ext cx="420624" cy="420624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77824" y="1874520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08176" y="1819656"/>
            <a:ext cx="1508760" cy="43891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320" b="1" i="0">
                <a:solidFill>
                  <a:srgbClr val="161B26"/>
                </a:solidFill>
                <a:latin typeface="Arial"/>
              </a:rPr>
              <a:t>Audience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2386584"/>
            <a:ext cx="1965960" cy="133502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070" b="0" i="0">
                <a:solidFill>
                  <a:srgbClr val="5B6372"/>
                </a:solidFill>
                <a:latin typeface="Arial"/>
              </a:rPr>
              <a:t>Use the language and context of the people performing the task.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14400" y="3703320"/>
            <a:ext cx="1078992" cy="25603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3703320"/>
            <a:ext cx="1078992" cy="25603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1" i="0">
                <a:solidFill>
                  <a:srgbClr val="FFFFFF"/>
                </a:solidFill>
                <a:latin typeface="Arial"/>
              </a:rPr>
              <a:t>DESIGN LENS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401568" y="1691640"/>
            <a:ext cx="2487168" cy="233172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401568" y="1691640"/>
            <a:ext cx="82296" cy="2331720"/>
          </a:xfrm>
          <a:prstGeom prst="rect">
            <a:avLst/>
          </a:prstGeom>
          <a:solidFill>
            <a:srgbClr val="724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3621024" y="1874520"/>
            <a:ext cx="420624" cy="420624"/>
          </a:xfrm>
          <a:prstGeom prst="ellipse">
            <a:avLst/>
          </a:prstGeom>
          <a:solidFill>
            <a:srgbClr val="724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621024" y="1874520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151376" y="1819656"/>
            <a:ext cx="1508760" cy="43891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320" b="1" i="0">
                <a:solidFill>
                  <a:srgbClr val="161B26"/>
                </a:solidFill>
                <a:latin typeface="Arial"/>
              </a:rPr>
              <a:t>Goal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657600" y="2386584"/>
            <a:ext cx="1965960" cy="133502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070" b="0" i="0">
                <a:solidFill>
                  <a:srgbClr val="5B6372"/>
                </a:solidFill>
                <a:latin typeface="Arial"/>
              </a:rPr>
              <a:t>Organise guidance around outcomes, not product architecture.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657600" y="3703320"/>
            <a:ext cx="1078992" cy="256032"/>
          </a:xfrm>
          <a:prstGeom prst="rect">
            <a:avLst/>
          </a:prstGeom>
          <a:solidFill>
            <a:srgbClr val="724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657600" y="3703320"/>
            <a:ext cx="1078992" cy="25603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1" i="0">
                <a:solidFill>
                  <a:srgbClr val="FFFFFF"/>
                </a:solidFill>
                <a:latin typeface="Arial"/>
              </a:rPr>
              <a:t>DESIGN LENS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144768" y="1691640"/>
            <a:ext cx="2487168" cy="233172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144768" y="1691640"/>
            <a:ext cx="82296" cy="2331720"/>
          </a:xfrm>
          <a:prstGeom prst="rect">
            <a:avLst/>
          </a:prstGeom>
          <a:solidFill>
            <a:srgbClr val="1098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6364224" y="1874520"/>
            <a:ext cx="420624" cy="420624"/>
          </a:xfrm>
          <a:prstGeom prst="ellipse">
            <a:avLst/>
          </a:prstGeom>
          <a:solidFill>
            <a:srgbClr val="1098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364224" y="1874520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894576" y="1819656"/>
            <a:ext cx="1508760" cy="43891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320" b="1" i="0">
                <a:solidFill>
                  <a:srgbClr val="161B26"/>
                </a:solidFill>
                <a:latin typeface="Arial"/>
              </a:rPr>
              <a:t>Action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00800" y="2386584"/>
            <a:ext cx="1965960" cy="133502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070" b="0" i="0">
                <a:solidFill>
                  <a:srgbClr val="5B6372"/>
                </a:solidFill>
                <a:latin typeface="Arial"/>
              </a:rPr>
              <a:t>Give a short sequence with visible checkpoints and recovery.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400800" y="3703320"/>
            <a:ext cx="1078992" cy="256032"/>
          </a:xfrm>
          <a:prstGeom prst="rect">
            <a:avLst/>
          </a:prstGeom>
          <a:solidFill>
            <a:srgbClr val="1098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400800" y="3703320"/>
            <a:ext cx="1078992" cy="25603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1" i="0">
                <a:solidFill>
                  <a:srgbClr val="FFFFFF"/>
                </a:solidFill>
                <a:latin typeface="Arial"/>
              </a:rPr>
              <a:t>DESIGN LENS</a:t>
            </a:r>
          </a:p>
        </p:txBody>
      </p:sp>
      <p:sp>
        <p:nvSpPr>
          <p:cNvPr id="35" name="Rectangle 34"/>
          <p:cNvSpPr/>
          <p:nvPr/>
        </p:nvSpPr>
        <p:spPr>
          <a:xfrm>
            <a:off x="8887968" y="1691640"/>
            <a:ext cx="2487168" cy="233172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8887968" y="1691640"/>
            <a:ext cx="82296" cy="2331720"/>
          </a:xfrm>
          <a:prstGeom prst="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9107424" y="1874520"/>
            <a:ext cx="420624" cy="420624"/>
          </a:xfrm>
          <a:prstGeom prst="ellipse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107424" y="1874520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637776" y="1819656"/>
            <a:ext cx="1508760" cy="43891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320" b="1" i="0">
                <a:solidFill>
                  <a:srgbClr val="161B26"/>
                </a:solidFill>
                <a:latin typeface="Arial"/>
              </a:rPr>
              <a:t>Maintenance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144000" y="2386584"/>
            <a:ext cx="1965960" cy="133502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070" b="0" i="0">
                <a:solidFill>
                  <a:srgbClr val="5B6372"/>
                </a:solidFill>
                <a:latin typeface="Arial"/>
              </a:rPr>
              <a:t>Link guidance to versions and update it when the interface changes.</a:t>
            </a:r>
          </a:p>
        </p:txBody>
      </p:sp>
      <p:sp>
        <p:nvSpPr>
          <p:cNvPr id="41" name="Rectangle 40"/>
          <p:cNvSpPr/>
          <p:nvPr/>
        </p:nvSpPr>
        <p:spPr>
          <a:xfrm>
            <a:off x="9144000" y="3703320"/>
            <a:ext cx="1078992" cy="256032"/>
          </a:xfrm>
          <a:prstGeom prst="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9144000" y="3703320"/>
            <a:ext cx="1078992" cy="25603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1" i="0">
                <a:solidFill>
                  <a:srgbClr val="FFFFFF"/>
                </a:solidFill>
                <a:latin typeface="Arial"/>
              </a:rPr>
              <a:t>DESIGN LENS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58368" y="4315968"/>
            <a:ext cx="10835640" cy="13258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914400" y="4480560"/>
            <a:ext cx="1828800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 i="0">
                <a:solidFill>
                  <a:srgbClr val="16845B"/>
                </a:solidFill>
                <a:latin typeface="Arial"/>
              </a:rPr>
              <a:t>SYNTHESIS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14400" y="4846320"/>
            <a:ext cx="10195560" cy="56692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 i="0">
                <a:solidFill>
                  <a:srgbClr val="161B26"/>
                </a:solidFill>
                <a:latin typeface="Arial"/>
              </a:rPr>
              <a:t>Use the language and context of the people performing the task; link guidance to versions and update it when the interface changes.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16845B"/>
                </a:solidFill>
                <a:latin typeface="Arial"/>
              </a:rPr>
              <a:t>MODULE 4 · WORKED EXAMPLE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21792"/>
            <a:ext cx="10835640" cy="6583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1" i="0">
                <a:solidFill>
                  <a:srgbClr val="161B26"/>
                </a:solidFill>
                <a:latin typeface="Arial"/>
              </a:rPr>
              <a:t>User guides are task support, not feature inventory — applied pattern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6419088"/>
            <a:ext cx="4663440" cy="2194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 i="0">
                <a:solidFill>
                  <a:srgbClr val="5B6372"/>
                </a:solidFill>
                <a:latin typeface="Arial"/>
              </a:rPr>
              <a:t>Claude Design for UX/UI · C744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89120" y="6419088"/>
            <a:ext cx="3657600" cy="2194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0" i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26679" y="6419088"/>
            <a:ext cx="2834640" cy="2194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730" b="0" i="1">
                <a:solidFill>
                  <a:srgbClr val="949DA9"/>
                </a:solidFill>
                <a:latin typeface="Arial"/>
              </a:rPr>
              <a:t>Microsoft; Maze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44200" y="6419088"/>
            <a:ext cx="731520" cy="2194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 i="0">
                <a:solidFill>
                  <a:srgbClr val="5B6372"/>
                </a:solidFill>
                <a:latin typeface="Arial"/>
              </a:rPr>
              <a:t>121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58368" y="1719072"/>
            <a:ext cx="6446520" cy="416052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58368" y="1719072"/>
            <a:ext cx="91440" cy="4160520"/>
          </a:xfrm>
          <a:prstGeom prst="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32688" y="1938528"/>
            <a:ext cx="5897880" cy="35204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0"/>
              </a:spcAft>
            </a:pPr>
            <a:r>
              <a:rPr sz="1220" b="0" i="0">
                <a:solidFill>
                  <a:srgbClr val="D6E4FF"/>
                </a:solidFill>
                <a:latin typeface="Consolas"/>
              </a:rPr>
              <a:t>## Book an appointment
1. Choose a service and available time.
2. Review your details and select Confirm.
3. Check for the confirmation message.
If the slot is no longer available, select another suggested time; your details remain saved.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388352" y="1719072"/>
            <a:ext cx="4105656" cy="120700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388352" y="1719072"/>
            <a:ext cx="82296" cy="120700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7626096" y="1920240"/>
            <a:ext cx="411480" cy="41148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626096" y="1920240"/>
            <a:ext cx="411480" cy="4114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11312" y="1883664"/>
            <a:ext cx="2944368" cy="76809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161B26"/>
                </a:solidFill>
                <a:latin typeface="Arial"/>
              </a:rPr>
              <a:t>Organise by outcome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388352" y="3099815"/>
            <a:ext cx="4105656" cy="120700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7388352" y="3099815"/>
            <a:ext cx="82296" cy="1207008"/>
          </a:xfrm>
          <a:prstGeom prst="rect">
            <a:avLst/>
          </a:prstGeom>
          <a:solidFill>
            <a:srgbClr val="724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7626096" y="3300984"/>
            <a:ext cx="411480" cy="411480"/>
          </a:xfrm>
          <a:prstGeom prst="ellipse">
            <a:avLst/>
          </a:prstGeom>
          <a:solidFill>
            <a:srgbClr val="724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626096" y="3300984"/>
            <a:ext cx="411480" cy="4114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11312" y="3264408"/>
            <a:ext cx="2944368" cy="76809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161B26"/>
                </a:solidFill>
                <a:latin typeface="Arial"/>
              </a:rPr>
              <a:t>Give checkpoints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388352" y="4480559"/>
            <a:ext cx="4105656" cy="120700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7388352" y="4480559"/>
            <a:ext cx="82296" cy="1207008"/>
          </a:xfrm>
          <a:prstGeom prst="rect">
            <a:avLst/>
          </a:prstGeom>
          <a:solidFill>
            <a:srgbClr val="1098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7626096" y="4681727"/>
            <a:ext cx="411480" cy="411480"/>
          </a:xfrm>
          <a:prstGeom prst="ellipse">
            <a:avLst/>
          </a:prstGeom>
          <a:solidFill>
            <a:srgbClr val="1098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626096" y="4681727"/>
            <a:ext cx="411480" cy="4114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211312" y="4645151"/>
            <a:ext cx="2944368" cy="76809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161B26"/>
                </a:solidFill>
                <a:latin typeface="Arial"/>
              </a:rPr>
              <a:t>Include recovery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16845B"/>
                </a:solidFill>
                <a:latin typeface="Arial"/>
              </a:rPr>
              <a:t>MODULE 4 · PRINCIPLE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21792"/>
            <a:ext cx="10835640" cy="6583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 i="0">
                <a:solidFill>
                  <a:srgbClr val="161B26"/>
                </a:solidFill>
                <a:latin typeface="Arial"/>
              </a:rPr>
              <a:t>Case study: community wellness mobile flow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6419088"/>
            <a:ext cx="4663440" cy="2194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 i="0">
                <a:solidFill>
                  <a:srgbClr val="5B6372"/>
                </a:solidFill>
                <a:latin typeface="Arial"/>
              </a:rPr>
              <a:t>Claude Design for UX/UI · C744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89120" y="6419088"/>
            <a:ext cx="3657600" cy="2194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0" i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26679" y="6419088"/>
            <a:ext cx="2834640" cy="2194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730" b="0" i="1">
                <a:solidFill>
                  <a:srgbClr val="949DA9"/>
                </a:solidFill>
                <a:latin typeface="Arial"/>
              </a:rPr>
              <a:t>Course case study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44200" y="6419088"/>
            <a:ext cx="731520" cy="2194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 i="0">
                <a:solidFill>
                  <a:srgbClr val="5B6372"/>
                </a:solidFill>
                <a:latin typeface="Arial"/>
              </a:rPr>
              <a:t>122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58368" y="1691640"/>
            <a:ext cx="2487168" cy="233172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58368" y="1691640"/>
            <a:ext cx="82296" cy="23317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877824" y="1874520"/>
            <a:ext cx="420624" cy="420624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77824" y="1874520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08176" y="1819656"/>
            <a:ext cx="1508760" cy="43891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320" b="1" i="0">
                <a:solidFill>
                  <a:srgbClr val="161B26"/>
                </a:solidFill>
                <a:latin typeface="Arial"/>
              </a:rPr>
              <a:t>Need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2386584"/>
            <a:ext cx="1965960" cy="133502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070" b="0" i="0">
                <a:solidFill>
                  <a:srgbClr val="5B6372"/>
                </a:solidFill>
                <a:latin typeface="Arial"/>
              </a:rPr>
              <a:t>Support users with varied confidence, vision and health literacy.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14400" y="3703320"/>
            <a:ext cx="1078992" cy="25603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3703320"/>
            <a:ext cx="1078992" cy="25603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1" i="0">
                <a:solidFill>
                  <a:srgbClr val="FFFFFF"/>
                </a:solidFill>
                <a:latin typeface="Arial"/>
              </a:rPr>
              <a:t>DESIGN LENS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401568" y="1691640"/>
            <a:ext cx="2487168" cy="233172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401568" y="1691640"/>
            <a:ext cx="82296" cy="2331720"/>
          </a:xfrm>
          <a:prstGeom prst="rect">
            <a:avLst/>
          </a:prstGeom>
          <a:solidFill>
            <a:srgbClr val="724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3621024" y="1874520"/>
            <a:ext cx="420624" cy="420624"/>
          </a:xfrm>
          <a:prstGeom prst="ellipse">
            <a:avLst/>
          </a:prstGeom>
          <a:solidFill>
            <a:srgbClr val="724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621024" y="1874520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151376" y="1819656"/>
            <a:ext cx="1508760" cy="43891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320" b="1" i="0">
                <a:solidFill>
                  <a:srgbClr val="161B26"/>
                </a:solidFill>
                <a:latin typeface="Arial"/>
              </a:rPr>
              <a:t>Flow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657600" y="2386584"/>
            <a:ext cx="1965960" cy="133502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070" b="0" i="0">
                <a:solidFill>
                  <a:srgbClr val="5B6372"/>
                </a:solidFill>
                <a:latin typeface="Arial"/>
              </a:rPr>
              <a:t>Onboarding → daily overview → appointment selection → confirmation.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657600" y="3703320"/>
            <a:ext cx="1078992" cy="256032"/>
          </a:xfrm>
          <a:prstGeom prst="rect">
            <a:avLst/>
          </a:prstGeom>
          <a:solidFill>
            <a:srgbClr val="724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657600" y="3703320"/>
            <a:ext cx="1078992" cy="25603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1" i="0">
                <a:solidFill>
                  <a:srgbClr val="FFFFFF"/>
                </a:solidFill>
                <a:latin typeface="Arial"/>
              </a:rPr>
              <a:t>DESIGN LENS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144768" y="1691640"/>
            <a:ext cx="2487168" cy="233172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144768" y="1691640"/>
            <a:ext cx="82296" cy="2331720"/>
          </a:xfrm>
          <a:prstGeom prst="rect">
            <a:avLst/>
          </a:prstGeom>
          <a:solidFill>
            <a:srgbClr val="1098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6364224" y="1874520"/>
            <a:ext cx="420624" cy="420624"/>
          </a:xfrm>
          <a:prstGeom prst="ellipse">
            <a:avLst/>
          </a:prstGeom>
          <a:solidFill>
            <a:srgbClr val="1098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364224" y="1874520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894576" y="1819656"/>
            <a:ext cx="1508760" cy="43891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320" b="1" i="0">
                <a:solidFill>
                  <a:srgbClr val="161B26"/>
                </a:solidFill>
                <a:latin typeface="Arial"/>
              </a:rPr>
              <a:t>System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00800" y="2386584"/>
            <a:ext cx="1965960" cy="133502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070" b="0" i="0">
                <a:solidFill>
                  <a:srgbClr val="5B6372"/>
                </a:solidFill>
                <a:latin typeface="Arial"/>
              </a:rPr>
              <a:t>Reusable navigation, cards, progress, support and error components.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400800" y="3703320"/>
            <a:ext cx="1078992" cy="256032"/>
          </a:xfrm>
          <a:prstGeom prst="rect">
            <a:avLst/>
          </a:prstGeom>
          <a:solidFill>
            <a:srgbClr val="1098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400800" y="3703320"/>
            <a:ext cx="1078992" cy="25603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1" i="0">
                <a:solidFill>
                  <a:srgbClr val="FFFFFF"/>
                </a:solidFill>
                <a:latin typeface="Arial"/>
              </a:rPr>
              <a:t>DESIGN LENS</a:t>
            </a:r>
          </a:p>
        </p:txBody>
      </p:sp>
      <p:sp>
        <p:nvSpPr>
          <p:cNvPr id="35" name="Rectangle 34"/>
          <p:cNvSpPr/>
          <p:nvPr/>
        </p:nvSpPr>
        <p:spPr>
          <a:xfrm>
            <a:off x="8887968" y="1691640"/>
            <a:ext cx="2487168" cy="233172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8887968" y="1691640"/>
            <a:ext cx="82296" cy="2331720"/>
          </a:xfrm>
          <a:prstGeom prst="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9107424" y="1874520"/>
            <a:ext cx="420624" cy="420624"/>
          </a:xfrm>
          <a:prstGeom prst="ellipse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107424" y="1874520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637776" y="1819656"/>
            <a:ext cx="1508760" cy="43891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320" b="1" i="0">
                <a:solidFill>
                  <a:srgbClr val="161B26"/>
                </a:solidFill>
                <a:latin typeface="Arial"/>
              </a:rPr>
              <a:t>Evidence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144000" y="2386584"/>
            <a:ext cx="1965960" cy="133502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070" b="0" i="0">
                <a:solidFill>
                  <a:srgbClr val="5B6372"/>
                </a:solidFill>
                <a:latin typeface="Arial"/>
              </a:rPr>
              <a:t>Task success, error recovery, focus order and language comprehension.</a:t>
            </a:r>
          </a:p>
        </p:txBody>
      </p:sp>
      <p:sp>
        <p:nvSpPr>
          <p:cNvPr id="41" name="Rectangle 40"/>
          <p:cNvSpPr/>
          <p:nvPr/>
        </p:nvSpPr>
        <p:spPr>
          <a:xfrm>
            <a:off x="9144000" y="3703320"/>
            <a:ext cx="1078992" cy="256032"/>
          </a:xfrm>
          <a:prstGeom prst="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9144000" y="3703320"/>
            <a:ext cx="1078992" cy="25603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1" i="0">
                <a:solidFill>
                  <a:srgbClr val="FFFFFF"/>
                </a:solidFill>
                <a:latin typeface="Arial"/>
              </a:rPr>
              <a:t>DESIGN LENS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58368" y="4315968"/>
            <a:ext cx="10835640" cy="13258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914400" y="4480560"/>
            <a:ext cx="1828800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 i="0">
                <a:solidFill>
                  <a:srgbClr val="16845B"/>
                </a:solidFill>
                <a:latin typeface="Arial"/>
              </a:rPr>
              <a:t>SYNTHESIS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14400" y="4846320"/>
            <a:ext cx="10195560" cy="56692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 i="0">
                <a:solidFill>
                  <a:srgbClr val="161B26"/>
                </a:solidFill>
                <a:latin typeface="Arial"/>
              </a:rPr>
              <a:t>Support users with varied confidence, vision and health literacy; task success, error recovery, focus order and language comprehension.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16845B"/>
                </a:solidFill>
                <a:latin typeface="Arial"/>
              </a:rPr>
              <a:t>MODULE 4 · REAL-LIFE CASE STUDY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21792"/>
            <a:ext cx="10835640" cy="6583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 i="0">
                <a:solidFill>
                  <a:srgbClr val="161B26"/>
                </a:solidFill>
                <a:latin typeface="Arial"/>
              </a:rPr>
              <a:t>Case study: community wellness mobile flow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6419088"/>
            <a:ext cx="4663440" cy="2194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 i="0">
                <a:solidFill>
                  <a:srgbClr val="5B6372"/>
                </a:solidFill>
                <a:latin typeface="Arial"/>
              </a:rPr>
              <a:t>Claude Design for UX/UI · C744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89120" y="6419088"/>
            <a:ext cx="3657600" cy="2194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0" i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26679" y="6419088"/>
            <a:ext cx="2834640" cy="2194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730" b="0" i="1">
                <a:solidFill>
                  <a:srgbClr val="949DA9"/>
                </a:solidFill>
                <a:latin typeface="Arial"/>
              </a:rPr>
              <a:t>Course case study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44200" y="6419088"/>
            <a:ext cx="731520" cy="2194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 i="0">
                <a:solidFill>
                  <a:srgbClr val="5B6372"/>
                </a:solidFill>
                <a:latin typeface="Arial"/>
              </a:rPr>
              <a:t>123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58368" y="1719072"/>
            <a:ext cx="4069080" cy="4133087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32688" y="1956816"/>
            <a:ext cx="3493008" cy="2194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 i="0">
                <a:solidFill>
                  <a:srgbClr val="F06F61"/>
                </a:solidFill>
                <a:latin typeface="Arial"/>
              </a:rPr>
              <a:t>CONTEXT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32688" y="2258568"/>
            <a:ext cx="3493008" cy="7132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161B26"/>
                </a:solidFill>
                <a:latin typeface="Arial"/>
              </a:rPr>
              <a:t>An appointment slot becomes unavailable after the user selects it.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32688" y="3209544"/>
            <a:ext cx="3493008" cy="2194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 i="0">
                <a:solidFill>
                  <a:srgbClr val="10988A"/>
                </a:solidFill>
                <a:latin typeface="Arial"/>
              </a:rPr>
              <a:t>DESIGN MOVE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2688" y="3511296"/>
            <a:ext cx="3493008" cy="7132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 i="0">
                <a:solidFill>
                  <a:srgbClr val="5B6372"/>
                </a:solidFill>
                <a:latin typeface="Arial"/>
              </a:rPr>
              <a:t>Preserve the user's choices, explain the conflict and offer the nearest valid options.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32688" y="4471416"/>
            <a:ext cx="3493008" cy="2194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 i="0">
                <a:solidFill>
                  <a:srgbClr val="724CD6"/>
                </a:solidFill>
                <a:latin typeface="Arial"/>
              </a:rPr>
              <a:t>EVIDENCE STANDARD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32688" y="4773168"/>
            <a:ext cx="3493008" cy="6583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 i="0">
                <a:solidFill>
                  <a:srgbClr val="161B26"/>
                </a:solidFill>
                <a:latin typeface="Arial"/>
              </a:rPr>
              <a:t>Resilient states matter more than the perfect happy path.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10912" y="1719072"/>
            <a:ext cx="6483096" cy="4133087"/>
          </a:xfrm>
          <a:prstGeom prst="rect">
            <a:avLst/>
          </a:prstGeom>
          <a:solidFill>
            <a:srgbClr val="FFFFFF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9" name="Picture 18" descr="case-wellness-mobi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13249" y="1883664"/>
            <a:ext cx="5678422" cy="3785615"/>
          </a:xfrm>
          <a:prstGeom prst="rect">
            <a:avLst/>
          </a:prstGeom>
        </p:spPr>
      </p:pic>
    </p:spTree>
  </p:cSld>
  <p:clrMapOvr>
    <a:masterClrMapping/>
  </p:clrMapOvr>
  <p:transition spd="fast" advClick="1">
    <p:fade/>
  </p:transition>
</p:sld>
</file>

<file path=ppt/slides/slide1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16845B"/>
                </a:solidFill>
                <a:latin typeface="Arial"/>
              </a:rPr>
              <a:t>MODULE 4 · PRINCIPLE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21792"/>
            <a:ext cx="10835640" cy="6583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 i="0">
                <a:solidFill>
                  <a:srgbClr val="161B26"/>
                </a:solidFill>
                <a:latin typeface="Arial"/>
              </a:rPr>
              <a:t>Case study: sustainable retail operations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6419088"/>
            <a:ext cx="4663440" cy="2194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 i="0">
                <a:solidFill>
                  <a:srgbClr val="5B6372"/>
                </a:solidFill>
                <a:latin typeface="Arial"/>
              </a:rPr>
              <a:t>Claude Design for UX/UI · C744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89120" y="6419088"/>
            <a:ext cx="3657600" cy="2194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0" i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26679" y="6419088"/>
            <a:ext cx="2834640" cy="2194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730" b="0" i="1">
                <a:solidFill>
                  <a:srgbClr val="949DA9"/>
                </a:solidFill>
                <a:latin typeface="Arial"/>
              </a:rPr>
              <a:t>Course case study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44200" y="6419088"/>
            <a:ext cx="731520" cy="2194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 i="0">
                <a:solidFill>
                  <a:srgbClr val="5B6372"/>
                </a:solidFill>
                <a:latin typeface="Arial"/>
              </a:rPr>
              <a:t>124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58368" y="1691640"/>
            <a:ext cx="2487168" cy="233172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58368" y="1691640"/>
            <a:ext cx="82296" cy="23317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877824" y="1874520"/>
            <a:ext cx="420624" cy="420624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77824" y="1874520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08176" y="1819656"/>
            <a:ext cx="1508760" cy="43891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320" b="1" i="0">
                <a:solidFill>
                  <a:srgbClr val="161B26"/>
                </a:solidFill>
                <a:latin typeface="Arial"/>
              </a:rPr>
              <a:t>Need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2386584"/>
            <a:ext cx="1965960" cy="133502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070" b="0" i="0">
                <a:solidFill>
                  <a:srgbClr val="5B6372"/>
                </a:solidFill>
                <a:latin typeface="Arial"/>
              </a:rPr>
              <a:t>Help an operations manager spot exceptions and approve work quickly.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14400" y="3703320"/>
            <a:ext cx="1078992" cy="25603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3703320"/>
            <a:ext cx="1078992" cy="25603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1" i="0">
                <a:solidFill>
                  <a:srgbClr val="FFFFFF"/>
                </a:solidFill>
                <a:latin typeface="Arial"/>
              </a:rPr>
              <a:t>DESIGN LENS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401568" y="1691640"/>
            <a:ext cx="2487168" cy="233172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401568" y="1691640"/>
            <a:ext cx="82296" cy="2331720"/>
          </a:xfrm>
          <a:prstGeom prst="rect">
            <a:avLst/>
          </a:prstGeom>
          <a:solidFill>
            <a:srgbClr val="724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3621024" y="1874520"/>
            <a:ext cx="420624" cy="420624"/>
          </a:xfrm>
          <a:prstGeom prst="ellipse">
            <a:avLst/>
          </a:prstGeom>
          <a:solidFill>
            <a:srgbClr val="724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621024" y="1874520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151376" y="1819656"/>
            <a:ext cx="1508760" cy="43891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320" b="1" i="0">
                <a:solidFill>
                  <a:srgbClr val="161B26"/>
                </a:solidFill>
                <a:latin typeface="Arial"/>
              </a:rPr>
              <a:t>Hierarchy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657600" y="2386584"/>
            <a:ext cx="1965960" cy="133502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070" b="0" i="0">
                <a:solidFill>
                  <a:srgbClr val="5B6372"/>
                </a:solidFill>
                <a:latin typeface="Arial"/>
              </a:rPr>
              <a:t>Status cards lead to exception details and an approval queue.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657600" y="3703320"/>
            <a:ext cx="1078992" cy="256032"/>
          </a:xfrm>
          <a:prstGeom prst="rect">
            <a:avLst/>
          </a:prstGeom>
          <a:solidFill>
            <a:srgbClr val="724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657600" y="3703320"/>
            <a:ext cx="1078992" cy="25603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1" i="0">
                <a:solidFill>
                  <a:srgbClr val="FFFFFF"/>
                </a:solidFill>
                <a:latin typeface="Arial"/>
              </a:rPr>
              <a:t>DESIGN LENS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144768" y="1691640"/>
            <a:ext cx="2487168" cy="233172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144768" y="1691640"/>
            <a:ext cx="82296" cy="2331720"/>
          </a:xfrm>
          <a:prstGeom prst="rect">
            <a:avLst/>
          </a:prstGeom>
          <a:solidFill>
            <a:srgbClr val="1098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6364224" y="1874520"/>
            <a:ext cx="420624" cy="420624"/>
          </a:xfrm>
          <a:prstGeom prst="ellipse">
            <a:avLst/>
          </a:prstGeom>
          <a:solidFill>
            <a:srgbClr val="1098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364224" y="1874520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894576" y="1819656"/>
            <a:ext cx="1508760" cy="43891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320" b="1" i="0">
                <a:solidFill>
                  <a:srgbClr val="161B26"/>
                </a:solidFill>
                <a:latin typeface="Arial"/>
              </a:rPr>
              <a:t>States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00800" y="2386584"/>
            <a:ext cx="1965960" cy="133502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070" b="0" i="0">
                <a:solidFill>
                  <a:srgbClr val="5B6372"/>
                </a:solidFill>
                <a:latin typeface="Arial"/>
              </a:rPr>
              <a:t>Normal, empty, loading, error and focus behaviour are all represented.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400800" y="3703320"/>
            <a:ext cx="1078992" cy="256032"/>
          </a:xfrm>
          <a:prstGeom prst="rect">
            <a:avLst/>
          </a:prstGeom>
          <a:solidFill>
            <a:srgbClr val="1098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400800" y="3703320"/>
            <a:ext cx="1078992" cy="25603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1" i="0">
                <a:solidFill>
                  <a:srgbClr val="FFFFFF"/>
                </a:solidFill>
                <a:latin typeface="Arial"/>
              </a:rPr>
              <a:t>DESIGN LENS</a:t>
            </a:r>
          </a:p>
        </p:txBody>
      </p:sp>
      <p:sp>
        <p:nvSpPr>
          <p:cNvPr id="35" name="Rectangle 34"/>
          <p:cNvSpPr/>
          <p:nvPr/>
        </p:nvSpPr>
        <p:spPr>
          <a:xfrm>
            <a:off x="8887968" y="1691640"/>
            <a:ext cx="2487168" cy="233172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8887968" y="1691640"/>
            <a:ext cx="82296" cy="2331720"/>
          </a:xfrm>
          <a:prstGeom prst="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9107424" y="1874520"/>
            <a:ext cx="420624" cy="420624"/>
          </a:xfrm>
          <a:prstGeom prst="ellipse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107424" y="1874520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637776" y="1819656"/>
            <a:ext cx="1508760" cy="43891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320" b="1" i="0">
                <a:solidFill>
                  <a:srgbClr val="161B26"/>
                </a:solidFill>
                <a:latin typeface="Arial"/>
              </a:rPr>
              <a:t>Evidence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144000" y="2386584"/>
            <a:ext cx="1965960" cy="133502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070" b="0" i="0">
                <a:solidFill>
                  <a:srgbClr val="5B6372"/>
                </a:solidFill>
                <a:latin typeface="Arial"/>
              </a:rPr>
              <a:t>Time to detect risk, approval accuracy and keyboard completion.</a:t>
            </a:r>
          </a:p>
        </p:txBody>
      </p:sp>
      <p:sp>
        <p:nvSpPr>
          <p:cNvPr id="41" name="Rectangle 40"/>
          <p:cNvSpPr/>
          <p:nvPr/>
        </p:nvSpPr>
        <p:spPr>
          <a:xfrm>
            <a:off x="9144000" y="3703320"/>
            <a:ext cx="1078992" cy="256032"/>
          </a:xfrm>
          <a:prstGeom prst="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9144000" y="3703320"/>
            <a:ext cx="1078992" cy="25603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1" i="0">
                <a:solidFill>
                  <a:srgbClr val="FFFFFF"/>
                </a:solidFill>
                <a:latin typeface="Arial"/>
              </a:rPr>
              <a:t>DESIGN LENS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58368" y="4315968"/>
            <a:ext cx="10835640" cy="13258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914400" y="4480560"/>
            <a:ext cx="1828800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 i="0">
                <a:solidFill>
                  <a:srgbClr val="16845B"/>
                </a:solidFill>
                <a:latin typeface="Arial"/>
              </a:rPr>
              <a:t>SYNTHESIS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14400" y="4846320"/>
            <a:ext cx="10195560" cy="56692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 i="0">
                <a:solidFill>
                  <a:srgbClr val="161B26"/>
                </a:solidFill>
                <a:latin typeface="Arial"/>
              </a:rPr>
              <a:t>Help an operations manager spot exceptions and approve work quickly; time to detect risk, approval accuracy and keyboard completion.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16845B"/>
                </a:solidFill>
                <a:latin typeface="Arial"/>
              </a:rPr>
              <a:t>MODULE 4 · REAL-LIFE CASE STUDY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21792"/>
            <a:ext cx="10835640" cy="6583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 i="0">
                <a:solidFill>
                  <a:srgbClr val="161B26"/>
                </a:solidFill>
                <a:latin typeface="Arial"/>
              </a:rPr>
              <a:t>Case study: sustainable retail operations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6419088"/>
            <a:ext cx="4663440" cy="2194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 i="0">
                <a:solidFill>
                  <a:srgbClr val="5B6372"/>
                </a:solidFill>
                <a:latin typeface="Arial"/>
              </a:rPr>
              <a:t>Claude Design for UX/UI · C744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89120" y="6419088"/>
            <a:ext cx="3657600" cy="2194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0" i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26679" y="6419088"/>
            <a:ext cx="2834640" cy="2194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730" b="0" i="1">
                <a:solidFill>
                  <a:srgbClr val="949DA9"/>
                </a:solidFill>
                <a:latin typeface="Arial"/>
              </a:rPr>
              <a:t>Course case study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44200" y="6419088"/>
            <a:ext cx="731520" cy="2194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 i="0">
                <a:solidFill>
                  <a:srgbClr val="5B6372"/>
                </a:solidFill>
                <a:latin typeface="Arial"/>
              </a:rPr>
              <a:t>125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58368" y="1719072"/>
            <a:ext cx="4069080" cy="4133087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32688" y="1956816"/>
            <a:ext cx="3493008" cy="2194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 i="0">
                <a:solidFill>
                  <a:srgbClr val="F06F61"/>
                </a:solidFill>
                <a:latin typeface="Arial"/>
              </a:rPr>
              <a:t>CONTEXT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32688" y="2258568"/>
            <a:ext cx="3493008" cy="7132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161B26"/>
                </a:solidFill>
                <a:latin typeface="Arial"/>
              </a:rPr>
              <a:t>An approval card highlights amount but hides risk and requester context.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32688" y="3209544"/>
            <a:ext cx="3493008" cy="2194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 i="0">
                <a:solidFill>
                  <a:srgbClr val="10988A"/>
                </a:solidFill>
                <a:latin typeface="Arial"/>
              </a:rPr>
              <a:t>DESIGN MOVE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2688" y="3511296"/>
            <a:ext cx="3493008" cy="7132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 i="0">
                <a:solidFill>
                  <a:srgbClr val="5B6372"/>
                </a:solidFill>
                <a:latin typeface="Arial"/>
              </a:rPr>
              <a:t>Reorder information around the approval decision and show exception severity consistently.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32688" y="4471416"/>
            <a:ext cx="3493008" cy="2194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 i="0">
                <a:solidFill>
                  <a:srgbClr val="724CD6"/>
                </a:solidFill>
                <a:latin typeface="Arial"/>
              </a:rPr>
              <a:t>EVIDENCE STANDARD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32688" y="4773168"/>
            <a:ext cx="3493008" cy="6583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 i="0">
                <a:solidFill>
                  <a:srgbClr val="161B26"/>
                </a:solidFill>
                <a:latin typeface="Arial"/>
              </a:rPr>
              <a:t>A dashboard earns its density by supporting real decisions.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10912" y="1719072"/>
            <a:ext cx="6483096" cy="4133087"/>
          </a:xfrm>
          <a:prstGeom prst="rect">
            <a:avLst/>
          </a:prstGeom>
          <a:solidFill>
            <a:srgbClr val="FFFFFF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9" name="Picture 18" descr="case-operations-dashbo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12080" y="2065349"/>
            <a:ext cx="6080760" cy="3422245"/>
          </a:xfrm>
          <a:prstGeom prst="rect">
            <a:avLst/>
          </a:prstGeom>
        </p:spPr>
      </p:pic>
    </p:spTree>
  </p:cSld>
  <p:clrMapOvr>
    <a:masterClrMapping/>
  </p:clrMapOvr>
  <p:transition spd="fast" advClick="1">
    <p:fade/>
  </p:transition>
</p:sld>
</file>

<file path=ppt/slides/slide1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16845B"/>
                </a:solidFill>
                <a:latin typeface="Arial"/>
              </a:rPr>
              <a:t>MODULE 4 · PRINCIPLE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21792"/>
            <a:ext cx="10835640" cy="6583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 i="0">
                <a:solidFill>
                  <a:srgbClr val="161B26"/>
                </a:solidFill>
                <a:latin typeface="Arial"/>
              </a:rPr>
              <a:t>Governance protects design quality at scale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6419088"/>
            <a:ext cx="4663440" cy="2194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 i="0">
                <a:solidFill>
                  <a:srgbClr val="5B6372"/>
                </a:solidFill>
                <a:latin typeface="Arial"/>
              </a:rPr>
              <a:t>Claude Design for UX/UI · C744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89120" y="6419088"/>
            <a:ext cx="3657600" cy="2194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0" i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26679" y="6419088"/>
            <a:ext cx="2834640" cy="2194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730" b="0" i="1">
                <a:solidFill>
                  <a:srgbClr val="949DA9"/>
                </a:solidFill>
                <a:latin typeface="Arial"/>
              </a:rPr>
              <a:t>Microsoft; Anthropic Help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44200" y="6419088"/>
            <a:ext cx="731520" cy="2194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 i="0">
                <a:solidFill>
                  <a:srgbClr val="5B6372"/>
                </a:solidFill>
                <a:latin typeface="Arial"/>
              </a:rPr>
              <a:t>126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58368" y="1691640"/>
            <a:ext cx="2487168" cy="233172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58368" y="1691640"/>
            <a:ext cx="82296" cy="23317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877824" y="1874520"/>
            <a:ext cx="420624" cy="420624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77824" y="1874520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08176" y="1819656"/>
            <a:ext cx="1508760" cy="43891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320" b="1" i="0">
                <a:solidFill>
                  <a:srgbClr val="161B26"/>
                </a:solidFill>
                <a:latin typeface="Arial"/>
              </a:rPr>
              <a:t>Ownership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2386584"/>
            <a:ext cx="1965960" cy="133502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070" b="0" i="0">
                <a:solidFill>
                  <a:srgbClr val="5B6372"/>
                </a:solidFill>
                <a:latin typeface="Arial"/>
              </a:rPr>
              <a:t>Name who approves tokens, components, content and accessibility rules.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14400" y="3703320"/>
            <a:ext cx="1078992" cy="25603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3703320"/>
            <a:ext cx="1078992" cy="25603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1" i="0">
                <a:solidFill>
                  <a:srgbClr val="FFFFFF"/>
                </a:solidFill>
                <a:latin typeface="Arial"/>
              </a:rPr>
              <a:t>DESIGN LENS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401568" y="1691640"/>
            <a:ext cx="2487168" cy="233172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401568" y="1691640"/>
            <a:ext cx="82296" cy="2331720"/>
          </a:xfrm>
          <a:prstGeom prst="rect">
            <a:avLst/>
          </a:prstGeom>
          <a:solidFill>
            <a:srgbClr val="724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3621024" y="1874520"/>
            <a:ext cx="420624" cy="420624"/>
          </a:xfrm>
          <a:prstGeom prst="ellipse">
            <a:avLst/>
          </a:prstGeom>
          <a:solidFill>
            <a:srgbClr val="724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621024" y="1874520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151376" y="1819656"/>
            <a:ext cx="1508760" cy="43891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320" b="1" i="0">
                <a:solidFill>
                  <a:srgbClr val="161B26"/>
                </a:solidFill>
                <a:latin typeface="Arial"/>
              </a:rPr>
              <a:t>Change control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657600" y="2386584"/>
            <a:ext cx="1965960" cy="133502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070" b="0" i="0">
                <a:solidFill>
                  <a:srgbClr val="5B6372"/>
                </a:solidFill>
                <a:latin typeface="Arial"/>
              </a:rPr>
              <a:t>Review impact before modifying widely reused patterns.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657600" y="3703320"/>
            <a:ext cx="1078992" cy="256032"/>
          </a:xfrm>
          <a:prstGeom prst="rect">
            <a:avLst/>
          </a:prstGeom>
          <a:solidFill>
            <a:srgbClr val="724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657600" y="3703320"/>
            <a:ext cx="1078992" cy="25603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1" i="0">
                <a:solidFill>
                  <a:srgbClr val="FFFFFF"/>
                </a:solidFill>
                <a:latin typeface="Arial"/>
              </a:rPr>
              <a:t>DESIGN LENS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144768" y="1691640"/>
            <a:ext cx="2487168" cy="233172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144768" y="1691640"/>
            <a:ext cx="82296" cy="2331720"/>
          </a:xfrm>
          <a:prstGeom prst="rect">
            <a:avLst/>
          </a:prstGeom>
          <a:solidFill>
            <a:srgbClr val="1098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6364224" y="1874520"/>
            <a:ext cx="420624" cy="420624"/>
          </a:xfrm>
          <a:prstGeom prst="ellipse">
            <a:avLst/>
          </a:prstGeom>
          <a:solidFill>
            <a:srgbClr val="1098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364224" y="1874520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894576" y="1819656"/>
            <a:ext cx="1508760" cy="43891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320" b="1" i="0">
                <a:solidFill>
                  <a:srgbClr val="161B26"/>
                </a:solidFill>
                <a:latin typeface="Arial"/>
              </a:rPr>
              <a:t>Privacy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00800" y="2386584"/>
            <a:ext cx="1965960" cy="133502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070" b="0" i="0">
                <a:solidFill>
                  <a:srgbClr val="5B6372"/>
                </a:solidFill>
                <a:latin typeface="Arial"/>
              </a:rPr>
              <a:t>Remove sensitive data from prompts, screenshots and shared prototypes.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400800" y="3703320"/>
            <a:ext cx="1078992" cy="256032"/>
          </a:xfrm>
          <a:prstGeom prst="rect">
            <a:avLst/>
          </a:prstGeom>
          <a:solidFill>
            <a:srgbClr val="1098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400800" y="3703320"/>
            <a:ext cx="1078992" cy="25603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1" i="0">
                <a:solidFill>
                  <a:srgbClr val="FFFFFF"/>
                </a:solidFill>
                <a:latin typeface="Arial"/>
              </a:rPr>
              <a:t>DESIGN LENS</a:t>
            </a:r>
          </a:p>
        </p:txBody>
      </p:sp>
      <p:sp>
        <p:nvSpPr>
          <p:cNvPr id="35" name="Rectangle 34"/>
          <p:cNvSpPr/>
          <p:nvPr/>
        </p:nvSpPr>
        <p:spPr>
          <a:xfrm>
            <a:off x="8887968" y="1691640"/>
            <a:ext cx="2487168" cy="233172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8887968" y="1691640"/>
            <a:ext cx="82296" cy="2331720"/>
          </a:xfrm>
          <a:prstGeom prst="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9107424" y="1874520"/>
            <a:ext cx="420624" cy="420624"/>
          </a:xfrm>
          <a:prstGeom prst="ellipse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107424" y="1874520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637776" y="1819656"/>
            <a:ext cx="1508760" cy="43891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320" b="1" i="0">
                <a:solidFill>
                  <a:srgbClr val="161B26"/>
                </a:solidFill>
                <a:latin typeface="Arial"/>
              </a:rPr>
              <a:t>Lifecycle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144000" y="2386584"/>
            <a:ext cx="1965960" cy="133502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070" b="0" i="0">
                <a:solidFill>
                  <a:srgbClr val="5B6372"/>
                </a:solidFill>
                <a:latin typeface="Arial"/>
              </a:rPr>
              <a:t>Deprecate, migrate and archive components with clear version guidance.</a:t>
            </a:r>
          </a:p>
        </p:txBody>
      </p:sp>
      <p:sp>
        <p:nvSpPr>
          <p:cNvPr id="41" name="Rectangle 40"/>
          <p:cNvSpPr/>
          <p:nvPr/>
        </p:nvSpPr>
        <p:spPr>
          <a:xfrm>
            <a:off x="9144000" y="3703320"/>
            <a:ext cx="1078992" cy="256032"/>
          </a:xfrm>
          <a:prstGeom prst="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9144000" y="3703320"/>
            <a:ext cx="1078992" cy="25603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1" i="0">
                <a:solidFill>
                  <a:srgbClr val="FFFFFF"/>
                </a:solidFill>
                <a:latin typeface="Arial"/>
              </a:rPr>
              <a:t>DESIGN LENS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58368" y="4315968"/>
            <a:ext cx="10835640" cy="13258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914400" y="4480560"/>
            <a:ext cx="1828800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 i="0">
                <a:solidFill>
                  <a:srgbClr val="16845B"/>
                </a:solidFill>
                <a:latin typeface="Arial"/>
              </a:rPr>
              <a:t>SYNTHESIS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14400" y="4846320"/>
            <a:ext cx="10195560" cy="56692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 i="0">
                <a:solidFill>
                  <a:srgbClr val="161B26"/>
                </a:solidFill>
                <a:latin typeface="Arial"/>
              </a:rPr>
              <a:t>Name who approves tokens, components, content and accessibility rules; deprecate, migrate and archive components with clear version guidance.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16845B"/>
                </a:solidFill>
                <a:latin typeface="Arial"/>
              </a:rPr>
              <a:t>MODULE 4 · CASE LENS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21792"/>
            <a:ext cx="10835640" cy="6583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200" b="1" i="0">
                <a:solidFill>
                  <a:srgbClr val="161B26"/>
                </a:solidFill>
                <a:latin typeface="Arial"/>
              </a:rPr>
              <a:t>Governance protects design quality at scale — applied judgement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6419088"/>
            <a:ext cx="4663440" cy="2194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 i="0">
                <a:solidFill>
                  <a:srgbClr val="5B6372"/>
                </a:solidFill>
                <a:latin typeface="Arial"/>
              </a:rPr>
              <a:t>Claude Design for UX/UI · C744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89120" y="6419088"/>
            <a:ext cx="3657600" cy="2194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0" i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26679" y="6419088"/>
            <a:ext cx="2834640" cy="2194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730" b="0" i="1">
                <a:solidFill>
                  <a:srgbClr val="949DA9"/>
                </a:solidFill>
                <a:latin typeface="Arial"/>
              </a:rPr>
              <a:t>Microsoft; Anthropic Help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44200" y="6419088"/>
            <a:ext cx="731520" cy="2194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 i="0">
                <a:solidFill>
                  <a:srgbClr val="5B6372"/>
                </a:solidFill>
                <a:latin typeface="Arial"/>
              </a:rPr>
              <a:t>127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58368" y="1755648"/>
            <a:ext cx="3392424" cy="3127248"/>
          </a:xfrm>
          <a:prstGeom prst="rect">
            <a:avLst/>
          </a:prstGeom>
          <a:solidFill>
            <a:srgbClr val="FFFFFF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58368" y="1755648"/>
            <a:ext cx="3392424" cy="91440"/>
          </a:xfrm>
          <a:prstGeom prst="rect">
            <a:avLst/>
          </a:prstGeom>
          <a:solidFill>
            <a:srgbClr val="F06F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886968" y="2029968"/>
            <a:ext cx="493776" cy="493776"/>
          </a:xfrm>
          <a:prstGeom prst="ellipse">
            <a:avLst/>
          </a:prstGeom>
          <a:solidFill>
            <a:srgbClr val="F06F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86968" y="2029968"/>
            <a:ext cx="493776" cy="49377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17904" y="2020824"/>
            <a:ext cx="2240280" cy="51206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F06F61"/>
                </a:solidFill>
                <a:latin typeface="Arial"/>
              </a:rPr>
              <a:t>CONTEXT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2798063"/>
            <a:ext cx="2834640" cy="16459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161B26"/>
                </a:solidFill>
                <a:latin typeface="Arial"/>
              </a:rPr>
              <a:t>A shared component changes silently and breaks dozens of screens.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14400" y="4526280"/>
            <a:ext cx="2834640" cy="27432"/>
          </a:xfrm>
          <a:prstGeom prst="rect">
            <a:avLst/>
          </a:prstGeom>
          <a:solidFill>
            <a:srgbClr val="F06F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315968" y="1755648"/>
            <a:ext cx="3392424" cy="3127248"/>
          </a:xfrm>
          <a:prstGeom prst="rect">
            <a:avLst/>
          </a:prstGeom>
          <a:solidFill>
            <a:srgbClr val="FFFFFF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315968" y="1755648"/>
            <a:ext cx="3392424" cy="91440"/>
          </a:xfrm>
          <a:prstGeom prst="rect">
            <a:avLst/>
          </a:prstGeom>
          <a:solidFill>
            <a:srgbClr val="1098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4544568" y="2029968"/>
            <a:ext cx="493776" cy="493776"/>
          </a:xfrm>
          <a:prstGeom prst="ellipse">
            <a:avLst/>
          </a:prstGeom>
          <a:solidFill>
            <a:srgbClr val="1098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544568" y="2029968"/>
            <a:ext cx="493776" cy="49377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175504" y="2020824"/>
            <a:ext cx="2240280" cy="51206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10988A"/>
                </a:solidFill>
                <a:latin typeface="Arial"/>
              </a:rPr>
              <a:t>DESIGN MOVE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0" y="2798063"/>
            <a:ext cx="2834640" cy="16459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161B26"/>
                </a:solidFill>
                <a:latin typeface="Arial"/>
              </a:rPr>
              <a:t>Require impact review, version notes and a migration path for breaking changes.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572000" y="4526280"/>
            <a:ext cx="2834640" cy="27432"/>
          </a:xfrm>
          <a:prstGeom prst="rect">
            <a:avLst/>
          </a:prstGeom>
          <a:solidFill>
            <a:srgbClr val="1098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7973568" y="1755648"/>
            <a:ext cx="3392424" cy="3127248"/>
          </a:xfrm>
          <a:prstGeom prst="rect">
            <a:avLst/>
          </a:prstGeom>
          <a:solidFill>
            <a:srgbClr val="FFFFFF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973568" y="1755648"/>
            <a:ext cx="3392424" cy="91440"/>
          </a:xfrm>
          <a:prstGeom prst="rect">
            <a:avLst/>
          </a:prstGeom>
          <a:solidFill>
            <a:srgbClr val="724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8202168" y="2029968"/>
            <a:ext cx="493776" cy="493776"/>
          </a:xfrm>
          <a:prstGeom prst="ellipse">
            <a:avLst/>
          </a:prstGeom>
          <a:solidFill>
            <a:srgbClr val="724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202168" y="2029968"/>
            <a:ext cx="493776" cy="49377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833104" y="2020824"/>
            <a:ext cx="2240280" cy="51206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724CD6"/>
                </a:solidFill>
                <a:latin typeface="Arial"/>
              </a:rPr>
              <a:t>EVIDENCE STANDARD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229600" y="2798063"/>
            <a:ext cx="2834640" cy="16459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161B26"/>
                </a:solidFill>
                <a:latin typeface="Arial"/>
              </a:rPr>
              <a:t>Governance makes reuse safer, not slower.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8229600" y="4526280"/>
            <a:ext cx="2834640" cy="27432"/>
          </a:xfrm>
          <a:prstGeom prst="rect">
            <a:avLst/>
          </a:prstGeom>
          <a:solidFill>
            <a:srgbClr val="724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58368" y="5102352"/>
            <a:ext cx="10835640" cy="56692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14400" y="5239512"/>
            <a:ext cx="10241280" cy="29260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250" b="1" i="0">
                <a:solidFill>
                  <a:srgbClr val="161B26"/>
                </a:solidFill>
                <a:latin typeface="Arial"/>
              </a:rPr>
              <a:t>Ask: what user outcome changes, and what evidence would prove it?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098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10988A"/>
                </a:solidFill>
                <a:latin typeface="Arial"/>
              </a:rPr>
              <a:t>MODULE 4 · HANDS-ON ACTIVITY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21792"/>
            <a:ext cx="10835640" cy="6583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 i="0">
                <a:solidFill>
                  <a:srgbClr val="161B26"/>
                </a:solidFill>
                <a:latin typeface="Arial"/>
              </a:rPr>
              <a:t>Lab 7 · Usability and Accessibility Evaluation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6419088"/>
            <a:ext cx="4663440" cy="2194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 i="0">
                <a:solidFill>
                  <a:srgbClr val="5B6372"/>
                </a:solidFill>
                <a:latin typeface="Arial"/>
              </a:rPr>
              <a:t>Claude Design for UX/UI · C744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89120" y="6419088"/>
            <a:ext cx="3657600" cy="2194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0" i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44200" y="6419088"/>
            <a:ext cx="731520" cy="2194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 i="0">
                <a:solidFill>
                  <a:srgbClr val="5B6372"/>
                </a:solidFill>
                <a:latin typeface="Arial"/>
              </a:rPr>
              <a:t>128</a:t>
            </a:r>
          </a:p>
        </p:txBody>
      </p:sp>
      <p:sp>
        <p:nvSpPr>
          <p:cNvPr id="10" name="Rectangle 9"/>
          <p:cNvSpPr/>
          <p:nvPr/>
        </p:nvSpPr>
        <p:spPr>
          <a:xfrm>
            <a:off x="9692640" y="310896"/>
            <a:ext cx="1508760" cy="310896"/>
          </a:xfrm>
          <a:prstGeom prst="rect">
            <a:avLst/>
          </a:prstGeom>
          <a:solidFill>
            <a:srgbClr val="1098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92640" y="310896"/>
            <a:ext cx="1508760" cy="31089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 i="0">
                <a:solidFill>
                  <a:srgbClr val="FFFFFF"/>
                </a:solidFill>
                <a:latin typeface="Arial"/>
              </a:rPr>
              <a:t>25 MIN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49808" y="1755648"/>
            <a:ext cx="10378440" cy="80467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0" i="0">
                <a:solidFill>
                  <a:srgbClr val="161B26"/>
                </a:solidFill>
                <a:latin typeface="Arial"/>
              </a:rPr>
              <a:t>Evaluate the prototype with a realistic task, heuristic review and accessibility checks, then perform one evidence-led iteration.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49808" y="2770632"/>
            <a:ext cx="10725912" cy="138988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05840" y="2971800"/>
            <a:ext cx="2011680" cy="2560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 i="0">
                <a:solidFill>
                  <a:srgbClr val="10988A"/>
                </a:solidFill>
                <a:latin typeface="Arial"/>
              </a:rPr>
              <a:t>YOU WILL PRODUCE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05840" y="3401568"/>
            <a:ext cx="10012680" cy="47548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 i="0">
                <a:solidFill>
                  <a:srgbClr val="161B26"/>
                </a:solidFill>
                <a:latin typeface="Arial"/>
              </a:rPr>
              <a:t>test record, prioritised findings and before/after design checkpoint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49808" y="4443984"/>
            <a:ext cx="10725912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05840" y="4626864"/>
            <a:ext cx="10012680" cy="31089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5B6372"/>
                </a:solidFill>
                <a:latin typeface="Arial"/>
              </a:rPr>
              <a:t>Tools: Claude Design comments · keyboard · audit worksheet · Full detailed procedure: Learner Guide and labs/lab-07-*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49808" y="5340096"/>
            <a:ext cx="2834640" cy="329184"/>
          </a:xfrm>
          <a:prstGeom prst="rect">
            <a:avLst/>
          </a:prstGeom>
          <a:solidFill>
            <a:srgbClr val="724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49808" y="5340096"/>
            <a:ext cx="2834640" cy="32918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1" i="0">
                <a:solidFill>
                  <a:srgbClr val="FFFFFF"/>
                </a:solidFill>
                <a:latin typeface="Arial"/>
              </a:rPr>
              <a:t>LO3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098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10988A"/>
                </a:solidFill>
                <a:latin typeface="Arial"/>
              </a:rPr>
              <a:t>MODULE 4 · CONCEPTUAL WORKFLOW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21792"/>
            <a:ext cx="10835640" cy="6583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 i="0">
                <a:solidFill>
                  <a:srgbClr val="161B26"/>
                </a:solidFill>
                <a:latin typeface="Arial"/>
              </a:rPr>
              <a:t>Lab 7 · Workflow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6419088"/>
            <a:ext cx="4663440" cy="2194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 i="0">
                <a:solidFill>
                  <a:srgbClr val="5B6372"/>
                </a:solidFill>
                <a:latin typeface="Arial"/>
              </a:rPr>
              <a:t>Claude Design for UX/UI · C744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89120" y="6419088"/>
            <a:ext cx="3657600" cy="2194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0" i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44200" y="6419088"/>
            <a:ext cx="731520" cy="2194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 i="0">
                <a:solidFill>
                  <a:srgbClr val="5B6372"/>
                </a:solidFill>
                <a:latin typeface="Arial"/>
              </a:rPr>
              <a:t>129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49808" y="1938528"/>
            <a:ext cx="1925726" cy="2423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49808" y="1938528"/>
            <a:ext cx="1925726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392631" y="2240280"/>
            <a:ext cx="640080" cy="64008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392631" y="2240280"/>
            <a:ext cx="640080" cy="6400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300" b="1" i="0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86968" y="3017520"/>
            <a:ext cx="1651406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 i="0">
                <a:solidFill>
                  <a:srgbClr val="1F6FEB"/>
                </a:solidFill>
                <a:latin typeface="Arial"/>
              </a:rPr>
              <a:t>Define metrics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96112" y="3474720"/>
            <a:ext cx="1633118" cy="6126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0" i="0">
                <a:solidFill>
                  <a:srgbClr val="5B6372"/>
                </a:solidFill>
                <a:latin typeface="Arial"/>
              </a:rPr>
              <a:t>High-level stage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2675534" y="3150108"/>
            <a:ext cx="274320" cy="0"/>
          </a:xfrm>
          <a:prstGeom prst="line">
            <a:avLst/>
          </a:prstGeom>
          <a:ln w="25400">
            <a:solidFill>
              <a:srgbClr val="10988A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2949854" y="1938528"/>
            <a:ext cx="1925726" cy="2423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2949854" y="1938528"/>
            <a:ext cx="1925726" cy="91440"/>
          </a:xfrm>
          <a:prstGeom prst="rect">
            <a:avLst/>
          </a:prstGeom>
          <a:solidFill>
            <a:srgbClr val="724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3592677" y="2240280"/>
            <a:ext cx="640080" cy="640080"/>
          </a:xfrm>
          <a:prstGeom prst="ellipse">
            <a:avLst/>
          </a:prstGeom>
          <a:solidFill>
            <a:srgbClr val="724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592677" y="2240280"/>
            <a:ext cx="640080" cy="6400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300" b="1" i="0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087014" y="3017520"/>
            <a:ext cx="1651406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 i="0">
                <a:solidFill>
                  <a:srgbClr val="724CD6"/>
                </a:solidFill>
                <a:latin typeface="Arial"/>
              </a:rPr>
              <a:t>Run task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096158" y="3474720"/>
            <a:ext cx="1633118" cy="6126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0" i="0">
                <a:solidFill>
                  <a:srgbClr val="5B6372"/>
                </a:solidFill>
                <a:latin typeface="Arial"/>
              </a:rPr>
              <a:t>High-level stage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4875580" y="3150108"/>
            <a:ext cx="274320" cy="0"/>
          </a:xfrm>
          <a:prstGeom prst="line">
            <a:avLst/>
          </a:prstGeom>
          <a:ln w="25400">
            <a:solidFill>
              <a:srgbClr val="10988A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23"/>
          <p:cNvSpPr/>
          <p:nvPr/>
        </p:nvSpPr>
        <p:spPr>
          <a:xfrm>
            <a:off x="5149900" y="1938528"/>
            <a:ext cx="1925726" cy="2423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5149900" y="1938528"/>
            <a:ext cx="1925726" cy="91440"/>
          </a:xfrm>
          <a:prstGeom prst="rect">
            <a:avLst/>
          </a:prstGeom>
          <a:solidFill>
            <a:srgbClr val="1098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5792724" y="2240280"/>
            <a:ext cx="640080" cy="640080"/>
          </a:xfrm>
          <a:prstGeom prst="ellipse">
            <a:avLst/>
          </a:prstGeom>
          <a:solidFill>
            <a:srgbClr val="1098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792724" y="2240280"/>
            <a:ext cx="640080" cy="6400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300" b="1" i="0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287060" y="3017520"/>
            <a:ext cx="1651406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 i="0">
                <a:solidFill>
                  <a:srgbClr val="10988A"/>
                </a:solidFill>
                <a:latin typeface="Arial"/>
              </a:rPr>
              <a:t>Audit states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296204" y="3474720"/>
            <a:ext cx="1633118" cy="6126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0" i="0">
                <a:solidFill>
                  <a:srgbClr val="5B6372"/>
                </a:solidFill>
                <a:latin typeface="Arial"/>
              </a:rPr>
              <a:t>High-level stage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7075627" y="3150108"/>
            <a:ext cx="274320" cy="0"/>
          </a:xfrm>
          <a:prstGeom prst="line">
            <a:avLst/>
          </a:prstGeom>
          <a:ln w="25400">
            <a:solidFill>
              <a:srgbClr val="10988A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Rounded Rectangle 30"/>
          <p:cNvSpPr/>
          <p:nvPr/>
        </p:nvSpPr>
        <p:spPr>
          <a:xfrm>
            <a:off x="7349947" y="1938528"/>
            <a:ext cx="1925726" cy="2423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7349947" y="1938528"/>
            <a:ext cx="1925726" cy="91440"/>
          </a:xfrm>
          <a:prstGeom prst="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7992770" y="2240280"/>
            <a:ext cx="640080" cy="640080"/>
          </a:xfrm>
          <a:prstGeom prst="ellipse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992770" y="2240280"/>
            <a:ext cx="640080" cy="6400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300" b="1" i="0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487107" y="3017520"/>
            <a:ext cx="1651406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 i="0">
                <a:solidFill>
                  <a:srgbClr val="16845B"/>
                </a:solidFill>
                <a:latin typeface="Arial"/>
              </a:rPr>
              <a:t>Prioritise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496251" y="3474720"/>
            <a:ext cx="1633118" cy="6126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0" i="0">
                <a:solidFill>
                  <a:srgbClr val="5B6372"/>
                </a:solidFill>
                <a:latin typeface="Arial"/>
              </a:rPr>
              <a:t>High-level stage</a:t>
            </a:r>
          </a:p>
        </p:txBody>
      </p:sp>
      <p:cxnSp>
        <p:nvCxnSpPr>
          <p:cNvPr id="37" name="Connector 36"/>
          <p:cNvCxnSpPr/>
          <p:nvPr/>
        </p:nvCxnSpPr>
        <p:spPr>
          <a:xfrm>
            <a:off x="9275673" y="3150108"/>
            <a:ext cx="274320" cy="0"/>
          </a:xfrm>
          <a:prstGeom prst="line">
            <a:avLst/>
          </a:prstGeom>
          <a:ln w="25400">
            <a:solidFill>
              <a:srgbClr val="10988A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Rounded Rectangle 37"/>
          <p:cNvSpPr/>
          <p:nvPr/>
        </p:nvSpPr>
        <p:spPr>
          <a:xfrm>
            <a:off x="9549993" y="1938528"/>
            <a:ext cx="1925726" cy="2423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9549993" y="1938528"/>
            <a:ext cx="1925726" cy="91440"/>
          </a:xfrm>
          <a:prstGeom prst="rect">
            <a:avLst/>
          </a:prstGeom>
          <a:solidFill>
            <a:srgbClr val="C77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10192816" y="2240280"/>
            <a:ext cx="640080" cy="640080"/>
          </a:xfrm>
          <a:prstGeom prst="ellipse">
            <a:avLst/>
          </a:prstGeom>
          <a:solidFill>
            <a:srgbClr val="C77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10192816" y="2240280"/>
            <a:ext cx="640080" cy="6400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300" b="1" i="0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687153" y="3017520"/>
            <a:ext cx="1651406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 i="0">
                <a:solidFill>
                  <a:srgbClr val="C77600"/>
                </a:solidFill>
                <a:latin typeface="Arial"/>
              </a:rPr>
              <a:t>Iterate and retest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696297" y="3474720"/>
            <a:ext cx="1633118" cy="6126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0" i="0">
                <a:solidFill>
                  <a:srgbClr val="5B6372"/>
                </a:solidFill>
                <a:latin typeface="Arial"/>
              </a:rPr>
              <a:t>High-level stage</a:t>
            </a:r>
          </a:p>
        </p:txBody>
      </p:sp>
      <p:sp>
        <p:nvSpPr>
          <p:cNvPr id="44" name="Rectangle 43"/>
          <p:cNvSpPr/>
          <p:nvPr/>
        </p:nvSpPr>
        <p:spPr>
          <a:xfrm>
            <a:off x="749808" y="4754880"/>
            <a:ext cx="10725912" cy="80467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960120" y="4919472"/>
            <a:ext cx="182880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 i="0">
                <a:solidFill>
                  <a:srgbClr val="10988A"/>
                </a:solidFill>
                <a:latin typeface="Arial"/>
              </a:rPr>
              <a:t>THE POINT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2331720" y="4855464"/>
            <a:ext cx="8778240" cy="39319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20" b="1" i="0">
                <a:solidFill>
                  <a:srgbClr val="161B26"/>
                </a:solidFill>
                <a:latin typeface="Arial"/>
              </a:rPr>
              <a:t>Detailed click-by-click steps and files are in the Learner Guide and lab folder.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16845B"/>
                </a:solidFill>
                <a:latin typeface="Arial"/>
              </a:rPr>
              <a:t>MODULE 4 · VERIFY THE OUTCOME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21792"/>
            <a:ext cx="10835640" cy="6583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 i="0">
                <a:solidFill>
                  <a:srgbClr val="161B26"/>
                </a:solidFill>
                <a:latin typeface="Arial"/>
              </a:rPr>
              <a:t>Lab 7 · Evidence and acceptance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6419088"/>
            <a:ext cx="4663440" cy="2194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 i="0">
                <a:solidFill>
                  <a:srgbClr val="5B6372"/>
                </a:solidFill>
                <a:latin typeface="Arial"/>
              </a:rPr>
              <a:t>Claude Design for UX/UI · C744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89120" y="6419088"/>
            <a:ext cx="3657600" cy="2194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0" i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44200" y="6419088"/>
            <a:ext cx="731520" cy="2194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 i="0">
                <a:solidFill>
                  <a:srgbClr val="5B6372"/>
                </a:solidFill>
                <a:latin typeface="Arial"/>
              </a:rPr>
              <a:t>130</a:t>
            </a:r>
          </a:p>
        </p:txBody>
      </p:sp>
      <p:sp>
        <p:nvSpPr>
          <p:cNvPr id="10" name="Rectangle 9"/>
          <p:cNvSpPr/>
          <p:nvPr/>
        </p:nvSpPr>
        <p:spPr>
          <a:xfrm>
            <a:off x="658368" y="1828800"/>
            <a:ext cx="2487168" cy="2432304"/>
          </a:xfrm>
          <a:prstGeom prst="rect">
            <a:avLst/>
          </a:prstGeom>
          <a:solidFill>
            <a:srgbClr val="E8F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58368" y="1828800"/>
            <a:ext cx="82296" cy="2432304"/>
          </a:xfrm>
          <a:prstGeom prst="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896112" y="2084832"/>
            <a:ext cx="512064" cy="512064"/>
          </a:xfrm>
          <a:prstGeom prst="ellipse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96112" y="2084832"/>
            <a:ext cx="512064" cy="51206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1" i="0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05256" y="2834640"/>
            <a:ext cx="1965960" cy="10515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 i="0">
                <a:solidFill>
                  <a:srgbClr val="161B26"/>
                </a:solidFill>
                <a:latin typeface="Arial"/>
              </a:rPr>
              <a:t>Metrics defined before testing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401568" y="1828800"/>
            <a:ext cx="2487168" cy="2432304"/>
          </a:xfrm>
          <a:prstGeom prst="rect">
            <a:avLst/>
          </a:prstGeom>
          <a:solidFill>
            <a:srgbClr val="E8F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401568" y="1828800"/>
            <a:ext cx="82296" cy="2432304"/>
          </a:xfrm>
          <a:prstGeom prst="rect">
            <a:avLst/>
          </a:prstGeom>
          <a:solidFill>
            <a:srgbClr val="1098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3639312" y="2084832"/>
            <a:ext cx="512064" cy="512064"/>
          </a:xfrm>
          <a:prstGeom prst="ellipse">
            <a:avLst/>
          </a:prstGeom>
          <a:solidFill>
            <a:srgbClr val="1098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639312" y="2084832"/>
            <a:ext cx="512064" cy="51206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1" i="0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48456" y="2834640"/>
            <a:ext cx="1965960" cy="10515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 i="0">
                <a:solidFill>
                  <a:srgbClr val="161B26"/>
                </a:solidFill>
                <a:latin typeface="Arial"/>
              </a:rPr>
              <a:t>Findings cite evidence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144768" y="1828800"/>
            <a:ext cx="2487168" cy="2432304"/>
          </a:xfrm>
          <a:prstGeom prst="rect">
            <a:avLst/>
          </a:prstGeom>
          <a:solidFill>
            <a:srgbClr val="E8F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144768" y="1828800"/>
            <a:ext cx="82296" cy="243230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6382512" y="2084832"/>
            <a:ext cx="512064" cy="512064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382512" y="2084832"/>
            <a:ext cx="512064" cy="51206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1" i="0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91656" y="2834640"/>
            <a:ext cx="1965960" cy="10515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 i="0">
                <a:solidFill>
                  <a:srgbClr val="161B26"/>
                </a:solidFill>
                <a:latin typeface="Arial"/>
              </a:rPr>
              <a:t>Accessibility covers states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887968" y="1828800"/>
            <a:ext cx="2487168" cy="2432304"/>
          </a:xfrm>
          <a:prstGeom prst="rect">
            <a:avLst/>
          </a:prstGeom>
          <a:solidFill>
            <a:srgbClr val="E8F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887968" y="1828800"/>
            <a:ext cx="82296" cy="2432304"/>
          </a:xfrm>
          <a:prstGeom prst="rect">
            <a:avLst/>
          </a:prstGeom>
          <a:solidFill>
            <a:srgbClr val="724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9125712" y="2084832"/>
            <a:ext cx="512064" cy="512064"/>
          </a:xfrm>
          <a:prstGeom prst="ellipse">
            <a:avLst/>
          </a:prstGeom>
          <a:solidFill>
            <a:srgbClr val="724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125712" y="2084832"/>
            <a:ext cx="512064" cy="51206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1" i="0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34856" y="2834640"/>
            <a:ext cx="1965960" cy="10515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 i="0">
                <a:solidFill>
                  <a:srgbClr val="161B26"/>
                </a:solidFill>
                <a:latin typeface="Arial"/>
              </a:rPr>
              <a:t>Retest uses the same task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58368" y="4617720"/>
            <a:ext cx="10835640" cy="868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32688" y="4800600"/>
            <a:ext cx="10287000" cy="4114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150" b="1" i="0">
                <a:solidFill>
                  <a:srgbClr val="5B6372"/>
                </a:solidFill>
                <a:latin typeface="Arial"/>
              </a:rPr>
              <a:t>Evidence package: test-script.md, results.csv, accessibility-check.js, iteration-log.md, prompt.txt · capture the final Claude Design version link or export.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098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10988A"/>
                </a:solidFill>
                <a:latin typeface="Arial"/>
              </a:rPr>
              <a:t>MODULE 4 · HANDS-ON ACTIVITY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21792"/>
            <a:ext cx="10835640" cy="6583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 i="0">
                <a:solidFill>
                  <a:srgbClr val="161B26"/>
                </a:solidFill>
                <a:latin typeface="Arial"/>
              </a:rPr>
              <a:t>Lab 8 · Documentation, Export and Handoff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6419088"/>
            <a:ext cx="4663440" cy="2194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 i="0">
                <a:solidFill>
                  <a:srgbClr val="5B6372"/>
                </a:solidFill>
                <a:latin typeface="Arial"/>
              </a:rPr>
              <a:t>Claude Design for UX/UI · C744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89120" y="6419088"/>
            <a:ext cx="3657600" cy="2194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0" i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44200" y="6419088"/>
            <a:ext cx="731520" cy="2194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 i="0">
                <a:solidFill>
                  <a:srgbClr val="5B6372"/>
                </a:solidFill>
                <a:latin typeface="Arial"/>
              </a:rPr>
              <a:t>131</a:t>
            </a:r>
          </a:p>
        </p:txBody>
      </p:sp>
      <p:sp>
        <p:nvSpPr>
          <p:cNvPr id="10" name="Rectangle 9"/>
          <p:cNvSpPr/>
          <p:nvPr/>
        </p:nvSpPr>
        <p:spPr>
          <a:xfrm>
            <a:off x="9692640" y="310896"/>
            <a:ext cx="1508760" cy="310896"/>
          </a:xfrm>
          <a:prstGeom prst="rect">
            <a:avLst/>
          </a:prstGeom>
          <a:solidFill>
            <a:srgbClr val="1098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92640" y="310896"/>
            <a:ext cx="1508760" cy="31089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 i="0">
                <a:solidFill>
                  <a:srgbClr val="FFFFFF"/>
                </a:solidFill>
                <a:latin typeface="Arial"/>
              </a:rPr>
              <a:t>25 MIN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49808" y="1755648"/>
            <a:ext cx="10378440" cy="80467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0" i="0">
                <a:solidFill>
                  <a:srgbClr val="161B26"/>
                </a:solidFill>
                <a:latin typeface="Arial"/>
              </a:rPr>
              <a:t>Prepare the final prototype for stakeholder review, developer handoff and end-user guidance.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49808" y="2770632"/>
            <a:ext cx="10725912" cy="138988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05840" y="2971800"/>
            <a:ext cx="2011680" cy="2560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 i="0">
                <a:solidFill>
                  <a:srgbClr val="10988A"/>
                </a:solidFill>
                <a:latin typeface="Arial"/>
              </a:rPr>
              <a:t>YOU WILL PRODUCE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05840" y="3401568"/>
            <a:ext cx="10012680" cy="47548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 i="0">
                <a:solidFill>
                  <a:srgbClr val="161B26"/>
                </a:solidFill>
                <a:latin typeface="Arial"/>
              </a:rPr>
              <a:t>versioned export bundle, decision log, handoff brief and task-based user guide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49808" y="4443984"/>
            <a:ext cx="10725912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05840" y="4626864"/>
            <a:ext cx="10012680" cy="31089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5B6372"/>
                </a:solidFill>
                <a:latin typeface="Arial"/>
              </a:rPr>
              <a:t>Tools: Claude Design export · Claude Code handoff · documentation templates · Full detailed procedure: Learner Guide and labs/lab-08-*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49808" y="5340096"/>
            <a:ext cx="2834640" cy="329184"/>
          </a:xfrm>
          <a:prstGeom prst="rect">
            <a:avLst/>
          </a:prstGeom>
          <a:solidFill>
            <a:srgbClr val="724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49808" y="5340096"/>
            <a:ext cx="2834640" cy="32918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1" i="0">
                <a:solidFill>
                  <a:srgbClr val="FFFFFF"/>
                </a:solidFill>
                <a:latin typeface="Arial"/>
              </a:rPr>
              <a:t>LO4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098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10988A"/>
                </a:solidFill>
                <a:latin typeface="Arial"/>
              </a:rPr>
              <a:t>MODULE 4 · CONCEPTUAL WORKFLOW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21792"/>
            <a:ext cx="10835640" cy="6583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 i="0">
                <a:solidFill>
                  <a:srgbClr val="161B26"/>
                </a:solidFill>
                <a:latin typeface="Arial"/>
              </a:rPr>
              <a:t>Lab 8 · Workflow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6419088"/>
            <a:ext cx="4663440" cy="2194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 i="0">
                <a:solidFill>
                  <a:srgbClr val="5B6372"/>
                </a:solidFill>
                <a:latin typeface="Arial"/>
              </a:rPr>
              <a:t>Claude Design for UX/UI · C744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89120" y="6419088"/>
            <a:ext cx="3657600" cy="2194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0" i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44200" y="6419088"/>
            <a:ext cx="731520" cy="2194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 i="0">
                <a:solidFill>
                  <a:srgbClr val="5B6372"/>
                </a:solidFill>
                <a:latin typeface="Arial"/>
              </a:rPr>
              <a:t>132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49808" y="1938528"/>
            <a:ext cx="1925726" cy="2423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49808" y="1938528"/>
            <a:ext cx="1925726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392631" y="2240280"/>
            <a:ext cx="640080" cy="64008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392631" y="2240280"/>
            <a:ext cx="640080" cy="6400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300" b="1" i="0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86968" y="3017520"/>
            <a:ext cx="1651406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 i="0">
                <a:solidFill>
                  <a:srgbClr val="1F6FEB"/>
                </a:solidFill>
                <a:latin typeface="Arial"/>
              </a:rPr>
              <a:t>Checkpoint version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96112" y="3474720"/>
            <a:ext cx="1633118" cy="6126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0" i="0">
                <a:solidFill>
                  <a:srgbClr val="5B6372"/>
                </a:solidFill>
                <a:latin typeface="Arial"/>
              </a:rPr>
              <a:t>High-level stage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2675534" y="3150108"/>
            <a:ext cx="274320" cy="0"/>
          </a:xfrm>
          <a:prstGeom prst="line">
            <a:avLst/>
          </a:prstGeom>
          <a:ln w="25400">
            <a:solidFill>
              <a:srgbClr val="10988A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2949854" y="1938528"/>
            <a:ext cx="1925726" cy="2423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2949854" y="1938528"/>
            <a:ext cx="1925726" cy="91440"/>
          </a:xfrm>
          <a:prstGeom prst="rect">
            <a:avLst/>
          </a:prstGeom>
          <a:solidFill>
            <a:srgbClr val="724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3592677" y="2240280"/>
            <a:ext cx="640080" cy="640080"/>
          </a:xfrm>
          <a:prstGeom prst="ellipse">
            <a:avLst/>
          </a:prstGeom>
          <a:solidFill>
            <a:srgbClr val="724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592677" y="2240280"/>
            <a:ext cx="640080" cy="6400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300" b="1" i="0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087014" y="3017520"/>
            <a:ext cx="1651406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 i="0">
                <a:solidFill>
                  <a:srgbClr val="724CD6"/>
                </a:solidFill>
                <a:latin typeface="Arial"/>
              </a:rPr>
              <a:t>Record decisions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096158" y="3474720"/>
            <a:ext cx="1633118" cy="6126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0" i="0">
                <a:solidFill>
                  <a:srgbClr val="5B6372"/>
                </a:solidFill>
                <a:latin typeface="Arial"/>
              </a:rPr>
              <a:t>High-level stage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4875580" y="3150108"/>
            <a:ext cx="274320" cy="0"/>
          </a:xfrm>
          <a:prstGeom prst="line">
            <a:avLst/>
          </a:prstGeom>
          <a:ln w="25400">
            <a:solidFill>
              <a:srgbClr val="10988A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23"/>
          <p:cNvSpPr/>
          <p:nvPr/>
        </p:nvSpPr>
        <p:spPr>
          <a:xfrm>
            <a:off x="5149900" y="1938528"/>
            <a:ext cx="1925726" cy="2423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5149900" y="1938528"/>
            <a:ext cx="1925726" cy="91440"/>
          </a:xfrm>
          <a:prstGeom prst="rect">
            <a:avLst/>
          </a:prstGeom>
          <a:solidFill>
            <a:srgbClr val="1098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5792724" y="2240280"/>
            <a:ext cx="640080" cy="640080"/>
          </a:xfrm>
          <a:prstGeom prst="ellipse">
            <a:avLst/>
          </a:prstGeom>
          <a:solidFill>
            <a:srgbClr val="1098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792724" y="2240280"/>
            <a:ext cx="640080" cy="6400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300" b="1" i="0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287060" y="3017520"/>
            <a:ext cx="1651406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 i="0">
                <a:solidFill>
                  <a:srgbClr val="10988A"/>
                </a:solidFill>
                <a:latin typeface="Arial"/>
              </a:rPr>
              <a:t>Export package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296204" y="3474720"/>
            <a:ext cx="1633118" cy="6126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0" i="0">
                <a:solidFill>
                  <a:srgbClr val="5B6372"/>
                </a:solidFill>
                <a:latin typeface="Arial"/>
              </a:rPr>
              <a:t>High-level stage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7075627" y="3150108"/>
            <a:ext cx="274320" cy="0"/>
          </a:xfrm>
          <a:prstGeom prst="line">
            <a:avLst/>
          </a:prstGeom>
          <a:ln w="25400">
            <a:solidFill>
              <a:srgbClr val="10988A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Rounded Rectangle 30"/>
          <p:cNvSpPr/>
          <p:nvPr/>
        </p:nvSpPr>
        <p:spPr>
          <a:xfrm>
            <a:off x="7349947" y="1938528"/>
            <a:ext cx="1925726" cy="2423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7349947" y="1938528"/>
            <a:ext cx="1925726" cy="91440"/>
          </a:xfrm>
          <a:prstGeom prst="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7992770" y="2240280"/>
            <a:ext cx="640080" cy="640080"/>
          </a:xfrm>
          <a:prstGeom prst="ellipse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992770" y="2240280"/>
            <a:ext cx="640080" cy="6400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300" b="1" i="0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487107" y="3017520"/>
            <a:ext cx="1651406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 i="0">
                <a:solidFill>
                  <a:srgbClr val="16845B"/>
                </a:solidFill>
                <a:latin typeface="Arial"/>
              </a:rPr>
              <a:t>Write guide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496251" y="3474720"/>
            <a:ext cx="1633118" cy="6126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0" i="0">
                <a:solidFill>
                  <a:srgbClr val="5B6372"/>
                </a:solidFill>
                <a:latin typeface="Arial"/>
              </a:rPr>
              <a:t>High-level stage</a:t>
            </a:r>
          </a:p>
        </p:txBody>
      </p:sp>
      <p:cxnSp>
        <p:nvCxnSpPr>
          <p:cNvPr id="37" name="Connector 36"/>
          <p:cNvCxnSpPr/>
          <p:nvPr/>
        </p:nvCxnSpPr>
        <p:spPr>
          <a:xfrm>
            <a:off x="9275673" y="3150108"/>
            <a:ext cx="274320" cy="0"/>
          </a:xfrm>
          <a:prstGeom prst="line">
            <a:avLst/>
          </a:prstGeom>
          <a:ln w="25400">
            <a:solidFill>
              <a:srgbClr val="10988A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Rounded Rectangle 37"/>
          <p:cNvSpPr/>
          <p:nvPr/>
        </p:nvSpPr>
        <p:spPr>
          <a:xfrm>
            <a:off x="9549993" y="1938528"/>
            <a:ext cx="1925726" cy="2423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9549993" y="1938528"/>
            <a:ext cx="1925726" cy="91440"/>
          </a:xfrm>
          <a:prstGeom prst="rect">
            <a:avLst/>
          </a:prstGeom>
          <a:solidFill>
            <a:srgbClr val="C77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10192816" y="2240280"/>
            <a:ext cx="640080" cy="640080"/>
          </a:xfrm>
          <a:prstGeom prst="ellipse">
            <a:avLst/>
          </a:prstGeom>
          <a:solidFill>
            <a:srgbClr val="C77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10192816" y="2240280"/>
            <a:ext cx="640080" cy="6400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300" b="1" i="0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687153" y="3017520"/>
            <a:ext cx="1651406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 i="0">
                <a:solidFill>
                  <a:srgbClr val="C77600"/>
                </a:solidFill>
                <a:latin typeface="Arial"/>
              </a:rPr>
              <a:t>Verify handoff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696297" y="3474720"/>
            <a:ext cx="1633118" cy="6126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0" i="0">
                <a:solidFill>
                  <a:srgbClr val="5B6372"/>
                </a:solidFill>
                <a:latin typeface="Arial"/>
              </a:rPr>
              <a:t>High-level stage</a:t>
            </a:r>
          </a:p>
        </p:txBody>
      </p:sp>
      <p:sp>
        <p:nvSpPr>
          <p:cNvPr id="44" name="Rectangle 43"/>
          <p:cNvSpPr/>
          <p:nvPr/>
        </p:nvSpPr>
        <p:spPr>
          <a:xfrm>
            <a:off x="749808" y="4754880"/>
            <a:ext cx="10725912" cy="80467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960120" y="4919472"/>
            <a:ext cx="182880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 i="0">
                <a:solidFill>
                  <a:srgbClr val="10988A"/>
                </a:solidFill>
                <a:latin typeface="Arial"/>
              </a:rPr>
              <a:t>THE POINT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2331720" y="4855464"/>
            <a:ext cx="8778240" cy="39319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20" b="1" i="0">
                <a:solidFill>
                  <a:srgbClr val="161B26"/>
                </a:solidFill>
                <a:latin typeface="Arial"/>
              </a:rPr>
              <a:t>Detailed click-by-click steps and files are in the Learner Guide and lab folder.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16845B"/>
                </a:solidFill>
                <a:latin typeface="Arial"/>
              </a:rPr>
              <a:t>MODULE 4 · VERIFY THE OUTCOME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21792"/>
            <a:ext cx="10835640" cy="6583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 i="0">
                <a:solidFill>
                  <a:srgbClr val="161B26"/>
                </a:solidFill>
                <a:latin typeface="Arial"/>
              </a:rPr>
              <a:t>Lab 8 · Evidence and acceptance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6419088"/>
            <a:ext cx="4663440" cy="2194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 i="0">
                <a:solidFill>
                  <a:srgbClr val="5B6372"/>
                </a:solidFill>
                <a:latin typeface="Arial"/>
              </a:rPr>
              <a:t>Claude Design for UX/UI · C744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89120" y="6419088"/>
            <a:ext cx="3657600" cy="2194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0" i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44200" y="6419088"/>
            <a:ext cx="731520" cy="2194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 i="0">
                <a:solidFill>
                  <a:srgbClr val="5B6372"/>
                </a:solidFill>
                <a:latin typeface="Arial"/>
              </a:rPr>
              <a:t>133</a:t>
            </a:r>
          </a:p>
        </p:txBody>
      </p:sp>
      <p:sp>
        <p:nvSpPr>
          <p:cNvPr id="10" name="Rectangle 9"/>
          <p:cNvSpPr/>
          <p:nvPr/>
        </p:nvSpPr>
        <p:spPr>
          <a:xfrm>
            <a:off x="658368" y="1828800"/>
            <a:ext cx="2487168" cy="2432304"/>
          </a:xfrm>
          <a:prstGeom prst="rect">
            <a:avLst/>
          </a:prstGeom>
          <a:solidFill>
            <a:srgbClr val="E8F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58368" y="1828800"/>
            <a:ext cx="82296" cy="2432304"/>
          </a:xfrm>
          <a:prstGeom prst="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896112" y="2084832"/>
            <a:ext cx="512064" cy="512064"/>
          </a:xfrm>
          <a:prstGeom prst="ellipse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96112" y="2084832"/>
            <a:ext cx="512064" cy="51206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1" i="0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05256" y="2834640"/>
            <a:ext cx="1965960" cy="10515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 i="0">
                <a:solidFill>
                  <a:srgbClr val="161B26"/>
                </a:solidFill>
                <a:latin typeface="Arial"/>
              </a:rPr>
              <a:t>Change log explains rationale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401568" y="1828800"/>
            <a:ext cx="2487168" cy="2432304"/>
          </a:xfrm>
          <a:prstGeom prst="rect">
            <a:avLst/>
          </a:prstGeom>
          <a:solidFill>
            <a:srgbClr val="E8F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401568" y="1828800"/>
            <a:ext cx="82296" cy="2432304"/>
          </a:xfrm>
          <a:prstGeom prst="rect">
            <a:avLst/>
          </a:prstGeom>
          <a:solidFill>
            <a:srgbClr val="1098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3639312" y="2084832"/>
            <a:ext cx="512064" cy="512064"/>
          </a:xfrm>
          <a:prstGeom prst="ellipse">
            <a:avLst/>
          </a:prstGeom>
          <a:solidFill>
            <a:srgbClr val="1098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639312" y="2084832"/>
            <a:ext cx="512064" cy="51206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1" i="0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48456" y="2834640"/>
            <a:ext cx="1965960" cy="10515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 i="0">
                <a:solidFill>
                  <a:srgbClr val="161B26"/>
                </a:solidFill>
                <a:latin typeface="Arial"/>
              </a:rPr>
              <a:t>Export matches downstream need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144768" y="1828800"/>
            <a:ext cx="2487168" cy="2432304"/>
          </a:xfrm>
          <a:prstGeom prst="rect">
            <a:avLst/>
          </a:prstGeom>
          <a:solidFill>
            <a:srgbClr val="E8F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144768" y="1828800"/>
            <a:ext cx="82296" cy="243230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6382512" y="2084832"/>
            <a:ext cx="512064" cy="512064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382512" y="2084832"/>
            <a:ext cx="512064" cy="51206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1" i="0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91656" y="2834640"/>
            <a:ext cx="1965960" cy="10515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 i="0">
                <a:solidFill>
                  <a:srgbClr val="161B26"/>
                </a:solidFill>
                <a:latin typeface="Arial"/>
              </a:rPr>
              <a:t>Guide supports a real task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887968" y="1828800"/>
            <a:ext cx="2487168" cy="2432304"/>
          </a:xfrm>
          <a:prstGeom prst="rect">
            <a:avLst/>
          </a:prstGeom>
          <a:solidFill>
            <a:srgbClr val="E8F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887968" y="1828800"/>
            <a:ext cx="82296" cy="2432304"/>
          </a:xfrm>
          <a:prstGeom prst="rect">
            <a:avLst/>
          </a:prstGeom>
          <a:solidFill>
            <a:srgbClr val="724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9125712" y="2084832"/>
            <a:ext cx="512064" cy="512064"/>
          </a:xfrm>
          <a:prstGeom prst="ellipse">
            <a:avLst/>
          </a:prstGeom>
          <a:solidFill>
            <a:srgbClr val="724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125712" y="2084832"/>
            <a:ext cx="512064" cy="51206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1" i="0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34856" y="2834640"/>
            <a:ext cx="1965960" cy="10515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 i="0">
                <a:solidFill>
                  <a:srgbClr val="161B26"/>
                </a:solidFill>
                <a:latin typeface="Arial"/>
              </a:rPr>
              <a:t>Handoff includes states and acceptance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58368" y="4617720"/>
            <a:ext cx="10835640" cy="868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32688" y="4800600"/>
            <a:ext cx="10287000" cy="4114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150" b="1" i="0">
                <a:solidFill>
                  <a:srgbClr val="5B6372"/>
                </a:solidFill>
                <a:latin typeface="Arial"/>
              </a:rPr>
              <a:t>Evidence package: CHANGELOG.md, HANDOFF.md, USER-GUIDE.md, export-checklist.md, prompt.txt · capture the final Claude Design version link or export.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16845B"/>
                </a:solidFill>
                <a:latin typeface="Arial"/>
              </a:rPr>
              <a:t>MODULE 4 · NATIVE CHART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21792"/>
            <a:ext cx="10835640" cy="6583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 i="0">
                <a:solidFill>
                  <a:srgbClr val="161B26"/>
                </a:solidFill>
                <a:latin typeface="Arial"/>
              </a:rPr>
              <a:t>Handoff quality depends on preserved intent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6419088"/>
            <a:ext cx="4663440" cy="2194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 i="0">
                <a:solidFill>
                  <a:srgbClr val="5B6372"/>
                </a:solidFill>
                <a:latin typeface="Arial"/>
              </a:rPr>
              <a:t>Claude Design for UX/UI · C744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89120" y="6419088"/>
            <a:ext cx="3657600" cy="2194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0" i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26679" y="6419088"/>
            <a:ext cx="2834640" cy="2194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730" b="0" i="1">
                <a:solidFill>
                  <a:srgbClr val="949DA9"/>
                </a:solidFill>
                <a:latin typeface="Arial"/>
              </a:rPr>
              <a:t>Indicative teaching data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44200" y="6419088"/>
            <a:ext cx="731520" cy="2194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 i="0">
                <a:solidFill>
                  <a:srgbClr val="5B6372"/>
                </a:solidFill>
                <a:latin typeface="Arial"/>
              </a:rPr>
              <a:t>134</a:t>
            </a:r>
          </a:p>
        </p:txBody>
      </p:sp>
      <p:graphicFrame>
        <p:nvGraphicFramePr>
          <p:cNvPr id="11" name="Chart 10"/>
          <p:cNvGraphicFramePr>
            <a:graphicFrameLocks noGrp="1"/>
          </p:cNvGraphicFramePr>
          <p:nvPr/>
        </p:nvGraphicFramePr>
        <p:xfrm>
          <a:off x="868680" y="1737360"/>
          <a:ext cx="6629400" cy="37033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2" name="Rectangle 11"/>
          <p:cNvSpPr/>
          <p:nvPr/>
        </p:nvSpPr>
        <p:spPr>
          <a:xfrm>
            <a:off x="7818120" y="1755648"/>
            <a:ext cx="3657600" cy="368503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818120" y="1755648"/>
            <a:ext cx="91440" cy="3685032"/>
          </a:xfrm>
          <a:prstGeom prst="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156448" y="2084831"/>
            <a:ext cx="2880360" cy="31089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 i="0">
                <a:solidFill>
                  <a:srgbClr val="16845B"/>
                </a:solidFill>
                <a:latin typeface="Arial"/>
              </a:rPr>
              <a:t>WHAT THE DATA SHOWS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56448" y="2670048"/>
            <a:ext cx="2880360" cy="16002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 i="0">
                <a:solidFill>
                  <a:srgbClr val="161B26"/>
                </a:solidFill>
                <a:latin typeface="Arial"/>
              </a:rPr>
              <a:t>Indicative teaching score: richer handoff retains behaviour, states and acceptance criteria.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156448" y="4617720"/>
            <a:ext cx="2880360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 i="0">
                <a:solidFill>
                  <a:srgbClr val="5B6372"/>
                </a:solidFill>
                <a:latin typeface="Arial"/>
              </a:rPr>
              <a:t>Use charts to support a decision—not as decoration.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16845B"/>
                </a:solidFill>
                <a:latin typeface="Arial"/>
              </a:rPr>
              <a:t>MODULE 4 · RETRIEVE AND APPLY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21792"/>
            <a:ext cx="10835640" cy="6583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 i="0">
                <a:solidFill>
                  <a:srgbClr val="161B26"/>
                </a:solidFill>
                <a:latin typeface="Arial"/>
              </a:rPr>
              <a:t>Module 4 · Decision recap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6419088"/>
            <a:ext cx="4663440" cy="2194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 i="0">
                <a:solidFill>
                  <a:srgbClr val="5B6372"/>
                </a:solidFill>
                <a:latin typeface="Arial"/>
              </a:rPr>
              <a:t>Claude Design for UX/UI · C744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89120" y="6419088"/>
            <a:ext cx="3657600" cy="2194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0" i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44200" y="6419088"/>
            <a:ext cx="731520" cy="2194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 i="0">
                <a:solidFill>
                  <a:srgbClr val="5B6372"/>
                </a:solidFill>
                <a:latin typeface="Arial"/>
              </a:rPr>
              <a:t>135</a:t>
            </a:r>
          </a:p>
        </p:txBody>
      </p:sp>
      <p:sp>
        <p:nvSpPr>
          <p:cNvPr id="10" name="Rectangle 9"/>
          <p:cNvSpPr/>
          <p:nvPr/>
        </p:nvSpPr>
        <p:spPr>
          <a:xfrm>
            <a:off x="658368" y="1691640"/>
            <a:ext cx="2487168" cy="233172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58368" y="1691640"/>
            <a:ext cx="82296" cy="23317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877824" y="1874520"/>
            <a:ext cx="420624" cy="420624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77824" y="1874520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08176" y="1819656"/>
            <a:ext cx="1508760" cy="43891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320" b="1" i="0">
                <a:solidFill>
                  <a:srgbClr val="161B26"/>
                </a:solidFill>
                <a:latin typeface="Arial"/>
              </a:rPr>
              <a:t>Collaboration needs perm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2386584"/>
            <a:ext cx="1965960" cy="133502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070" b="0" i="0">
                <a:solidFill>
                  <a:srgbClr val="5B6372"/>
                </a:solidFill>
                <a:latin typeface="Arial"/>
              </a:rPr>
              <a:t>Convenience does not replace access governance.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14400" y="3703320"/>
            <a:ext cx="1078992" cy="25603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4400" y="3703320"/>
            <a:ext cx="1078992" cy="25603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1" i="0">
                <a:solidFill>
                  <a:srgbClr val="FFFFFF"/>
                </a:solidFill>
                <a:latin typeface="Arial"/>
              </a:rPr>
              <a:t>DESIGN LENS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401568" y="1691640"/>
            <a:ext cx="2487168" cy="233172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3401568" y="1691640"/>
            <a:ext cx="82296" cy="2331720"/>
          </a:xfrm>
          <a:prstGeom prst="rect">
            <a:avLst/>
          </a:prstGeom>
          <a:solidFill>
            <a:srgbClr val="724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3621024" y="1874520"/>
            <a:ext cx="420624" cy="420624"/>
          </a:xfrm>
          <a:prstGeom prst="ellipse">
            <a:avLst/>
          </a:prstGeom>
          <a:solidFill>
            <a:srgbClr val="724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621024" y="1874520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151376" y="1819656"/>
            <a:ext cx="1508760" cy="43891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320" b="1" i="0">
                <a:solidFill>
                  <a:srgbClr val="161B26"/>
                </a:solidFill>
                <a:latin typeface="Arial"/>
              </a:rPr>
              <a:t>Choose export by downstr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657600" y="2386584"/>
            <a:ext cx="1965960" cy="133502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070" b="0" i="0">
                <a:solidFill>
                  <a:srgbClr val="5B6372"/>
                </a:solidFill>
                <a:latin typeface="Arial"/>
              </a:rPr>
              <a:t>The best format preserves what the next role needs to know.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657600" y="3703320"/>
            <a:ext cx="1078992" cy="256032"/>
          </a:xfrm>
          <a:prstGeom prst="rect">
            <a:avLst/>
          </a:prstGeom>
          <a:solidFill>
            <a:srgbClr val="724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657600" y="3703320"/>
            <a:ext cx="1078992" cy="25603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1" i="0">
                <a:solidFill>
                  <a:srgbClr val="FFFFFF"/>
                </a:solidFill>
                <a:latin typeface="Arial"/>
              </a:rPr>
              <a:t>DESIGN LENS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144768" y="1691640"/>
            <a:ext cx="2487168" cy="233172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144768" y="1691640"/>
            <a:ext cx="82296" cy="2331720"/>
          </a:xfrm>
          <a:prstGeom prst="rect">
            <a:avLst/>
          </a:prstGeom>
          <a:solidFill>
            <a:srgbClr val="1098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6364224" y="1874520"/>
            <a:ext cx="420624" cy="420624"/>
          </a:xfrm>
          <a:prstGeom prst="ellipse">
            <a:avLst/>
          </a:prstGeom>
          <a:solidFill>
            <a:srgbClr val="1098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364224" y="1874520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894576" y="1819656"/>
            <a:ext cx="1508760" cy="43891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320" b="1" i="0">
                <a:solidFill>
                  <a:srgbClr val="161B26"/>
                </a:solidFill>
                <a:latin typeface="Arial"/>
              </a:rPr>
              <a:t>Claude Design and Claude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00800" y="2386584"/>
            <a:ext cx="1965960" cy="133502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070" b="0" i="0">
                <a:solidFill>
                  <a:srgbClr val="5B6372"/>
                </a:solidFill>
                <a:latin typeface="Arial"/>
              </a:rPr>
              <a:t>A shared source reduces translation loss but does not remove QA.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400800" y="3703320"/>
            <a:ext cx="1078992" cy="256032"/>
          </a:xfrm>
          <a:prstGeom prst="rect">
            <a:avLst/>
          </a:prstGeom>
          <a:solidFill>
            <a:srgbClr val="1098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400800" y="3703320"/>
            <a:ext cx="1078992" cy="25603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1" i="0">
                <a:solidFill>
                  <a:srgbClr val="FFFFFF"/>
                </a:solidFill>
                <a:latin typeface="Arial"/>
              </a:rPr>
              <a:t>DESIGN LENS</a:t>
            </a:r>
          </a:p>
        </p:txBody>
      </p:sp>
      <p:sp>
        <p:nvSpPr>
          <p:cNvPr id="34" name="Rectangle 33"/>
          <p:cNvSpPr/>
          <p:nvPr/>
        </p:nvSpPr>
        <p:spPr>
          <a:xfrm>
            <a:off x="8887968" y="1691640"/>
            <a:ext cx="2487168" cy="233172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8887968" y="1691640"/>
            <a:ext cx="82296" cy="2331720"/>
          </a:xfrm>
          <a:prstGeom prst="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9107424" y="1874520"/>
            <a:ext cx="420624" cy="420624"/>
          </a:xfrm>
          <a:prstGeom prst="ellipse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107424" y="1874520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637776" y="1819656"/>
            <a:ext cx="1508760" cy="43891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320" b="1" i="0">
                <a:solidFill>
                  <a:srgbClr val="161B26"/>
                </a:solidFill>
                <a:latin typeface="Arial"/>
              </a:rPr>
              <a:t>A decision log explains 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144000" y="2386584"/>
            <a:ext cx="1965960" cy="133502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070" b="0" i="0">
                <a:solidFill>
                  <a:srgbClr val="5B6372"/>
                </a:solidFill>
                <a:latin typeface="Arial"/>
              </a:rPr>
              <a:t>Documentation preserves intent when people and tools change.</a:t>
            </a:r>
          </a:p>
        </p:txBody>
      </p:sp>
      <p:sp>
        <p:nvSpPr>
          <p:cNvPr id="40" name="Rectangle 39"/>
          <p:cNvSpPr/>
          <p:nvPr/>
        </p:nvSpPr>
        <p:spPr>
          <a:xfrm>
            <a:off x="9144000" y="3703320"/>
            <a:ext cx="1078992" cy="256032"/>
          </a:xfrm>
          <a:prstGeom prst="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9144000" y="3703320"/>
            <a:ext cx="1078992" cy="25603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1" i="0">
                <a:solidFill>
                  <a:srgbClr val="FFFFFF"/>
                </a:solidFill>
                <a:latin typeface="Arial"/>
              </a:rPr>
              <a:t>DESIGN LENS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58368" y="4315968"/>
            <a:ext cx="10835640" cy="13258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914400" y="4480560"/>
            <a:ext cx="1828800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 i="0">
                <a:solidFill>
                  <a:srgbClr val="16845B"/>
                </a:solidFill>
                <a:latin typeface="Arial"/>
              </a:rPr>
              <a:t>SYNTHESIS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14400" y="4846320"/>
            <a:ext cx="10195560" cy="56692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 i="0">
                <a:solidFill>
                  <a:srgbClr val="161B26"/>
                </a:solidFill>
                <a:latin typeface="Arial"/>
              </a:rPr>
              <a:t>Convenience does not replace access governance; documentation preserves intent when people and tools change.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16845B"/>
                </a:solidFill>
                <a:latin typeface="Arial"/>
              </a:rPr>
              <a:t>COURSE SUMMARY · OUTCOMES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21792"/>
            <a:ext cx="10835640" cy="6583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 i="0">
                <a:solidFill>
                  <a:srgbClr val="161B26"/>
                </a:solidFill>
                <a:latin typeface="Arial"/>
              </a:rPr>
              <a:t>What you can now do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6419088"/>
            <a:ext cx="4663440" cy="2194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 i="0">
                <a:solidFill>
                  <a:srgbClr val="5B6372"/>
                </a:solidFill>
                <a:latin typeface="Arial"/>
              </a:rPr>
              <a:t>Claude Design for UX/UI · C744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89120" y="6419088"/>
            <a:ext cx="3657600" cy="2194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0" i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44200" y="6419088"/>
            <a:ext cx="731520" cy="2194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 i="0">
                <a:solidFill>
                  <a:srgbClr val="5B6372"/>
                </a:solidFill>
                <a:latin typeface="Arial"/>
              </a:rPr>
              <a:t>136</a:t>
            </a:r>
          </a:p>
        </p:txBody>
      </p:sp>
      <p:sp>
        <p:nvSpPr>
          <p:cNvPr id="10" name="Rectangle 9"/>
          <p:cNvSpPr/>
          <p:nvPr/>
        </p:nvSpPr>
        <p:spPr>
          <a:xfrm>
            <a:off x="658368" y="1691640"/>
            <a:ext cx="2487168" cy="233172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58368" y="1691640"/>
            <a:ext cx="82296" cy="23317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877824" y="1874520"/>
            <a:ext cx="420624" cy="420624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77824" y="1874520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08176" y="1819656"/>
            <a:ext cx="1508760" cy="43891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320" b="1" i="0">
                <a:solidFill>
                  <a:srgbClr val="161B26"/>
                </a:solidFill>
                <a:latin typeface="Arial"/>
              </a:rPr>
              <a:t>Frame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2386584"/>
            <a:ext cx="1965960" cy="133502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070" b="0" i="0">
                <a:solidFill>
                  <a:srgbClr val="5B6372"/>
                </a:solidFill>
                <a:latin typeface="Arial"/>
              </a:rPr>
              <a:t>Translate user evidence into requirements and complete information flows.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14400" y="3703320"/>
            <a:ext cx="1078992" cy="25603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4400" y="3703320"/>
            <a:ext cx="1078992" cy="25603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1" i="0">
                <a:solidFill>
                  <a:srgbClr val="FFFFFF"/>
                </a:solidFill>
                <a:latin typeface="Arial"/>
              </a:rPr>
              <a:t>DESIGN LENS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401568" y="1691640"/>
            <a:ext cx="2487168" cy="233172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3401568" y="1691640"/>
            <a:ext cx="82296" cy="2331720"/>
          </a:xfrm>
          <a:prstGeom prst="rect">
            <a:avLst/>
          </a:prstGeom>
          <a:solidFill>
            <a:srgbClr val="724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3621024" y="1874520"/>
            <a:ext cx="420624" cy="420624"/>
          </a:xfrm>
          <a:prstGeom prst="ellipse">
            <a:avLst/>
          </a:prstGeom>
          <a:solidFill>
            <a:srgbClr val="724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621024" y="1874520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151376" y="1819656"/>
            <a:ext cx="1508760" cy="43891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320" b="1" i="0">
                <a:solidFill>
                  <a:srgbClr val="161B26"/>
                </a:solidFill>
                <a:latin typeface="Arial"/>
              </a:rPr>
              <a:t>Generate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657600" y="2386584"/>
            <a:ext cx="1965960" cy="133502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070" b="0" i="0">
                <a:solidFill>
                  <a:srgbClr val="5B6372"/>
                </a:solidFill>
                <a:latin typeface="Arial"/>
              </a:rPr>
              <a:t>Use Claude Design with context, systems and explicit acceptance criteria.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657600" y="3703320"/>
            <a:ext cx="1078992" cy="256032"/>
          </a:xfrm>
          <a:prstGeom prst="rect">
            <a:avLst/>
          </a:prstGeom>
          <a:solidFill>
            <a:srgbClr val="724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657600" y="3703320"/>
            <a:ext cx="1078992" cy="25603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1" i="0">
                <a:solidFill>
                  <a:srgbClr val="FFFFFF"/>
                </a:solidFill>
                <a:latin typeface="Arial"/>
              </a:rPr>
              <a:t>DESIGN LENS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144768" y="1691640"/>
            <a:ext cx="2487168" cy="233172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144768" y="1691640"/>
            <a:ext cx="82296" cy="2331720"/>
          </a:xfrm>
          <a:prstGeom prst="rect">
            <a:avLst/>
          </a:prstGeom>
          <a:solidFill>
            <a:srgbClr val="1098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6364224" y="1874520"/>
            <a:ext cx="420624" cy="420624"/>
          </a:xfrm>
          <a:prstGeom prst="ellipse">
            <a:avLst/>
          </a:prstGeom>
          <a:solidFill>
            <a:srgbClr val="1098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364224" y="1874520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894576" y="1819656"/>
            <a:ext cx="1508760" cy="43891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320" b="1" i="0">
                <a:solidFill>
                  <a:srgbClr val="161B26"/>
                </a:solidFill>
                <a:latin typeface="Arial"/>
              </a:rPr>
              <a:t>Evaluate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00800" y="2386584"/>
            <a:ext cx="1965960" cy="133502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070" b="0" i="0">
                <a:solidFill>
                  <a:srgbClr val="5B6372"/>
                </a:solidFill>
                <a:latin typeface="Arial"/>
              </a:rPr>
              <a:t>Test components, states and flows with usability and accessibility evidence.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400800" y="3703320"/>
            <a:ext cx="1078992" cy="256032"/>
          </a:xfrm>
          <a:prstGeom prst="rect">
            <a:avLst/>
          </a:prstGeom>
          <a:solidFill>
            <a:srgbClr val="1098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400800" y="3703320"/>
            <a:ext cx="1078992" cy="25603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1" i="0">
                <a:solidFill>
                  <a:srgbClr val="FFFFFF"/>
                </a:solidFill>
                <a:latin typeface="Arial"/>
              </a:rPr>
              <a:t>DESIGN LENS</a:t>
            </a:r>
          </a:p>
        </p:txBody>
      </p:sp>
      <p:sp>
        <p:nvSpPr>
          <p:cNvPr id="34" name="Rectangle 33"/>
          <p:cNvSpPr/>
          <p:nvPr/>
        </p:nvSpPr>
        <p:spPr>
          <a:xfrm>
            <a:off x="8887968" y="1691640"/>
            <a:ext cx="2487168" cy="233172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8887968" y="1691640"/>
            <a:ext cx="82296" cy="2331720"/>
          </a:xfrm>
          <a:prstGeom prst="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9107424" y="1874520"/>
            <a:ext cx="420624" cy="420624"/>
          </a:xfrm>
          <a:prstGeom prst="ellipse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107424" y="1874520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637776" y="1819656"/>
            <a:ext cx="1508760" cy="43891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320" b="1" i="0">
                <a:solidFill>
                  <a:srgbClr val="161B26"/>
                </a:solidFill>
                <a:latin typeface="Arial"/>
              </a:rPr>
              <a:t>Handoff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144000" y="2386584"/>
            <a:ext cx="1965960" cy="133502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070" b="0" i="0">
                <a:solidFill>
                  <a:srgbClr val="5B6372"/>
                </a:solidFill>
                <a:latin typeface="Arial"/>
              </a:rPr>
              <a:t>Document decisions, export the right format and guide the next role.</a:t>
            </a:r>
          </a:p>
        </p:txBody>
      </p:sp>
      <p:sp>
        <p:nvSpPr>
          <p:cNvPr id="40" name="Rectangle 39"/>
          <p:cNvSpPr/>
          <p:nvPr/>
        </p:nvSpPr>
        <p:spPr>
          <a:xfrm>
            <a:off x="9144000" y="3703320"/>
            <a:ext cx="1078992" cy="256032"/>
          </a:xfrm>
          <a:prstGeom prst="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9144000" y="3703320"/>
            <a:ext cx="1078992" cy="25603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1" i="0">
                <a:solidFill>
                  <a:srgbClr val="FFFFFF"/>
                </a:solidFill>
                <a:latin typeface="Arial"/>
              </a:rPr>
              <a:t>DESIGN LENS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58368" y="4315968"/>
            <a:ext cx="10835640" cy="13258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914400" y="4480560"/>
            <a:ext cx="1828800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 i="0">
                <a:solidFill>
                  <a:srgbClr val="16845B"/>
                </a:solidFill>
                <a:latin typeface="Arial"/>
              </a:rPr>
              <a:t>SYNTHESIS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14400" y="4846320"/>
            <a:ext cx="10195560" cy="56692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 i="0">
                <a:solidFill>
                  <a:srgbClr val="161B26"/>
                </a:solidFill>
                <a:latin typeface="Arial"/>
              </a:rPr>
              <a:t>Translate user evidence into requirements and complete information flows; document decisions, export the right format and guide the next role.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724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724CD6"/>
                </a:solidFill>
                <a:latin typeface="Arial"/>
              </a:rPr>
              <a:t>REFERENCES · LIVE LINKS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21792"/>
            <a:ext cx="10835640" cy="6583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 i="0">
                <a:solidFill>
                  <a:srgbClr val="161B26"/>
                </a:solidFill>
                <a:latin typeface="Arial"/>
              </a:rPr>
              <a:t>Sources and further reading · 1 of 2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6419088"/>
            <a:ext cx="4663440" cy="2194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 i="0">
                <a:solidFill>
                  <a:srgbClr val="5B6372"/>
                </a:solidFill>
                <a:latin typeface="Arial"/>
              </a:rPr>
              <a:t>Claude Design for UX/UI · C744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89120" y="6419088"/>
            <a:ext cx="3657600" cy="2194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0" i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44200" y="6419088"/>
            <a:ext cx="731520" cy="2194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 i="0">
                <a:solidFill>
                  <a:srgbClr val="5B6372"/>
                </a:solidFill>
                <a:latin typeface="Arial"/>
              </a:rPr>
              <a:t>137</a:t>
            </a:r>
          </a:p>
        </p:txBody>
      </p:sp>
      <p:sp>
        <p:nvSpPr>
          <p:cNvPr id="10" name="Rectangle 9"/>
          <p:cNvSpPr/>
          <p:nvPr/>
        </p:nvSpPr>
        <p:spPr>
          <a:xfrm>
            <a:off x="749808" y="1664208"/>
            <a:ext cx="10625328" cy="47548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49808" y="1664208"/>
            <a:ext cx="73152" cy="47548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87552" y="1728216"/>
            <a:ext cx="384048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940" b="1" i="0">
                <a:solidFill>
                  <a:srgbClr val="161B26"/>
                </a:solidFill>
                <a:latin typeface="Arial"/>
              </a:rPr>
              <a:t>Figma — Seven essential UI design principles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09160" y="1728216"/>
            <a:ext cx="6327648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30" b="0" i="0">
                <a:solidFill>
                  <a:srgbClr val="1F6FEB"/>
                </a:solidFill>
                <a:latin typeface="Arial"/>
              </a:rPr>
              <a:t/>
            </a:r>
            <a:r>
              <a:rPr sz="830" b="0">
                <a:solidFill>
                  <a:srgbClr val="1F6FEB"/>
                </a:solidFill>
                <a:latin typeface="Arial"/>
                <a:hlinkClick r:id="rId2"/>
              </a:rPr>
              <a:t>https://www.figma.com/resource-library/ui-design-principles/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49808" y="2185416"/>
            <a:ext cx="10625328" cy="47548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49808" y="2185416"/>
            <a:ext cx="73152" cy="475488"/>
          </a:xfrm>
          <a:prstGeom prst="rect">
            <a:avLst/>
          </a:prstGeom>
          <a:solidFill>
            <a:srgbClr val="724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87552" y="2249424"/>
            <a:ext cx="384048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940" b="1" i="0">
                <a:solidFill>
                  <a:srgbClr val="161B26"/>
                </a:solidFill>
                <a:latin typeface="Arial"/>
              </a:rPr>
              <a:t>Microsoft — Key UI/UX design principles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709160" y="2249424"/>
            <a:ext cx="6327648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30" b="0" i="0">
                <a:solidFill>
                  <a:srgbClr val="1F6FEB"/>
                </a:solidFill>
                <a:latin typeface="Arial"/>
              </a:rPr>
              <a:t/>
            </a:r>
            <a:r>
              <a:rPr sz="830" b="0">
                <a:solidFill>
                  <a:srgbClr val="1F6FEB"/>
                </a:solidFill>
                <a:latin typeface="Arial"/>
                <a:hlinkClick r:id="rId3"/>
              </a:rPr>
              <a:t>https://learn.microsoft.com/en-us/dynamics365/guidance/develop/ui-ux-design-principles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49808" y="2706624"/>
            <a:ext cx="10625328" cy="47548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749808" y="2706624"/>
            <a:ext cx="73152" cy="475488"/>
          </a:xfrm>
          <a:prstGeom prst="rect">
            <a:avLst/>
          </a:prstGeom>
          <a:solidFill>
            <a:srgbClr val="1098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87552" y="2770632"/>
            <a:ext cx="384048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940" b="1" i="0">
                <a:solidFill>
                  <a:srgbClr val="161B26"/>
                </a:solidFill>
                <a:latin typeface="Arial"/>
              </a:rPr>
              <a:t>UXPin — Essential UI design principles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709160" y="2770632"/>
            <a:ext cx="6327648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30" b="0" i="0">
                <a:solidFill>
                  <a:srgbClr val="1F6FEB"/>
                </a:solidFill>
                <a:latin typeface="Arial"/>
              </a:rPr>
              <a:t/>
            </a:r>
            <a:r>
              <a:rPr sz="830" b="0">
                <a:solidFill>
                  <a:srgbClr val="1F6FEB"/>
                </a:solidFill>
                <a:latin typeface="Arial"/>
                <a:hlinkClick r:id="rId4"/>
              </a:rPr>
              <a:t>https://www.uxpin.com/studio/blog/ui-design-principles/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49808" y="3227832"/>
            <a:ext cx="10625328" cy="47548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749808" y="3227832"/>
            <a:ext cx="73152" cy="475488"/>
          </a:xfrm>
          <a:prstGeom prst="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87552" y="3291839"/>
            <a:ext cx="384048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940" b="1" i="0">
                <a:solidFill>
                  <a:srgbClr val="161B26"/>
                </a:solidFill>
                <a:latin typeface="Arial"/>
              </a:rPr>
              <a:t>Contentsquare — Core UI design principles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709160" y="3291839"/>
            <a:ext cx="6327648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30" b="0" i="0">
                <a:solidFill>
                  <a:srgbClr val="1F6FEB"/>
                </a:solidFill>
                <a:latin typeface="Arial"/>
              </a:rPr>
              <a:t/>
            </a:r>
            <a:r>
              <a:rPr sz="830" b="0">
                <a:solidFill>
                  <a:srgbClr val="1F6FEB"/>
                </a:solidFill>
                <a:latin typeface="Arial"/>
                <a:hlinkClick r:id="rId5"/>
              </a:rPr>
              <a:t>https://contentsquare.com/guides/ui-design/principles/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49808" y="3749039"/>
            <a:ext cx="10625328" cy="47548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749808" y="3749039"/>
            <a:ext cx="73152" cy="475488"/>
          </a:xfrm>
          <a:prstGeom prst="rect">
            <a:avLst/>
          </a:prstGeom>
          <a:solidFill>
            <a:srgbClr val="C77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87552" y="3813048"/>
            <a:ext cx="384048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940" b="1" i="0">
                <a:solidFill>
                  <a:srgbClr val="161B26"/>
                </a:solidFill>
                <a:latin typeface="Arial"/>
              </a:rPr>
              <a:t>MockFlow — Design principles for intuitive UI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709160" y="3813048"/>
            <a:ext cx="6327648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30" b="0" i="0">
                <a:solidFill>
                  <a:srgbClr val="1F6FEB"/>
                </a:solidFill>
                <a:latin typeface="Arial"/>
              </a:rPr>
              <a:t/>
            </a:r>
            <a:r>
              <a:rPr sz="830" b="0">
                <a:solidFill>
                  <a:srgbClr val="1F6FEB"/>
                </a:solidFill>
                <a:latin typeface="Arial"/>
                <a:hlinkClick r:id="rId6"/>
              </a:rPr>
              <a:t>https://mockflow.com/resources/ui-design-principles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749808" y="4270248"/>
            <a:ext cx="10625328" cy="47548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749808" y="4270248"/>
            <a:ext cx="73152" cy="475488"/>
          </a:xfrm>
          <a:prstGeom prst="rect">
            <a:avLst/>
          </a:prstGeom>
          <a:solidFill>
            <a:srgbClr val="F06F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87552" y="4334256"/>
            <a:ext cx="384048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940" b="1" i="0">
                <a:solidFill>
                  <a:srgbClr val="161B26"/>
                </a:solidFill>
                <a:latin typeface="Arial"/>
              </a:rPr>
              <a:t>MockFlow — UI principles for usability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709160" y="4334256"/>
            <a:ext cx="6327648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30" b="0" i="0">
                <a:solidFill>
                  <a:srgbClr val="1F6FEB"/>
                </a:solidFill>
                <a:latin typeface="Arial"/>
              </a:rPr>
              <a:t/>
            </a:r>
            <a:r>
              <a:rPr sz="830" b="0">
                <a:solidFill>
                  <a:srgbClr val="1F6FEB"/>
                </a:solidFill>
                <a:latin typeface="Arial"/>
                <a:hlinkClick r:id="rId7"/>
              </a:rPr>
              <a:t>https://mockflow.com/blog/ui-design-principles</a:t>
            </a:r>
          </a:p>
        </p:txBody>
      </p:sp>
      <p:sp>
        <p:nvSpPr>
          <p:cNvPr id="34" name="Rectangle 33"/>
          <p:cNvSpPr/>
          <p:nvPr/>
        </p:nvSpPr>
        <p:spPr>
          <a:xfrm>
            <a:off x="749808" y="4791456"/>
            <a:ext cx="10625328" cy="47548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749808" y="4791456"/>
            <a:ext cx="73152" cy="47548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87552" y="4855464"/>
            <a:ext cx="384048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940" b="1" i="0">
                <a:solidFill>
                  <a:srgbClr val="161B26"/>
                </a:solidFill>
                <a:latin typeface="Arial"/>
              </a:rPr>
              <a:t>WeWeb — UI design principles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709160" y="4855464"/>
            <a:ext cx="6327648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30" b="0" i="0">
                <a:solidFill>
                  <a:srgbClr val="1F6FEB"/>
                </a:solidFill>
                <a:latin typeface="Arial"/>
              </a:rPr>
              <a:t/>
            </a:r>
            <a:r>
              <a:rPr sz="830" b="0">
                <a:solidFill>
                  <a:srgbClr val="1F6FEB"/>
                </a:solidFill>
                <a:latin typeface="Arial"/>
                <a:hlinkClick r:id="rId8"/>
              </a:rPr>
              <a:t>https://www.weweb.io/blog/ui-design-principles</a:t>
            </a:r>
          </a:p>
        </p:txBody>
      </p:sp>
      <p:sp>
        <p:nvSpPr>
          <p:cNvPr id="38" name="Rectangle 37"/>
          <p:cNvSpPr/>
          <p:nvPr/>
        </p:nvSpPr>
        <p:spPr>
          <a:xfrm>
            <a:off x="749808" y="5312664"/>
            <a:ext cx="10625328" cy="47548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749808" y="5312664"/>
            <a:ext cx="73152" cy="475488"/>
          </a:xfrm>
          <a:prstGeom prst="rect">
            <a:avLst/>
          </a:prstGeom>
          <a:solidFill>
            <a:srgbClr val="724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987552" y="5376672"/>
            <a:ext cx="384048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940" b="1" i="0">
                <a:solidFill>
                  <a:srgbClr val="161B26"/>
                </a:solidFill>
                <a:latin typeface="Arial"/>
              </a:rPr>
              <a:t>Visily — Visual design principles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709160" y="5376672"/>
            <a:ext cx="6327648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30" b="0" i="0">
                <a:solidFill>
                  <a:srgbClr val="1F6FEB"/>
                </a:solidFill>
                <a:latin typeface="Arial"/>
              </a:rPr>
              <a:t/>
            </a:r>
            <a:r>
              <a:rPr sz="830" b="0">
                <a:solidFill>
                  <a:srgbClr val="1F6FEB"/>
                </a:solidFill>
                <a:latin typeface="Arial"/>
                <a:hlinkClick r:id="rId9"/>
              </a:rPr>
              <a:t>https://www.visily.ai/blog/visual-design-principles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724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724CD6"/>
                </a:solidFill>
                <a:latin typeface="Arial"/>
              </a:rPr>
              <a:t>REFERENCES · LIVE LINKS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21792"/>
            <a:ext cx="10835640" cy="6583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 i="0">
                <a:solidFill>
                  <a:srgbClr val="161B26"/>
                </a:solidFill>
                <a:latin typeface="Arial"/>
              </a:rPr>
              <a:t>Sources and further reading · 2 of 2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6419088"/>
            <a:ext cx="4663440" cy="2194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 i="0">
                <a:solidFill>
                  <a:srgbClr val="5B6372"/>
                </a:solidFill>
                <a:latin typeface="Arial"/>
              </a:rPr>
              <a:t>Claude Design for UX/UI · C744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89120" y="6419088"/>
            <a:ext cx="3657600" cy="2194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0" i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44200" y="6419088"/>
            <a:ext cx="731520" cy="2194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 i="0">
                <a:solidFill>
                  <a:srgbClr val="5B6372"/>
                </a:solidFill>
                <a:latin typeface="Arial"/>
              </a:rPr>
              <a:t>138</a:t>
            </a:r>
          </a:p>
        </p:txBody>
      </p:sp>
      <p:sp>
        <p:nvSpPr>
          <p:cNvPr id="10" name="Rectangle 9"/>
          <p:cNvSpPr/>
          <p:nvPr/>
        </p:nvSpPr>
        <p:spPr>
          <a:xfrm>
            <a:off x="749808" y="1664208"/>
            <a:ext cx="10625328" cy="47548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49808" y="1664208"/>
            <a:ext cx="73152" cy="47548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87552" y="1728216"/>
            <a:ext cx="384048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940" b="1" i="0">
                <a:solidFill>
                  <a:srgbClr val="161B26"/>
                </a:solidFill>
                <a:latin typeface="Arial"/>
              </a:rPr>
              <a:t>Dribbble — Fundamental UI design principles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09160" y="1728216"/>
            <a:ext cx="6327648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30" b="0" i="0">
                <a:solidFill>
                  <a:srgbClr val="1F6FEB"/>
                </a:solidFill>
                <a:latin typeface="Arial"/>
              </a:rPr>
              <a:t/>
            </a:r>
            <a:r>
              <a:rPr sz="830" b="0">
                <a:solidFill>
                  <a:srgbClr val="1F6FEB"/>
                </a:solidFill>
                <a:latin typeface="Arial"/>
                <a:hlinkClick r:id="rId2"/>
              </a:rPr>
              <a:t>https://dribbble.com/resources/education/ui-design-principles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49808" y="2185416"/>
            <a:ext cx="10625328" cy="47548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49808" y="2185416"/>
            <a:ext cx="73152" cy="475488"/>
          </a:xfrm>
          <a:prstGeom prst="rect">
            <a:avLst/>
          </a:prstGeom>
          <a:solidFill>
            <a:srgbClr val="724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87552" y="2249424"/>
            <a:ext cx="384048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940" b="1" i="0">
                <a:solidFill>
                  <a:srgbClr val="161B26"/>
                </a:solidFill>
                <a:latin typeface="Arial"/>
              </a:rPr>
              <a:t>Maze — Key principles of UI design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709160" y="2249424"/>
            <a:ext cx="6327648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30" b="0" i="0">
                <a:solidFill>
                  <a:srgbClr val="1F6FEB"/>
                </a:solidFill>
                <a:latin typeface="Arial"/>
              </a:rPr>
              <a:t/>
            </a:r>
            <a:r>
              <a:rPr sz="830" b="0">
                <a:solidFill>
                  <a:srgbClr val="1F6FEB"/>
                </a:solidFill>
                <a:latin typeface="Arial"/>
                <a:hlinkClick r:id="rId3"/>
              </a:rPr>
              <a:t>https://maze.co/collections/ux-ui-design/ui-design-principles/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49808" y="2706624"/>
            <a:ext cx="10625328" cy="47548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749808" y="2706624"/>
            <a:ext cx="73152" cy="475488"/>
          </a:xfrm>
          <a:prstGeom prst="rect">
            <a:avLst/>
          </a:prstGeom>
          <a:solidFill>
            <a:srgbClr val="1098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87552" y="2770632"/>
            <a:ext cx="384048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940" b="1" i="0">
                <a:solidFill>
                  <a:srgbClr val="161B26"/>
                </a:solidFill>
                <a:latin typeface="Arial"/>
              </a:rPr>
              <a:t>GeeksforGeeks — Principles of UI/UX design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709160" y="2770632"/>
            <a:ext cx="6327648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30" b="0" i="0">
                <a:solidFill>
                  <a:srgbClr val="1F6FEB"/>
                </a:solidFill>
                <a:latin typeface="Arial"/>
              </a:rPr>
              <a:t/>
            </a:r>
            <a:r>
              <a:rPr sz="830" b="0">
                <a:solidFill>
                  <a:srgbClr val="1F6FEB"/>
                </a:solidFill>
                <a:latin typeface="Arial"/>
                <a:hlinkClick r:id="rId4"/>
              </a:rPr>
              <a:t>https://www.geeksforgeeks.org/techtips/principles-of-ui-ux-design/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49808" y="3227832"/>
            <a:ext cx="10625328" cy="47548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749808" y="3227832"/>
            <a:ext cx="73152" cy="475488"/>
          </a:xfrm>
          <a:prstGeom prst="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87552" y="3291839"/>
            <a:ext cx="384048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940" b="1" i="0">
                <a:solidFill>
                  <a:srgbClr val="161B26"/>
                </a:solidFill>
                <a:latin typeface="Arial"/>
              </a:rPr>
              <a:t>Duck.Design — Key UI design principles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709160" y="3291839"/>
            <a:ext cx="6327648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30" b="0" i="0">
                <a:solidFill>
                  <a:srgbClr val="1F6FEB"/>
                </a:solidFill>
                <a:latin typeface="Arial"/>
              </a:rPr>
              <a:t/>
            </a:r>
            <a:r>
              <a:rPr sz="830" b="0">
                <a:solidFill>
                  <a:srgbClr val="1F6FEB"/>
                </a:solidFill>
                <a:latin typeface="Arial"/>
                <a:hlinkClick r:id="rId5"/>
              </a:rPr>
              <a:t>https://duck.design/key-ui-design-principles/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49808" y="3749039"/>
            <a:ext cx="10625328" cy="47548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749808" y="3749039"/>
            <a:ext cx="73152" cy="475488"/>
          </a:xfrm>
          <a:prstGeom prst="rect">
            <a:avLst/>
          </a:prstGeom>
          <a:solidFill>
            <a:srgbClr val="C77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87552" y="3813048"/>
            <a:ext cx="384048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940" b="1" i="0">
                <a:solidFill>
                  <a:srgbClr val="161B26"/>
                </a:solidFill>
                <a:latin typeface="Arial"/>
              </a:rPr>
              <a:t>Anthropic — Introducing Claude Design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709160" y="3813048"/>
            <a:ext cx="6327648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30" b="0" i="0">
                <a:solidFill>
                  <a:srgbClr val="1F6FEB"/>
                </a:solidFill>
                <a:latin typeface="Arial"/>
              </a:rPr>
              <a:t/>
            </a:r>
            <a:r>
              <a:rPr sz="830" b="0">
                <a:solidFill>
                  <a:srgbClr val="1F6FEB"/>
                </a:solidFill>
                <a:latin typeface="Arial"/>
                <a:hlinkClick r:id="rId6"/>
              </a:rPr>
              <a:t>https://www.anthropic.com/news/claude-design-anthropic-labs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749808" y="4270248"/>
            <a:ext cx="10625328" cy="47548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749808" y="4270248"/>
            <a:ext cx="73152" cy="475488"/>
          </a:xfrm>
          <a:prstGeom prst="rect">
            <a:avLst/>
          </a:prstGeom>
          <a:solidFill>
            <a:srgbClr val="F06F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87552" y="4334256"/>
            <a:ext cx="384048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940" b="1" i="0">
                <a:solidFill>
                  <a:srgbClr val="161B26"/>
                </a:solidFill>
                <a:latin typeface="Arial"/>
              </a:rPr>
              <a:t>Anthropic Help — Get started with Claude Design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709160" y="4334256"/>
            <a:ext cx="6327648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30" b="0" i="0">
                <a:solidFill>
                  <a:srgbClr val="1F6FEB"/>
                </a:solidFill>
                <a:latin typeface="Arial"/>
              </a:rPr>
              <a:t/>
            </a:r>
            <a:r>
              <a:rPr sz="830" b="0">
                <a:solidFill>
                  <a:srgbClr val="1F6FEB"/>
                </a:solidFill>
                <a:latin typeface="Arial"/>
                <a:hlinkClick r:id="rId7"/>
              </a:rPr>
              <a:t>https://support.claude.com/en/articles/14604416-get-started-with-claude-design</a:t>
            </a:r>
          </a:p>
        </p:txBody>
      </p:sp>
      <p:sp>
        <p:nvSpPr>
          <p:cNvPr id="34" name="Rectangle 33"/>
          <p:cNvSpPr/>
          <p:nvPr/>
        </p:nvSpPr>
        <p:spPr>
          <a:xfrm>
            <a:off x="749808" y="4791456"/>
            <a:ext cx="10625328" cy="47548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749808" y="4791456"/>
            <a:ext cx="73152" cy="47548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87552" y="4855464"/>
            <a:ext cx="384048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940" b="1" i="0">
                <a:solidFill>
                  <a:srgbClr val="161B26"/>
                </a:solidFill>
                <a:latin typeface="Arial"/>
              </a:rPr>
              <a:t>Developers Digest — Claude Design developer guide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709160" y="4855464"/>
            <a:ext cx="6327648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30" b="0" i="0">
                <a:solidFill>
                  <a:srgbClr val="1F6FEB"/>
                </a:solidFill>
                <a:latin typeface="Arial"/>
              </a:rPr>
              <a:t/>
            </a:r>
            <a:r>
              <a:rPr sz="830" b="0">
                <a:solidFill>
                  <a:srgbClr val="1F6FEB"/>
                </a:solidFill>
                <a:latin typeface="Arial"/>
                <a:hlinkClick r:id="rId8"/>
              </a:rPr>
              <a:t>https://www.developersdigest.tech/blog/claude-design-developer-guide</a:t>
            </a:r>
          </a:p>
        </p:txBody>
      </p:sp>
      <p:sp>
        <p:nvSpPr>
          <p:cNvPr id="38" name="Rectangle 37"/>
          <p:cNvSpPr/>
          <p:nvPr/>
        </p:nvSpPr>
        <p:spPr>
          <a:xfrm>
            <a:off x="749808" y="5312664"/>
            <a:ext cx="10625328" cy="47548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749808" y="5312664"/>
            <a:ext cx="73152" cy="475488"/>
          </a:xfrm>
          <a:prstGeom prst="rect">
            <a:avLst/>
          </a:prstGeom>
          <a:solidFill>
            <a:srgbClr val="724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987552" y="5376672"/>
            <a:ext cx="384048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940" b="1" i="0">
                <a:solidFill>
                  <a:srgbClr val="161B26"/>
                </a:solidFill>
                <a:latin typeface="Arial"/>
              </a:rPr>
              <a:t>Interface Design — systematic UI patterns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709160" y="5376672"/>
            <a:ext cx="6327648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30" b="0" i="0">
                <a:solidFill>
                  <a:srgbClr val="1F6FEB"/>
                </a:solidFill>
                <a:latin typeface="Arial"/>
              </a:rPr>
              <a:t/>
            </a:r>
            <a:r>
              <a:rPr sz="830" b="0">
                <a:solidFill>
                  <a:srgbClr val="1F6FEB"/>
                </a:solidFill>
                <a:latin typeface="Arial"/>
                <a:hlinkClick r:id="rId9"/>
              </a:rPr>
              <a:t>https://github.com/Dammyjay93/interface-design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724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572768"/>
            <a:ext cx="10515600" cy="34747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 i="0">
                <a:solidFill>
                  <a:srgbClr val="724CD6"/>
                </a:solidFill>
                <a:latin typeface="Arial"/>
              </a:rPr>
              <a:t>Claude Design for UX/UI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267712"/>
            <a:ext cx="10515600" cy="10972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4800" b="1" i="0">
                <a:solidFill>
                  <a:srgbClr val="161B26"/>
                </a:solidFill>
                <a:latin typeface="Arial"/>
              </a:rPr>
              <a:t>Thank you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1248" y="3566160"/>
            <a:ext cx="9966960" cy="6583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200" b="0" i="0">
                <a:solidFill>
                  <a:srgbClr val="5B6372"/>
                </a:solidFill>
                <a:latin typeface="Arial"/>
              </a:rPr>
              <a:t>Design with evidence. Generate with context. Refine with intent.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41248" y="4736592"/>
            <a:ext cx="7772400" cy="34747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1F6FEB"/>
                </a:solidFill>
                <a:latin typeface="Arial"/>
              </a:rPr>
              <a:t>https://www.tertiarycourses.com.sg/claude-design-for-ux-ui.html</a:t>
            </a:r>
            <a:r>
              <a:rPr sz="1200" b="1">
                <a:solidFill>
                  <a:srgbClr val="1F6FEB"/>
                </a:solidFill>
                <a:latin typeface="Arial"/>
                <a:hlinkClick r:id="rId2"/>
              </a:rPr>
              <a:t/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8" y="5650992"/>
            <a:ext cx="9509760" cy="36576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5B6372"/>
                </a:solidFill>
                <a:latin typeface="Arial"/>
              </a:rPr>
              <a:t>Tertiary Infotech Academy Pte Ltd · UEN 201200696W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6419088"/>
            <a:ext cx="4663440" cy="2194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 i="0">
                <a:solidFill>
                  <a:srgbClr val="5B6372"/>
                </a:solidFill>
                <a:latin typeface="Arial"/>
              </a:rPr>
              <a:t>Claude Design for UX/UI · C744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389120" y="6419088"/>
            <a:ext cx="3657600" cy="2194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0" i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744200" y="6419088"/>
            <a:ext cx="731520" cy="2194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 i="0">
                <a:solidFill>
                  <a:srgbClr val="5B6372"/>
                </a:solidFill>
                <a:latin typeface="Arial"/>
              </a:rPr>
              <a:t>139</a:t>
            </a:r>
          </a:p>
        </p:txBody>
      </p:sp>
    </p:spTree>
  </p:cSld>
  <p:clrMapOvr>
    <a:masterClrMapping/>
  </p:clrMapOvr>
  <p:transition spd="fast" advClick="1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Claude Design for UX/UI</dc:title>
  <dc:subject>Claude Design for UX/UI (C744) — non-WSQ course slides</dc:subject>
  <dc:creator>Tertiary Infotech Academy Pte Ltd</dc:creator>
  <cp:keywords>C744, Claude Design, UX design, UI design, prototyping</cp:keywords>
  <dc:description>generated using python-pptx</dc:description>
  <cp:lastModifiedBy>Tertiary Infotech Academy Pte Ltd</cp:lastModifiedBy>
  <cp:revision>1</cp:revision>
  <dcterms:created xsi:type="dcterms:W3CDTF">2013-01-27T09:14:16Z</dcterms:created>
  <dcterms:modified xsi:type="dcterms:W3CDTF">2013-01-27T09:15:58Z</dcterms:modified>
  <cp:category>Course Slides</cp:category>
</cp:coreProperties>
</file>