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5" r:id="rId16"/>
    <p:sldId id="266" r:id="rId17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5" r:id="rId1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slide" Target="slides/slide69.xml"/><Relationship Id="rId83" Type="http://schemas.openxmlformats.org/officeDocument/2006/relationships/slide" Target="slides/slide70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0.xml"/><Relationship Id="rId104" Type="http://schemas.openxmlformats.org/officeDocument/2006/relationships/slide" Target="slides/slide91.xml"/><Relationship Id="rId105" Type="http://schemas.openxmlformats.org/officeDocument/2006/relationships/slide" Target="slides/slide92.xml"/><Relationship Id="rId106" Type="http://schemas.openxmlformats.org/officeDocument/2006/relationships/slide" Target="slides/slide93.xml"/><Relationship Id="rId107" Type="http://schemas.openxmlformats.org/officeDocument/2006/relationships/slide" Target="slides/slide94.xml"/><Relationship Id="rId108" Type="http://schemas.openxmlformats.org/officeDocument/2006/relationships/slide" Target="slides/slide95.xml"/><Relationship Id="rId109" Type="http://schemas.openxmlformats.org/officeDocument/2006/relationships/slide" Target="slides/slide96.xml"/><Relationship Id="rId110" Type="http://schemas.openxmlformats.org/officeDocument/2006/relationships/slide" Target="slides/slide97.xml"/><Relationship Id="rId111" Type="http://schemas.openxmlformats.org/officeDocument/2006/relationships/slide" Target="slides/slide98.xml"/><Relationship Id="rId112" Type="http://schemas.openxmlformats.org/officeDocument/2006/relationships/slide" Target="slides/slide99.xml"/><Relationship Id="rId113" Type="http://schemas.openxmlformats.org/officeDocument/2006/relationships/slide" Target="slides/slide100.xml"/><Relationship Id="rId114" Type="http://schemas.openxmlformats.org/officeDocument/2006/relationships/slide" Target="slides/slide101.xml"/><Relationship Id="rId115" Type="http://schemas.openxmlformats.org/officeDocument/2006/relationships/slide" Target="slides/slide102.xml"/><Relationship Id="rId116" Type="http://schemas.openxmlformats.org/officeDocument/2006/relationships/slide" Target="slides/slide103.xml"/><Relationship Id="rId117" Type="http://schemas.openxmlformats.org/officeDocument/2006/relationships/slide" Target="slides/slide104.xml"/><Relationship Id="rId118" Type="http://schemas.openxmlformats.org/officeDocument/2006/relationships/slide" Target="slides/slide105.xml"/><Relationship Id="rId119" Type="http://schemas.openxmlformats.org/officeDocument/2006/relationships/slide" Target="slides/slide106.xml"/><Relationship Id="rId120" Type="http://schemas.openxmlformats.org/officeDocument/2006/relationships/slide" Target="slides/slide107.xml"/><Relationship Id="rId121" Type="http://schemas.openxmlformats.org/officeDocument/2006/relationships/slide" Target="slides/slide108.xml"/><Relationship Id="rId122" Type="http://schemas.openxmlformats.org/officeDocument/2006/relationships/slide" Target="slides/slide109.xml"/><Relationship Id="rId123" Type="http://schemas.openxmlformats.org/officeDocument/2006/relationships/slide" Target="slides/slide110.xml"/><Relationship Id="rId124" Type="http://schemas.openxmlformats.org/officeDocument/2006/relationships/slide" Target="slides/slide111.xml"/><Relationship Id="rId125" Type="http://schemas.openxmlformats.org/officeDocument/2006/relationships/slide" Target="slides/slide112.xml"/><Relationship Id="rId126" Type="http://schemas.openxmlformats.org/officeDocument/2006/relationships/slide" Target="slides/slide113.xml"/><Relationship Id="rId127" Type="http://schemas.openxmlformats.org/officeDocument/2006/relationships/slide" Target="slides/slide114.xml"/><Relationship Id="rId128" Type="http://schemas.openxmlformats.org/officeDocument/2006/relationships/slide" Target="slides/slide115.xml"/><Relationship Id="rId129" Type="http://schemas.openxmlformats.org/officeDocument/2006/relationships/slide" Target="slides/slide116.xml"/><Relationship Id="rId130" Type="http://schemas.openxmlformats.org/officeDocument/2006/relationships/slide" Target="slides/slide117.xml"/><Relationship Id="rId131" Type="http://schemas.openxmlformats.org/officeDocument/2006/relationships/slide" Target="slides/slide118.xml"/><Relationship Id="rId132" Type="http://schemas.openxmlformats.org/officeDocument/2006/relationships/slide" Target="slides/slide119.xml"/><Relationship Id="rId133" Type="http://schemas.openxmlformats.org/officeDocument/2006/relationships/slide" Target="slides/slide120.xml"/><Relationship Id="rId134" Type="http://schemas.openxmlformats.org/officeDocument/2006/relationships/slide" Target="slides/slide121.xml"/><Relationship Id="rId135" Type="http://schemas.openxmlformats.org/officeDocument/2006/relationships/slide" Target="slides/slide122.xml"/><Relationship Id="rId136" Type="http://schemas.openxmlformats.org/officeDocument/2006/relationships/slide" Target="slides/slide123.xml"/><Relationship Id="rId137" Type="http://schemas.openxmlformats.org/officeDocument/2006/relationships/slide" Target="slides/slide124.xml"/><Relationship Id="rId138" Type="http://schemas.openxmlformats.org/officeDocument/2006/relationships/slide" Target="slides/slide125.xml"/><Relationship Id="rId139" Type="http://schemas.openxmlformats.org/officeDocument/2006/relationships/slide" Target="slides/slide126.xml"/><Relationship Id="rId140" Type="http://schemas.openxmlformats.org/officeDocument/2006/relationships/slide" Target="slides/slide127.xml"/><Relationship Id="rId141" Type="http://schemas.openxmlformats.org/officeDocument/2006/relationships/slide" Target="slides/slide128.xml"/><Relationship Id="rId142" Type="http://schemas.openxmlformats.org/officeDocument/2006/relationships/slide" Target="slides/slide129.xml"/><Relationship Id="rId143" Type="http://schemas.openxmlformats.org/officeDocument/2006/relationships/slide" Target="slides/slide130.xml"/><Relationship Id="rId144" Type="http://schemas.openxmlformats.org/officeDocument/2006/relationships/slide" Target="slides/slide131.xml"/><Relationship Id="rId145" Type="http://schemas.openxmlformats.org/officeDocument/2006/relationships/slide" Target="slides/slide132.xml"/><Relationship Id="rId146" Type="http://schemas.openxmlformats.org/officeDocument/2006/relationships/slide" Target="slides/slide133.xml"/><Relationship Id="rId147" Type="http://schemas.openxmlformats.org/officeDocument/2006/relationships/slide" Target="slides/slide134.xml"/><Relationship Id="rId148" Type="http://schemas.openxmlformats.org/officeDocument/2006/relationships/slide" Target="slides/slide135.xml"/><Relationship Id="rId149" Type="http://schemas.openxmlformats.org/officeDocument/2006/relationships/slide" Target="slides/slide136.xml"/><Relationship Id="rId150" Type="http://schemas.openxmlformats.org/officeDocument/2006/relationships/slide" Target="slides/slide137.xml"/><Relationship Id="rId151" Type="http://schemas.openxmlformats.org/officeDocument/2006/relationships/slide" Target="slides/slide138.xml"/><Relationship Id="rId156" Type="http://schemas.openxmlformats.org/officeDocument/2006/relationships/slide" Target="slides/slide1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task time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noFill/>
              </a:ln>
            </c:spPr>
          </c:dPt>
          <c:dPt>
            <c:idx val="1"/>
            <c:spPr>
              <a:solidFill>
                <a:srgbClr val="724CD6"/>
              </a:solidFill>
              <a:ln>
                <a:noFill/>
              </a:ln>
            </c:spPr>
          </c:dPt>
          <c:dPt>
            <c:idx val="2"/>
            <c:spPr>
              <a:solidFill>
                <a:srgbClr val="10988A"/>
              </a:solidFill>
              <a:ln>
                <a:noFill/>
              </a:ln>
            </c:spPr>
          </c:dPt>
          <c:dPt>
            <c:idx val="3"/>
            <c:spPr>
              <a:solidFill>
                <a:srgbClr val="16845B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3 choices</c:v>
                </c:pt>
                <c:pt idx="1">
                  <c:v>5 choices</c:v>
                </c:pt>
                <c:pt idx="2">
                  <c:v>9 choices</c:v>
                </c:pt>
                <c:pt idx="3">
                  <c:v>15 choices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23</c:v>
                </c:pt>
                <c:pt idx="2">
                  <c:v>37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time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noFill/>
              </a:ln>
            </c:spPr>
          </c:dPt>
          <c:dPt>
            <c:idx val="1"/>
            <c:spPr>
              <a:solidFill>
                <a:srgbClr val="724CD6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Without system</c:v>
                </c:pt>
                <c:pt idx="1">
                  <c:v>With system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fix effort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noFill/>
              </a:ln>
            </c:spPr>
          </c:dPt>
          <c:dPt>
            <c:idx val="1"/>
            <c:spPr>
              <a:solidFill>
                <a:srgbClr val="724CD6"/>
              </a:solidFill>
              <a:ln>
                <a:noFill/>
              </a:ln>
            </c:spPr>
          </c:dPt>
          <c:dPt>
            <c:idx val="2"/>
            <c:spPr>
              <a:solidFill>
                <a:srgbClr val="10988A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Wireframe</c:v>
                </c:pt>
                <c:pt idx="1">
                  <c:v>Interactive prototype</c:v>
                </c:pt>
                <c:pt idx="2">
                  <c:v>After build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3</c:v>
                </c:pt>
                <c:pt idx="2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Context completeness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noFill/>
              </a:ln>
            </c:spPr>
          </c:dPt>
          <c:dPt>
            <c:idx val="1"/>
            <c:spPr>
              <a:solidFill>
                <a:srgbClr val="724CD6"/>
              </a:solidFill>
              <a:ln>
                <a:noFill/>
              </a:ln>
            </c:spPr>
          </c:dPt>
          <c:dPt>
            <c:idx val="2"/>
            <c:spPr>
              <a:solidFill>
                <a:srgbClr val="10988A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Screenshot</c:v>
                </c:pt>
                <c:pt idx="1">
                  <c:v>Prototype</c:v>
                </c:pt>
                <c:pt idx="2">
                  <c:v>System + states + criteria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62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4709-UI-Design-with-AI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igma.com/resource-library/ui-design-principles/" TargetMode="External"/><Relationship Id="rId3" Type="http://schemas.openxmlformats.org/officeDocument/2006/relationships/hyperlink" Target="https://learn.microsoft.com/en-us/dynamics365/guidance/develop/ui-ux-design-principles" TargetMode="External"/><Relationship Id="rId4" Type="http://schemas.openxmlformats.org/officeDocument/2006/relationships/hyperlink" Target="https://www.uxpin.com/studio/blog/ui-design-principles/" TargetMode="External"/><Relationship Id="rId5" Type="http://schemas.openxmlformats.org/officeDocument/2006/relationships/hyperlink" Target="https://contentsquare.com/guides/ui-design/principles/" TargetMode="External"/><Relationship Id="rId6" Type="http://schemas.openxmlformats.org/officeDocument/2006/relationships/hyperlink" Target="https://mockflow.com/resources/ui-design-principles" TargetMode="External"/><Relationship Id="rId7" Type="http://schemas.openxmlformats.org/officeDocument/2006/relationships/hyperlink" Target="https://mockflow.com/blog/ui-design-principles" TargetMode="External"/><Relationship Id="rId8" Type="http://schemas.openxmlformats.org/officeDocument/2006/relationships/hyperlink" Target="https://www.weweb.io/blog/ui-design-principles" TargetMode="External"/><Relationship Id="rId9" Type="http://schemas.openxmlformats.org/officeDocument/2006/relationships/hyperlink" Target="https://www.visily.ai/blog/visual-design-principles" TargetMode="Externa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bbble.com/resources/education/ui-design-principles" TargetMode="External"/><Relationship Id="rId3" Type="http://schemas.openxmlformats.org/officeDocument/2006/relationships/hyperlink" Target="https://maze.co/collections/ux-ui-design/ui-design-principles/" TargetMode="External"/><Relationship Id="rId4" Type="http://schemas.openxmlformats.org/officeDocument/2006/relationships/hyperlink" Target="https://www.geeksforgeeks.org/techtips/principles-of-ui-ux-design/" TargetMode="External"/><Relationship Id="rId5" Type="http://schemas.openxmlformats.org/officeDocument/2006/relationships/hyperlink" Target="https://duck.design/key-ui-design-principles/" TargetMode="External"/><Relationship Id="rId6" Type="http://schemas.openxmlformats.org/officeDocument/2006/relationships/hyperlink" Target="https://www.anthropic.com/news/claude-design-anthropic-labs" TargetMode="External"/><Relationship Id="rId7" Type="http://schemas.openxmlformats.org/officeDocument/2006/relationships/hyperlink" Target="https://support.claude.com/en/articles/14604416-get-started-with-claude-design" TargetMode="External"/><Relationship Id="rId8" Type="http://schemas.openxmlformats.org/officeDocument/2006/relationships/hyperlink" Target="https://www.developersdigest.tech/blog/claude-design-developer-guide" TargetMode="External"/><Relationship Id="rId9" Type="http://schemas.openxmlformats.org/officeDocument/2006/relationships/hyperlink" Target="https://github.com/Dammyjay93/interface-design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casl-ui-design-with-ai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ai-ui-design.png"/>
          <p:cNvPicPr>
            <a:picLocks noChangeAspect="1"/>
          </p:cNvPicPr>
          <p:nvPr/>
        </p:nvPicPr>
        <p:blipFill>
          <a:blip r:embed="rId2"/>
          <a:srcRect l="24561" r="24561"/>
          <a:stretch>
            <a:fillRect/>
          </a:stretch>
        </p:blipFill>
        <p:spPr>
          <a:xfrm>
            <a:off x="5989320" y="0"/>
            <a:ext cx="619963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50992" y="0"/>
            <a:ext cx="82296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41732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NON-WSQ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120640" cy="1325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900" b="1" i="0">
                <a:solidFill>
                  <a:srgbClr val="161B26"/>
                </a:solidFill>
                <a:latin typeface="Arial"/>
              </a:rPr>
              <a:t>Claude Design for UX/UI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401568"/>
            <a:ext cx="489204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B6372"/>
                </a:solidFill>
                <a:latin typeface="Arial"/>
              </a:rPr>
              <a:t>Design clear, accessible and testable interfaces with Claude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443984"/>
            <a:ext cx="1554480" cy="5486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18304"/>
            <a:ext cx="507492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372"/>
                </a:solidFill>
                <a:latin typeface="Arial"/>
              </a:rPr>
              <a:t>Course Code: C744</a:t>
            </a:r>
          </a:p>
          <a:p>
            <a:r>
              <a:rPr sz="1300" b="0"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715000"/>
            <a:ext cx="507492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B6372"/>
                </a:solidFill>
                <a:latin typeface="Arial"/>
              </a:rPr>
              <a:t>Version v2.0 · 23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26480"/>
            <a:ext cx="507492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3383280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91440" cy="437083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" y="2139696"/>
            <a:ext cx="1371600" cy="137160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3352" y="2139696"/>
            <a:ext cx="137160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22191"/>
            <a:ext cx="2770632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0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15968"/>
            <a:ext cx="2770632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B6372"/>
                </a:solidFill>
                <a:latin typeface="Arial"/>
              </a:rPr>
              <a:t>Complete this template before class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719072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719072"/>
            <a:ext cx="82296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1801368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01368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45059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450591"/>
            <a:ext cx="82296" cy="59436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253288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24CD6"/>
                </a:solidFill>
                <a:latin typeface="Arial"/>
              </a:rPr>
              <a:t>TITLE / DESIGNATION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53288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18211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182111"/>
            <a:ext cx="82296" cy="59436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326440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0988A"/>
                </a:solidFill>
                <a:latin typeface="Arial"/>
              </a:rPr>
              <a:t>QUALIFICATIONS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26440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391363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43400" y="3913631"/>
            <a:ext cx="82296" cy="594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399592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6845B"/>
                </a:solidFill>
                <a:latin typeface="Arial"/>
              </a:rPr>
              <a:t>AREAS OF EXPERTISE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99592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464515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645151"/>
            <a:ext cx="82296" cy="5943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472744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77600"/>
                </a:solidFill>
                <a:latin typeface="Arial"/>
              </a:rPr>
              <a:t>TRAINING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72744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37667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376671"/>
            <a:ext cx="82296" cy="59436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2" y="545896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F06F61"/>
                </a:solidFill>
                <a:latin typeface="Arial"/>
              </a:rPr>
              <a:t>CONTACT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45896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49DA9"/>
                </a:solidFill>
                <a:latin typeface="Arial"/>
              </a:rPr>
              <a:t>________________________________________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3383280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91440" cy="43708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" y="2139696"/>
            <a:ext cx="1371600" cy="137160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3352" y="2139696"/>
            <a:ext cx="137160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22191"/>
            <a:ext cx="2770632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0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15968"/>
            <a:ext cx="2770632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719072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719072"/>
            <a:ext cx="82296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1801368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01368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45059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450591"/>
            <a:ext cx="82296" cy="59436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253288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24CD6"/>
                </a:solidFill>
                <a:latin typeface="Arial"/>
              </a:rPr>
              <a:t>CERTIFICATION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53288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Digital design, AI and technology education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18211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182111"/>
            <a:ext cx="82296" cy="59436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326440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0988A"/>
                </a:solidFill>
                <a:latin typeface="Arial"/>
              </a:rPr>
              <a:t>DELIVERS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26440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UI/UX and AI courses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391363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43400" y="3913631"/>
            <a:ext cx="82296" cy="594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399592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6845B"/>
                </a:solidFill>
                <a:latin typeface="Arial"/>
              </a:rPr>
              <a:t>FOUNDER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99592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464515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645151"/>
            <a:ext cx="82296" cy="5943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472744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77600"/>
                </a:solidFill>
                <a:latin typeface="Arial"/>
              </a:rPr>
              <a:t>INDUSTRY FOCUS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72744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Applied AI, software and digital learning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376671"/>
            <a:ext cx="7150608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376671"/>
            <a:ext cx="82296" cy="59436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2" y="5458967"/>
            <a:ext cx="16916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F06F61"/>
                </a:solidFill>
                <a:latin typeface="Arial"/>
              </a:rPr>
              <a:t>CONTACT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458967"/>
            <a:ext cx="47091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61B26"/>
                </a:solidFill>
                <a:latin typeface="Arial"/>
              </a:rPr>
              <a:t>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COURSE ADMINISTRATION · 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Your name, organisation and current role.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Tools or design work you have already tried.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An interface you use often and why it works.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Goal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What you want to create or improve today.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Your name, organisation and current role; what you want to create or improve today.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COURSE ADMINISTRATION · 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Ask questions, test assumptions and share observations.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One conversation at a time; critique the work, not the person.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Focus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Phones silent; keep sensitive data out of design prompts.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Punctuality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Return from breaks on time.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 questions, test assumptions and share observations; return from breaks on time.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COURSE UPDATE · CURRENT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From Adobe XD to Claude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938528"/>
            <a:ext cx="247573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1938528"/>
            <a:ext cx="247573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67637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763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017520"/>
            <a:ext cx="220141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Legacy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474720"/>
            <a:ext cx="2183130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Manual artboards and tool-specific prototype files.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25546" y="3150108"/>
            <a:ext cx="274319" cy="0"/>
          </a:xfrm>
          <a:prstGeom prst="line">
            <a:avLst/>
          </a:prstGeom>
          <a:ln w="25400">
            <a:solidFill>
              <a:srgbClr val="724CD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99865" y="1938528"/>
            <a:ext cx="247573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99865" y="1938528"/>
            <a:ext cx="2475738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17695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7695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7025" y="3017520"/>
            <a:ext cx="220141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New surface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6170" y="3474720"/>
            <a:ext cx="2183130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Conversation plus a live canvas for generation and refinement.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75604" y="3150108"/>
            <a:ext cx="274320" cy="0"/>
          </a:xfrm>
          <a:prstGeom prst="line">
            <a:avLst/>
          </a:prstGeom>
          <a:ln w="25400">
            <a:solidFill>
              <a:srgbClr val="724CD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49924" y="1938528"/>
            <a:ext cx="247573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1938528"/>
            <a:ext cx="2475738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67753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7753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7084" y="3017520"/>
            <a:ext cx="220141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System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6228" y="3474720"/>
            <a:ext cx="2183130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Import tokens, components, files and codebase context.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25662" y="3150108"/>
            <a:ext cx="274320" cy="0"/>
          </a:xfrm>
          <a:prstGeom prst="line">
            <a:avLst/>
          </a:prstGeom>
          <a:ln w="25400">
            <a:solidFill>
              <a:srgbClr val="724CD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99982" y="1938528"/>
            <a:ext cx="2475738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99982" y="1938528"/>
            <a:ext cx="2475738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17811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781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37142" y="3017520"/>
            <a:ext cx="220141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Handoff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6286" y="3474720"/>
            <a:ext cx="2183130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Export HTML, PDF, PPTX or pass work to Claude Code.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24CD6"/>
                </a:solidFill>
                <a:latin typeface="Arial"/>
              </a:rPr>
              <a:t>THE POINT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The course retains UI design fundamentals while replacing obsolete Adobe XD procedures.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COURSE ADMINISTRATION · FOUR CONNECTED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Course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Module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Requirements and Principle-Led UI Design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Module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Claude Design Workflow and Design Systems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Module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Components, Prototypes and Evidence-Based Evaluation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Module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Documentation, Collaboration and Handoff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Requirements and Principle-Led UI Design; documentation, collaboration and handoff.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COURSE ADMINISTRATION · 9:30 AM–5:30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Lesson Plan · One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353312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1682496"/>
            <a:ext cx="120700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27632"/>
            <a:ext cx="5925312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682496"/>
            <a:ext cx="577900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Topic / Activity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36992" y="1627632"/>
            <a:ext cx="1444752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1682496"/>
            <a:ext cx="129844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81744" y="1627632"/>
            <a:ext cx="2112264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4896" y="1682496"/>
            <a:ext cx="19659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Slides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1975104"/>
            <a:ext cx="1353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011680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09:30–10:30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1975104"/>
            <a:ext cx="5925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6544" y="2011680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Welcome, outcomes; Module 1 — requirements, research and information 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1975104"/>
            <a:ext cx="144475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1856" y="2011680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Admin + concept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81744" y="1975104"/>
            <a:ext cx="2112264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2011680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10–40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304288"/>
            <a:ext cx="1353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340864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10:30–11:20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304288"/>
            <a:ext cx="5925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66544" y="2340864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Labs 1–2 — Research Brief; Information Flow and Principle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304288"/>
            <a:ext cx="14447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91856" y="2340864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Hands-on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81744" y="2304288"/>
            <a:ext cx="211226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36608" y="2340864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1 lab block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2633472"/>
            <a:ext cx="1353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670048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11:20–12:15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2633472"/>
            <a:ext cx="5925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66544" y="2670048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Module 2 — Claude Design workflow and design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36992" y="2633472"/>
            <a:ext cx="144475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6" y="2670048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Concept + demo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81744" y="2633472"/>
            <a:ext cx="2112264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36608" y="2670048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2962656"/>
            <a:ext cx="1353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2999232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12:15–13:05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0" y="2962656"/>
            <a:ext cx="5925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6544" y="2999232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1" i="0">
                <a:solidFill>
                  <a:srgbClr val="161B26"/>
                </a:solidFill>
                <a:latin typeface="Arial"/>
              </a:rPr>
              <a:t>Labs 3–4 — Design System Project; Prompted Wireframes and Variants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6992" y="2962656"/>
            <a:ext cx="14447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91856" y="2999232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Hands-on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1744" y="2962656"/>
            <a:ext cx="211226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36608" y="2999232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2 lab block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291840"/>
            <a:ext cx="1353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328416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13:05–13:35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0" y="3291840"/>
            <a:ext cx="5925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66544" y="3328416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Lunch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36992" y="3291840"/>
            <a:ext cx="144475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91856" y="3328416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Break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81744" y="3291840"/>
            <a:ext cx="2112264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36608" y="3328416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3621024"/>
            <a:ext cx="1353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3657600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13:35–14:30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0" y="3621024"/>
            <a:ext cx="5925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66544" y="3657600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Module 3 — components, states and interaction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36992" y="3621024"/>
            <a:ext cx="144475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91856" y="3657600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Concept + cases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81744" y="3621024"/>
            <a:ext cx="2112264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36608" y="3657600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3950208"/>
            <a:ext cx="1353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3232" y="3986784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14:30–15:20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1680" y="3950208"/>
            <a:ext cx="5925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66544" y="3986784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1" i="0">
                <a:solidFill>
                  <a:srgbClr val="161B26"/>
                </a:solidFill>
                <a:latin typeface="Arial"/>
              </a:rPr>
              <a:t>Labs 5–6 — Reusable Components and States; Responsive Prototype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36992" y="3950208"/>
            <a:ext cx="144475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91856" y="3986784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Hands-on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81744" y="3950208"/>
            <a:ext cx="2112264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36608" y="3986784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3 lab block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8368" y="4279392"/>
            <a:ext cx="1353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" y="4315968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15:20–16:20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011680" y="4279392"/>
            <a:ext cx="592531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66544" y="4315968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Module 4 — evaluation, documentation and handoff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936992" y="4279392"/>
            <a:ext cx="1444752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91856" y="4315968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Concept + demo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81744" y="4279392"/>
            <a:ext cx="2112264" cy="329184"/>
          </a:xfrm>
          <a:prstGeom prst="rect">
            <a:avLst/>
          </a:prstGeom>
          <a:solidFill>
            <a:srgbClr val="FFF4E5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36608" y="4315968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8368" y="4608576"/>
            <a:ext cx="1353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232" y="4645152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16:20–16:45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11680" y="4608576"/>
            <a:ext cx="5925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66544" y="4645152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>Lab 7 — Usability and Accessibility 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6992" y="4608576"/>
            <a:ext cx="144475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91856" y="4645152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Hands-on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81744" y="4608576"/>
            <a:ext cx="2112264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36608" y="4645152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4 lab block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" y="4937760"/>
            <a:ext cx="1353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3232" y="4974336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16:45–17:10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0" y="4937760"/>
            <a:ext cx="5925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66544" y="4974336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1" i="0">
                <a:solidFill>
                  <a:srgbClr val="161B26"/>
                </a:solidFill>
                <a:latin typeface="Arial"/>
              </a:rPr>
              <a:t>Lab 8 — Documentation, Export and Handoff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36992" y="4937760"/>
            <a:ext cx="14447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91856" y="4974336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Hands-on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81744" y="4937760"/>
            <a:ext cx="211226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4974336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Module 4 lab block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" y="5266944"/>
            <a:ext cx="1353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5303520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17:10–17:30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011680" y="5266944"/>
            <a:ext cx="592531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66544" y="5303520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1" i="0">
                <a:solidFill>
                  <a:srgbClr val="161B26"/>
                </a:solidFill>
                <a:latin typeface="Arial"/>
              </a:rPr>
              <a:t>Course recap, Q&amp;A and next steps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936992" y="5266944"/>
            <a:ext cx="1444752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91856" y="5303520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Recap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81744" y="5266944"/>
            <a:ext cx="2112264" cy="329184"/>
          </a:xfrm>
          <a:prstGeom prst="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36608" y="5303520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8368" y="5596128"/>
            <a:ext cx="1353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5632704"/>
            <a:ext cx="1243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1680" y="5596128"/>
            <a:ext cx="592531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66544" y="5632704"/>
            <a:ext cx="581558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19" b="0" i="0">
                <a:solidFill>
                  <a:srgbClr val="161B26"/>
                </a:solidFill>
                <a:latin typeface="Arial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7936992" y="5596128"/>
            <a:ext cx="144475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91856" y="5632704"/>
            <a:ext cx="1335024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9381744" y="5596128"/>
            <a:ext cx="211226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436608" y="5632704"/>
            <a:ext cx="2002536" cy="2651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61B26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COURSE ADMINISTRATION · LAB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Open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the course GitHub link.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Download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Choose Code → Download ZIP or clone the repository.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Choose 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Open one self-contained lab folder.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Follow guide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the Learner Guide for detailed steps.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Verify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Submit the named evidence and acceptance checks.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Every lab folder includes its own files, README and Sample-Code.pdf.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5669280"/>
            <a:ext cx="626364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1F6FEB"/>
                </a:solidFill>
                <a:latin typeface="Arial"/>
              </a:rPr>
              <a:t>https://github.com/tertiarycourses/C744-Claude-Design-for-UX-UI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6FEB"/>
                </a:solidFill>
                <a:latin typeface="Arial"/>
              </a:rPr>
              <a:t>MODULE 1 · LO1 · K1 · K3 · A1 ·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909828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61B26"/>
                </a:solidFill>
                <a:latin typeface="Arial"/>
              </a:rPr>
              <a:t>Requirements and Principle-Led UI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8696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From user needs and information flow to defensible interface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2103120"/>
            <a:ext cx="1234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5400" b="1" i="0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UI and UX: different lenses, one 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UX lens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complete journey, task success and emotional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UI lens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visual and interactive layer users touch to complete the journey.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Shared ground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Research, flows, accessibility, testing and iteration connect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Outcome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useful flow expressed through clear, predictable interface decisions.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The complete journey, task success and emotional experience; a useful flow expressed through clear, predictable interface decisions.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UI and UX: different lenses, one outcome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booking page looks polished but hides the next available date below the fold.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Repair the task flow first, then use hierarchy to make the next action obvious.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Task completion and error evidence outrank aesthetic preference.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User-centricity begins with a job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the primary user and the context in which they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State the outcome the user is trying to achieve, not the feature requested.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Barrier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Capture what makes the job slow, risky or confusing today.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Success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Define an observable result the interface should make easier.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Name the primary user and the context in which they act; define an observable result the interface should make easier.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User-centricity begins with a job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team asks for a dashboard because competitors have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Reframe the request around the decisions users must make and the signals they need.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strong brief connects business intent to a real user outcome.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Design thinking with AI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Empathise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interviews, observations and existing evidence; AI helps synthesize.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Define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Turn patterns into a focused problem statement and constraints.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Ideate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Generate divergent directions without confusing volume with quality.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Prototype + 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Make assumptions visible, test them, and iterate from evidence.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Use interviews, observations and existing evidence; AI helps synthesize; make assumptions visible, test them, and iterate from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Design thinking with AI support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Claude produces ten attractive concepts from a vague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Anchor exploration in a research-backed problem statement and evaluation criteria.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AI accelerates options; humans remain accountable for evidence and judgement.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Research evidence: signal before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Analytics and observations reveal what people actually 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Attitude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Interviews and surveys reveal expectations, language and motivations.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Devices, interruptions, environment and accessibility needs shape use.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Triangulate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Combine sources before turning patterns into design requirements.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Analytics and observations reveal what people actually do; combine sources before turning patterns into design requirements.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Research evidence: signal before synthesis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Three interviewees request a feature that usage data shows almost nobody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Treat the request as a hypothesis and investigate the underlying task or barrier.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single source is a clue, not a conclusion.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Personas, segments and jobs-to-be-done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Persona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research-backed behavioural archetype, not invented demographics.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measurable group useful for product or service decisions.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Job 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When situation, I want motivation, so I can expected outcome.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Anti-bias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Separate evidence from assumptions and decorative biography.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 research-backed behavioural archetype, not invented demographics; separate evidence from assumptions and decorative biography.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Personas, segments and jobs-to-be-done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persona says 'busy professional' but provides no task, context or behaviour.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Replace generic traits with a job story and evidence-linked constraints.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Useful personas change a design decision.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Information architecture: organise for recognition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List content, actions, entities and states users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Grouping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Cluster items using user language and mental models.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Labels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specific nouns and verbs; avoid clever but ambiguous wording.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Card sorting and tree testing reveal findability problems early.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List content, actions, entities and states users need; card sorting and tree testing reveal findability problems early.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61B26"/>
                </a:solidFill>
                <a:latin typeface="Arial"/>
              </a:rPr>
              <a:t>Information architecture: organise for recognition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service portal groups content by internal department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Reorganise around user goals and test whether users can predict where items live.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Findability is measurable before high-fidelity design begins.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User flows expose hidden interface states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Entry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Show where the user starts and what context arrives with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Happy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Map the shortest valid route to the outcome.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branch criteria and what the user needs to choose well.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Exceptions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Include empty, loading, error, permission and recovery states.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Show where the user starts and what context arrives with them; include empty, loading, error, permission and recovery states.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User flows expose hidden interface states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checkout flow documents payment success but not a declined card.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Add failure, retry and saved-progress branches before designing screens.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complete flow maps states, not just pages.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Clarity: make purpose and next action obvious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UXPin;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Screen purpose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clear heading says where the user is and why it matters.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Action labels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outcome-specific verbs such as 'Save draft' or 'Book slot'.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Visible priority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One primary action dominates; secondary actions remain available.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Plain feedback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Say what happened, what it means and what to do next.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 clear heading says where the user is and why it matters; say what happened, what it means and what to do next.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Clarity: make purpose and next action obvious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UXPin;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form ends with two identical buttons labelled 'Continue'.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Name outcomes, establish a primary action and clarify the consequence of each choice.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If users must decode the interface, clarity has failed.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Visual hierarchy: design the reading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Visily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Larger elements signal importance when used sparingly.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Contrast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Value, colour and weight create emphasis and separation.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Position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Placement and whitespace determine what users encounter first.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Grouping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Proximity and alignment reveal relationships without explanation.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Larger elements signal importance when used sparingly; proximity and alignment reveal relationships without explanation.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Visual hierarchy: design the reading order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Visily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Every card, heading and button on a dashboard has equal visual weight.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Choose a reading order, strengthen the primary signal and quiet supporting content.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five-second glance should reveal purpose, status and next action.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Consistency and familiarity build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Maze;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same pattern looks and behaves the same across the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External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Conventions reduce relearning when they match user expectations.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Semantic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Colours, labels and icons keep the same meaning in every context.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Systemic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Tokens and components make consistency easier to maintain.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The same pattern looks and behaves the same across the product; tokens and components make consistency easier to maintain.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Consistency and familiarity build prediction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Maze;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The same icon opens search on one page and filters on another.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Standardise meaning and encode the pattern in a reusable component.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Consistency turns prior learning into speed and confidence.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Simplicity and progressive disclosure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Dribbble;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Essential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Show what most users need to begin the task.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Advanced 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Reveal complexity when context or intent makes it useful.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Reduce 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Limit competing choices at each moment of the flow.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Preserve access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Do not hide frequently needed actions behind arbitrary layers.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Show what most users need to begin the task; do not hide frequently needed actions behind arbitrary layers.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Simplicity and progressive disclosure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Dribbble;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settings page exposes forty controls in one uninterrupted list.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Group by user goal and reveal advanced options only when requested.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Simple means focused, not feature-poor.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Accessibility is a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Perceivable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Contrast, text alternatives and scalable type support different senses.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Operable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Keyboard access, focus visibility and reachable targets support action.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Understandable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Plain language and predictable behaviour reduce confusion.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Robust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Semantic structure survives devices and assistive technology.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Contrast, text alternatives and scalable type support different senses; semantic structure survives devices and assistive technology.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Accessibility is a design input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status uses only red and green dots with no labels.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Add text or shape cues, verify contrast and include a visible focus 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Accessibility checks the interface under realistic variation.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Feedback, error prevention and user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Dribbble;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Immediate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Every action receives a visible, proportional response.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Constraints and defaults block invalid actions before submission.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Errors explain cause, preserve input and offer a direct next step.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Undo, cancel and review reduce the cost of mistakes.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Every action receives a visible, proportional response; undo, cancel and review reduce the cost of mistakes.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Feedback, error prevention and user control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Dribbble;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destructive action succeeds silently and cannot be undone.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Add confirmation where risk is high, show completion and provide recovery when possible.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Good feedback keeps users oriented and in control.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1 · Research Brief and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A neighbourhood wellness service needs a mobile experience for daily support and appointment booking.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research-backed product brief, required-function list and measurable success criteria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browser · supplied brief template · Full detailed procedure: Learner Guide and labs/lab-01-*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A1 · LO1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1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1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Review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Frame user job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List needs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Prioritise functions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Define success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1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1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Names a primary user and 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Separates evidence from assumptions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Lists essential functions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Defines observable success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brief-template.md, evidence-notes.csv,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1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2 · Information Flow and Principle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60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Map the wellness appointment task and inspect a flawed flow against clarity, hierarchy, consistency, accessibility and feedback.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complete user flow with exception states and a prioritised UI audit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Mermaid-compatible flow sample · audit checklist · Full detailed procedure: Learner Guide and labs/lab-02-*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A2 · K1 · K3 · LO1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1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2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Map entry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Draw happy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Add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Add exceptions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Prioritise issues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1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2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Flow includes success and recovery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Every issue names a principle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Severity connects to task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Recommendations are testable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user-flow.mmd, audit-checklist.csv,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Choice load grows faster than perceived simplicity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Indicative teaching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68680" y="1737360"/>
          <a:ext cx="66294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818120" y="1755648"/>
            <a:ext cx="3657600" cy="36850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755648"/>
            <a:ext cx="91440" cy="3685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2084831"/>
            <a:ext cx="28803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670048"/>
            <a:ext cx="288036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61B26"/>
                </a:solidFill>
                <a:latin typeface="Arial"/>
              </a:rPr>
              <a:t>Indicative teaching figures: more competing choices increase search and decision effort.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4617720"/>
            <a:ext cx="28803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charts to support a decision—not as decoration.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MODULE 1 · RETRIEVE AND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Module 1 · Decision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UI and 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Task completion and error evidence outrank aesthetic preference.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User-centricity begins 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strong brief connects business intent to a real user outcome.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Design thinking with AI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AI accelerates options; humans remain accountable for evidence and judgement.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Research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single source is a clue, not a conclusion.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Task completion and error evidence outrank aesthetic preference; a single source is a clue, not a conclusion.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24CD6"/>
                </a:solidFill>
                <a:latin typeface="Arial"/>
              </a:rPr>
              <a:t>MODULE 2 · LO2 · K2 · K3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909828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61B26"/>
                </a:solidFill>
                <a:latin typeface="Arial"/>
              </a:rPr>
              <a:t>Claude Design Workflow and Design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8696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Context-rich prompting, systematic exploration and controlled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2103120"/>
            <a:ext cx="1234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5400" b="1" i="0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What Claude Design is—and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Design surface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Conversation and a live canvas support visual exploration.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Prototype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Outputs can be interactive and shared for feedback.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System-aware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Projects can inherit or import real design-system context.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Not autopilot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Research validity, accessibility and acceptance remain human duties.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Conversation and a live canvas support visual exploration; research validity, accessibility and acceptance remain human duties.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What Claude Design is—and is not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stakeholder treats the first generated screen as a finished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Position generation as a hypothesis and define the review evidence required before approval.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The first generation is a starting point, not a sign-off.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Access, interface and beta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Availability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Web and desktop access for supported Pro, Max, Team and Enterprise plans.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Workspace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Chat on the left; a working design canvas on the right.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Enterprise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feature may require administrator enablement.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Beta limits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Expect evolving comments, large-repo and multi-editor behaviour.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Web and desktop access for supported Pro, Max, Team and Enterprise plans; expect evolving comments, large-repo and multi-editor behaviour.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Access, interface and beta boundaries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class cannot see Claude Design even though accounts are active.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Check plan eligibility, enterprise settings and web/desktop availability before the lab.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Tool readiness is part of instructional readiness.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 project is a context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One project holds a coherent design goal and its evolving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project can inherit an organisation design system.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Inputs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Screenshots, documents, codebases and design files add concrete context.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Outputs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Versions, comments, exports and handoff remain linked to the work.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One project holds a coherent design goal and its evolving decisions; versions, comments, exports and handoff remain linked to the work.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 project is a context boundary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Unrelated product concepts accumulate in one project and influence later generations.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Separate goals into projects and keep context specific to the intended product.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Good boundaries reduce accidental design drift.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Import a design system before generating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Help; 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Colour, type, spacing, radius and elevation define visual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Components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Reusable structures encode interaction and accessibility patterns.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Guidelines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Voice, layout rules and do/don't criteria preserve intent.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Quality of source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Incomplete or messy inputs produce inconsistent outputs.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Colour, type, spacing, radius and elevation define visual decisions; incomplete or messy inputs produce inconsistent outputs.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Import a design system before generating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Help; 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:root {
  --color-action: #724cd6;
  --space-1: 4px;
  --space-2: 8px;
  --radius-control: 8px;
}
.button { min-height: 44px; padding: var(--space-2) 16px;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Tokens name decisions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Components consume tokens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The source must be clean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Prompt anatomy for interface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the product outcome and the screen or flow to create.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Describe the primary user, context and accessibility needs.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Provide real labels, entities, states and data priorities.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Specify system, breakpoints, required states and acceptance checks.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Name the product outcome and the screen or flow to create; specify system, breakpoints, required states and acceptance checks.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Prompt anatomy for interface work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Goal: Design a 4-screen booking flow
Audience: Adults with varied digital confidence
Content: Real services, times, error and success states
Constraints: Mobile-first, WCAG contrast, 44px targets
Acceptance: Task completes and conflict recovery preserves input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State the job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Supply real content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Define acceptance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Direction without AI design slop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Interface Design; Developers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One personality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Choose a clear product character: precise, calm, warm or expressive.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One depth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borders, tonal surfaces or shadows consistently.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One spacing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small scale prevents random gaps and component drift.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Explicit exclusions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patterns to avoid when they conflict with product intent.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Choose a clear product character: precise, calm, warm or expressive; name patterns to avoid when they conflict with product intent.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Direction without AI design slop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Interface Design; Developers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Every generated page uses gradient headlines, floating blobs and oversized rounded cards.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Set a restrained direction and tie each visual treatment to product meaning.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Polish comes from coherent decisions, not accumulated decoration.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Move from structure to fidelity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Figma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Low fidelity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Validate content, hierarchy, flow and screen coverage quickly.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Mid fidelity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Introduce components, realistic content and interaction states.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High fidelity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Apply brand, responsive behaviour and precise visual polish.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Prototype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Connect states so behaviour can be tested, not merely described.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Validate content, hierarchy, flow and screen coverage quickly; connect states so behaviour can be tested, not merely described.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Move from structure to fidelity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Figma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team debates colour while the navigation model is unresolved.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Return to structural wireframes, resolve the flow, then increase fidelity.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Each fidelity level should answer a different question.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Variants are hypotheses, not wallpaper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Anthropic; Figma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Diverge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Ask for alternatives that differ in information strategy, not just colour.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Name trade-offs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State what each direction optimises and what it sacrifices.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Evaluate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the same success criteria for every variant.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Converge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Combine evidence-backed strengths rather than voting by taste.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 for alternatives that differ in information strategy, not just colour; combine evidence-backed strengths rather than voting by taste.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Variants are hypotheses, not wallpaper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Anthropic; Figma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Three alternatives share the same layout and differ only in accent colour.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Request distinct hierarchy and navigation strategies tied to the user goal.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Useful variation changes the decision, not the decoration.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Choose the right refinement 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Broad changes affecting overall layout, tone or information strategy.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Inline comment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local issue that benefits from contextual discussion.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Direct 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Deterministic text or property corrections on the canvas.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Sliders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Controlled exploration of a repeated visual property.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Broad changes affecting overall layout, tone or information strategy; controlled exploration of a repeated visual property.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Choose the right refinement channel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broad request is repeated as dozens of tiny element comments.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Use chat for the system-level change, then comments for remaining local exceptions.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Match the communication channel to the scope of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Versions turn iteration into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Checkpoint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Save a named state before a significant direction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Review versions against the same task and criteria.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Record why the change was made and what evidence informed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Return to a known-good state when exploration degrades the design.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Save a named state before a significant direction change; return to a known-good state when exploration degrades the design.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Versions turn iteration into evidence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strong version is overwritten by successive experimental prompts.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Create checkpoints and log the rationale before broad iterations.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Version history supports judgement, not only undo.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Responsive design is a set of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Content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Decide what remains, collapses, moves or disappears by breakpoint.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Layout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fluid grids, min/max constraints and intentional stacking.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Interaction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Adjust navigation, touch targets and hover-dependent behaviour.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Test realistic content and states across widths.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Decide what remains, collapses, moves or disappears by breakpoint; test realistic content and states across widths.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Responsive design is a set of priorities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desktop table is simply squeezed until labels become unreadable on mobile.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Transform the information model: prioritise columns, support drill-down and keep actions reachable.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Responsive is behavioural adaptation, not uniform shrinking.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Tokens and components create a shared language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named decision such as space-3 or color-action-primary.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Component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reusable structure with defined anatomy and behaviour.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Variant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controlled expression such as primary, secondary or danger.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condition such as hover, focus, disabled, loading or error.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 named decision such as space-3 or color-action-primary; a condition such as hover, focus, disabled, loading or error.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Tokens and components create a shared language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.button--primary { background: var(--color-action); }
.button:focus-visible { outline: 3px solid var(--color-focus); }
.button[aria-busy='true'] { cursor: progress; }
.button:disabled { opacity: .55;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Variant is intentional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Focus stays visible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States are explicit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2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3 · Claude Design Project and Design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Create a Claude Design project and provide a compact design-system contract for the wellness product.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project context pack with tokens, component rules and explicit design direction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tokens.css · component contract · Full detailed procedure: Learner Guide and labs/lab-03-*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A3 · K2 · LO2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2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3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Create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Add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Define direction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Attach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Generate test screen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2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3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Uses named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Defines component variants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Includes accessibility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Test screen matches the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project-context.md, tokens.css, component-contract.md,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2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4 · Prompted Wireframes and Variants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Generate a four-screen wellness booking flow, then compare two structurally different directions.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low-fidelity responsive wireframes and a documented variant decision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supplied realistic content · decision matrix · Full detailed procedure: Learner Guide and labs/lab-04-*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A3 · K3 · LO2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2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4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Prompt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Review screen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Generate variant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Compare trade-offs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Checkpoint choice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2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4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All required screens appear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Real content replaces lorem ipsum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Variants differ structurally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Selection cites criteria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content.json, decision-matrix.csv, wireframe.html,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Design systems accelerate repeatable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68680" y="1737360"/>
          <a:ext cx="66294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818120" y="1755648"/>
            <a:ext cx="3657600" cy="36850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755648"/>
            <a:ext cx="91440" cy="3685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2084831"/>
            <a:ext cx="28803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WHAT THE DATA SHOWS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670048"/>
            <a:ext cx="288036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61B26"/>
                </a:solidFill>
                <a:latin typeface="Arial"/>
              </a:rPr>
              <a:t>Figma reported participants with a design system completed an objective 34% faster.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4617720"/>
            <a:ext cx="28803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charts to support a decision—not as decoration.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MODULE 2 · RETRIEVE AND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Module 2 · Decision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What Claude Design is—an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first generation is a starting point, not a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Access, interface and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Tool readiness is part of instructional readiness.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 project is a context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Good boundaries reduce accidental design drift.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Import a design system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design system is executable context, not a mood-board adjective.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24CD6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The first generation is a starting point, not a sign-off; a design system is executable context, not a mood-board adjective.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988A"/>
                </a:solidFill>
                <a:latin typeface="Arial"/>
              </a:rPr>
              <a:t>MODULE 3 · LO2 · LO3 · K2 · A3 · A4 · 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909828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61B26"/>
                </a:solidFill>
                <a:latin typeface="Arial"/>
              </a:rPr>
              <a:t>Components, Prototypes and Evidence-Based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8696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Design realistic states, validate behaviour and iterate from observable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2103120"/>
            <a:ext cx="1234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5400" b="1" i="0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Component anatomy defines 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Controls layout, grouping and responsive behaviour.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Labels, icons and values communicate purpose and status.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Interaction rules state what users can do and what follows.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Contract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Props, variants, states and constraints define safe reuse.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Controls layout, grouping and responsive behaviour; props, variants, states and constraints define safe reuse.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Component anatomy defines responsibility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UXPin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card component accepts unlimited actions and content shapes.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Define supported anatomy and create separate patterns when responsibilities diverge.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Reusable does not mean infinitely configurable.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States are part of the 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stable state communicates purpose and available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Interactive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Hover, pressed and focus states acknowledge user input.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Unavailable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Disabled and permission states explain why action is blocked.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Loading, success and error states reveal progress and outcome.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The stable state communicates purpose and available action; loading, success and error states reveal progress and outcome.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States are part of the component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const states = ['default','hover','focus','loading','disabled','error'];
function setState(name) {
  preview.dataset.state = name;
  status.textContent = `State: ${name}`;
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List the state matrix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Make state observable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Test transitions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Interaction design makes cause and effect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Click, tap, type, drag, time or system event starts a transition.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Conditions determine whether the action is allowed and where it leads.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Visual, content and navigation feedback confirms the effect.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Undo, retry or correction protects users from cost and confusion.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Click, tap, type, drag, time or system event starts a transition; undo, retry or correction protects users from cost and confusion.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61B26"/>
                </a:solidFill>
                <a:latin typeface="Arial"/>
              </a:rPr>
              <a:t>Interaction design makes cause and effect visible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button changes pages without preserving the user's entered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Define state persistence and recovery as part of the interaction contract.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Every interaction needs a comprehensible before, during and after.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Navigation should match the information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Dribbble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Global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Persistent routes connect the product's major destinations.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Tabs, subnavigation and filters organise a bounded context.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Contextual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Links and actions appear where their meaning is strongest.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Wayfinding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Current location, history and next options remain visible.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Persistent routes connect the product's major destinations; current location, history and next options remain visible.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Navigation should match the information model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Dribbble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mobile app hides the current section and relies on a back button for all movement.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Expose location and primary destinations without overwhelming the task 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Users should know where they are, what is nearby and how to recover.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Forms are conversations with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Dribbble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Ask 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Request only information needed for the current outcome.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Label clearly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Persistent labels beat placeholders that disappear.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Validate locally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Place specific guidance next to the field that needs attention.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Preserve progress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Do not erase correct input when one value fails.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Request only information needed for the current outcome; do not erase correct input when one value fails.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Forms are conversations with constraints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UXPin; Dribbble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&lt;label for="email"&gt;Work email&lt;/label&gt;
&lt;input id="email" type="email" aria-describedby="email-help email-error"&gt;
&lt;p id="email-help"&gt;We'll send the booking receipt here.&lt;/p&gt;
&lt;p id="email-error" role="alert"&gt;&lt;/p&gt;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Persistent label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Help is associated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Error is announced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Feedback and microcopy close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Tell users whether the system is working, waiting or complete.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Specific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the item and action rather than saying 'Success'.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Proportional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Match prominence and persistence to consequence.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Actionable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Errors and empty states offer a realistic next step.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Tell users whether the system is working, waiting or complete; errors and empty states offer a realistic next step.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Feedback and microcopy close the loop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async function saveBooking(data) {
  setStatus('Saving your booking…');
  try { await api.save(data); setStatus('Booking saved'); }
  catch { setStatus('Could not save. Your details are preserved. Retry.'); }
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Expose 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Name the result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Preserve and recover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Prototype the riskiest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Task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Prototype the path most important to user success.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Interaction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Test novel controls, dependencies and state transitions.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Content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realistic labels and edge-case data.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Technical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Represent latency, permissions and system boundaries honestly.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Prototype the path most important to user success; represent latency, permissions and system boundaries honestly.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Prototype the riskiest behaviour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prototype animates the hero banner but ignores a complex approval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Move effort to the interaction whose failure would invalidate the design.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Prototype uncertainty, not decoration.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Define usability metrics before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Contentsquare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Effectiveness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Task success, completion quality and critical error 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Time, steps and help required to reach the outcome.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Satisfaction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Confidence, ease and perceived effort after the task.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Keyboard, focus, contrast and assistive-technology checks.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Task success, completion quality and critical error rate; keyboard, focus, contrast and assistive-technology checks.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Define usability metrics before testing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Contentsquare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team asks participants whether they 'like' a dashboard.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Give a realistic task and measure success, time, errors and confidence.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metric must connect to the design's intended outcome.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Heuristic review is a structured expert lens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interface keeps users informed about what is happening.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Language and concepts align with users' real-world understanding.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Users can leave, undo and recover from unwanted states.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Consistency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Patterns follow product rules and familiar standards.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The interface keeps users informed about what is happening; patterns follow product rules and familiar standards.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Heuristic review is a structured expert lens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Maze; MockFlow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Review comments say only 'this feels confusing'.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Name the violated heuristic, show evidence and propose a testable correction.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Heuristics turn opinion into an inspectable rationale.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Accessibility review across the state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Contrast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Check text, icons, controls and focus indicators in every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Keyboard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Order, reachability, traps and visible focus support non-pointer 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Semantics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Names, roles, headings and error relationships convey structure.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Motion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Purposeful motion respects reduced-motion preferences.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Check text, icons, controls and focus indicators in every state; purposeful motion respects reduced-motion preferences.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Accessibility review across the state matrix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Figma; WeWeb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The default button passes contrast, but its disabled and focus states do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Audit variants and states as a matrix rather than checking one screenshot.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Accessibility defects often hide in transitions and exceptions.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User testing observes behaviour, not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Give a goal and context without teaching the path.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Record navigation, pauses, errors and spontaneous interpretation.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Ask neutral questions after behaviour occurs.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Synthesize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Group evidence by pattern, severity and affected outcome.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Give a goal and context without teaching the path; group evidence by pattern, severity and affected outcome.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User testing observes behaviour, not performance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facilitator explains each feature while the participant attempts the task.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Use neutral task wording and allow the interface to communicate for itself.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Testing the participant invalidates evidence about the design.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Iteration needs a change hypothesis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the observed problem and who it affects.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Predict how a specific change should improve the outcome.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Alter the smallest coherent part that addresses the cause.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the same task and metrics to see whether the prediction holds.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Name the observed problem and who it affects; use the same task and metrics to see whether the prediction holds.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Iteration needs a change hypothesis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Contentsquare;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redesign changes layout, copy and navigation after one failed task.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Isolate the likely cause, make a bounded change and compare the same measure.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Iteration becomes learning when the prediction is explicit.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5 · Reusable Components and States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Turn the selected wireframe into a component system with accessible buttons, fields, cards and navigation.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component sheet and coded reference with default, focus, loading, disabled and error states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HTML · CSS · JavaScript · Full detailed procedure: Learner Guide and labs/lab-05-*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A3 · LO2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5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Define anatomy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Create variants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Add states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Check tokens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Review accessibility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3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5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Components use tokens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Focus is visible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Loading/error states are distinct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Reuse does not create drift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index.html, styles.css, states.js, state-matrix.csv,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6 · Interactive Responsive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Build and connect the high-fidelity wellness flow across desktop and mobile widths.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interactive prototype covering booking success, conflict and recovery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· standalone HTML prototype · Full detailed procedure: Learner Guide and labs/lab-06-*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A4 · LO3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6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Apply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Connect screens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Model conflict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Adapt breakpoints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Preview task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3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6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Primary task is 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Conflict state preserves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Mobile layout adapts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All actions provide feedback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index.html, styles.css, app.js, prototype-test.md,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Find expensive defects earlier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Indicative teaching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68680" y="1737360"/>
          <a:ext cx="66294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818120" y="1755648"/>
            <a:ext cx="3657600" cy="36850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755648"/>
            <a:ext cx="91440" cy="3685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2084831"/>
            <a:ext cx="28803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WHAT THE DATA SHOWS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670048"/>
            <a:ext cx="288036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61B26"/>
                </a:solidFill>
                <a:latin typeface="Arial"/>
              </a:rPr>
              <a:t>Indicative teaching ratio: validation cost rises when flow and state defects survive into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4617720"/>
            <a:ext cx="28803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charts to support a decision—not as decoration.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3 · RETRIEVE AND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Module 3 · Decision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Component anatomy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Reusable does not mean infinitely configurable.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States are part of the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component without states is an illustration, not an interaction.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Interaction design makes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Every interaction needs a comprehensible before, during and after.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Navigation should match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Users should know where they are, what is nearby and how to recover.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Reusable does not mean infinitely configurable; users should know where they are, what is nearby and how to recover.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48840"/>
            <a:ext cx="82296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6845B"/>
                </a:solidFill>
                <a:latin typeface="Arial"/>
              </a:rPr>
              <a:t>MODULE 4 · LO4 · A6 · A7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909828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61B26"/>
                </a:solidFill>
                <a:latin typeface="Arial"/>
              </a:rPr>
              <a:t>Documentation, Collaboration and Handoff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03320"/>
            <a:ext cx="886968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B6372"/>
                </a:solidFill>
                <a:latin typeface="Arial"/>
              </a:rPr>
              <a:t>Keep design intent, decisions and deliverables usable beyond the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2103120"/>
            <a:ext cx="123444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5400" b="1" i="0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Collaboration needs permission clarity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Stakeholders can inspect the current design without changing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Comment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Reviewers discuss decisions in context while authors retain control.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Collaborators can modify the design and should follow ownership rules.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Organisation 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Sharing remains aligned with workplace access boundaries.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Stakeholders can inspect the current design without changing it; sharing remains aligned with workplace access boundaries.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Collaboration needs permission clarity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public edit link is shared for a confidential internal prototype.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Match permission to the collaborator's role and review sensitive content before sharing.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Convenience does not replace access governance.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Choose export by downstream job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Fixed review, archive or presentation with stable layout.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Editable presentation content for facilitated communication.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HTML / ZIP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Interactive handoff, local review or implementation starting point.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Tool transfer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Continue refinement in supported design or delivery tools.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Fixed review, archive or presentation with stable layout; continue refinement in supported design or delivery tools.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Choose export by downstream job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developer receives only a flat screenshot of an interactive stateful prototype.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Export an interactive or code-bearing format and include the design contract.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The best format preserves what the next role needs to know.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Claude Design and Claude Code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Anthropic; 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Synchronise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Bring design-system context into the workflow with /design-sync.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Claude Design MCP path supports design work from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Bundle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Handoff packages design intent, assets and structure together.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Implementation still needs visual, responsive and accessibility checks.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Bring design-system context into the workflow with /design-sync; implementation still needs visual, responsive and accessibility checks.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61B26"/>
                </a:solidFill>
                <a:latin typeface="Arial"/>
              </a:rPr>
              <a:t>Claude Design and Claude Code handoff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Anthropic; 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claude mcp add --scope user --transport http claude-design \
  https://api.anthropic.com/v1/design/mcp
/design-login
/design-sync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Connect once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Authenticate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Synchronise the system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A decision log explains why the UI 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Describe the user problem, constraint and affected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State what changed and the component or screen impacted.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Rationale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Connect the change to research, testing or system rules.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Consequence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Record trade-offs, follow-up work and the new version.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Describe the user problem, constraint and affected flow; record trade-offs, follow-up work and the new version.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A decision log explains why the UI changed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Interface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button moved between versions with no explanation or test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Add a concise decision entry tied to the observed navigation problem.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Documentation preserves intent when people and tools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User guides are task support, not feature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the language and context of the people performing the task.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Organise guidance around outcomes, not product architecture.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Give a short sequence with visible checkpoints and recovery.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Maintenance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Link guidance to versions and update it when the interface changes.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Use the language and context of the people performing the task; link guidance to versions and update it when the interface changes.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61B26"/>
                </a:solidFill>
                <a:latin typeface="Arial"/>
              </a:rPr>
              <a:t>User guides are task support, not feature inventory — applied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Maze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6446520" cy="41605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19072"/>
            <a:ext cx="91440" cy="41605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38528"/>
            <a:ext cx="5897880" cy="3520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 i="0">
                <a:solidFill>
                  <a:srgbClr val="D6E4FF"/>
                </a:solidFill>
                <a:latin typeface="Consolas"/>
              </a:rPr>
              <a:t>## Book an appointment
1. Choose a service and available time.
2. Review your details and select Confirm.
3. Check for the confirmation message.
If the slot is no longer available, select another suggested time; your details remain saved.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8352" y="1719072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88352" y="1719072"/>
            <a:ext cx="82296" cy="1207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6096" y="1920240"/>
            <a:ext cx="411480" cy="411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9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883664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Organise by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099815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099815"/>
            <a:ext cx="82296" cy="120700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26096" y="3300984"/>
            <a:ext cx="411480" cy="4114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330098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264408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Give checkpoints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2" y="4480559"/>
            <a:ext cx="4105656" cy="120700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2" y="4480559"/>
            <a:ext cx="82296" cy="120700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6096" y="4681727"/>
            <a:ext cx="411480" cy="4114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4681727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645151"/>
            <a:ext cx="2944368" cy="7680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Include recovery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Case study: community wellness mobile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Course 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Support users with varied confidence, vision and health literacy.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Onboarding → daily overview → appointment selection → confirmation.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Reusable navigation, cards, progress, support and error components.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Task success, error recovery, focus order and language comprehension.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Support users with varied confidence, vision and health literacy; task success, error recovery, focus order and language comprehension.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REAL-LIFE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Case study: community wellness mobile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Course 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4069080" cy="4133087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56816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258568"/>
            <a:ext cx="3493008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An appointment slot becomes unavailable after the user selects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209544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511296"/>
            <a:ext cx="3493008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B6372"/>
                </a:solidFill>
                <a:latin typeface="Arial"/>
              </a:rPr>
              <a:t>Preserve the user's choices, explain the conflict and offer the nearest valid options.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71416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773168"/>
            <a:ext cx="3493008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Resilient states matter more than the perfect happy path.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1719072"/>
            <a:ext cx="6483096" cy="413308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se-wellness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9" y="1883664"/>
            <a:ext cx="5678422" cy="3785615"/>
          </a:xfrm>
          <a:prstGeom prst="rect">
            <a:avLst/>
          </a:prstGeom>
        </p:spPr>
      </p:pic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Case study: sustainable retail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Course 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Help an operations manager spot exceptions and approve work quickly.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Hierarchy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Status cards lead to exception details and an approval queue.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States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Normal, empty, loading, error and focus behaviour are all represented.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Time to detect risk, approval accuracy and keyboard completion.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Help an operations manager spot exceptions and approve work quickly; time to detect risk, approval accuracy and keyboard completion.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REAL-LIFE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Case study: sustainable retail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Course 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19072"/>
            <a:ext cx="4069080" cy="4133087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56816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258568"/>
            <a:ext cx="3493008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An approval card highlights amount but hides risk and requester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209544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511296"/>
            <a:ext cx="3493008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B6372"/>
                </a:solidFill>
                <a:latin typeface="Arial"/>
              </a:rPr>
              <a:t>Reorder information around the approval decision and show exception severity consistently.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71416"/>
            <a:ext cx="3493008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773168"/>
            <a:ext cx="3493008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 dashboard earns its density by supporting real decisions.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1719072"/>
            <a:ext cx="6483096" cy="413308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se-operation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065349"/>
            <a:ext cx="6080760" cy="3422245"/>
          </a:xfrm>
          <a:prstGeom prst="rect">
            <a:avLst/>
          </a:prstGeom>
        </p:spPr>
      </p:pic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Governance protects design quality at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Ownership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Name who approves tokens, components, content and accessibility rules.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Change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Review impact before modifying widely reused patterns.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Remove sensitive data from prompts, screenshots and shared prototypes.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Lifecycle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Deprecate, migrate and archive components with clear version guidance.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Name who approves tokens, components, content and accessibility rules; deprecate, migrate and archive components with clear version guidance.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CASE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61B26"/>
                </a:solidFill>
                <a:latin typeface="Arial"/>
              </a:rPr>
              <a:t>Governance protects design quality at scale — applied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Microsoft; Anthropic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55648"/>
            <a:ext cx="3392424" cy="91440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2029968"/>
            <a:ext cx="493776" cy="493776"/>
          </a:xfrm>
          <a:prstGeom prst="ellipse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06F61"/>
                </a:solidFill>
                <a:latin typeface="Arial"/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A shared component changes silently and breaks dozens of screens.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26280"/>
            <a:ext cx="2834640" cy="27432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755648"/>
            <a:ext cx="3392424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4568" y="2029968"/>
            <a:ext cx="493776" cy="493776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DESIGN MOVE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Require impact review, version notes and a migration path for breaking changes.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4526280"/>
            <a:ext cx="2834640" cy="274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3568" y="1755648"/>
            <a:ext cx="3392424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755648"/>
            <a:ext cx="3392424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2168" y="2029968"/>
            <a:ext cx="493776" cy="493776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2168" y="2029968"/>
            <a:ext cx="493776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2020824"/>
            <a:ext cx="224028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EVIDENCE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798063"/>
            <a:ext cx="2834640" cy="1645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61B26"/>
                </a:solidFill>
                <a:latin typeface="Arial"/>
              </a:rPr>
              <a:t>Governance makes reuse safer, not slower.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526280"/>
            <a:ext cx="2834640" cy="274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102352"/>
            <a:ext cx="10835640" cy="5669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2412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Ask: what user outcome changes, and what evidence would prove it?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4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7 · Usability and Accessibility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Evaluate the prototype with a realistic task, heuristic review and accessibility checks, then perform one evidence-led iteration.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test record, prioritised findings and before/after design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comments · keyboard · audit worksheet · Full detailed procedure: Learner Guide and labs/lab-07-*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A5 · LO3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4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7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Define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Run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Audit states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Prioritise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Iterate and retest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7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Metrics defined before testing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Findings cite 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Accessibility covers states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Retest uses the same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test-script.md, results.csv, accessibility-check.js, iteration-log.md,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4 · HANDS-ON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8 · Documentation, Export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310896"/>
            <a:ext cx="15087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103784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61B26"/>
                </a:solidFill>
                <a:latin typeface="Arial"/>
              </a:rPr>
              <a:t>Prepare the final prototype for stakeholder review, developer handoff and end-user guidance.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770632"/>
            <a:ext cx="10725912" cy="13898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988A"/>
                </a:solidFill>
                <a:latin typeface="Arial"/>
              </a:rPr>
              <a:t>YOU WILL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01568"/>
            <a:ext cx="1001268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61B26"/>
                </a:solidFill>
                <a:latin typeface="Arial"/>
              </a:rPr>
              <a:t>versioned export bundle, decision log, handoff brief and task-based user guide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443984"/>
            <a:ext cx="1072591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864"/>
            <a:ext cx="1001268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Tools: Claude Design export · Claude Code handoff · documentation templates · Full detailed procedure: Learner Guide and labs/lab-08-*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340096"/>
            <a:ext cx="2834640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A6 · A7 · LO4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988A"/>
                </a:solidFill>
                <a:latin typeface="Arial"/>
              </a:rPr>
              <a:t>MODULE 4 · CONCEPTUAL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8 ·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38528"/>
            <a:ext cx="192572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2631" y="22402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2631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F6FEB"/>
                </a:solidFill>
                <a:latin typeface="Arial"/>
              </a:rPr>
              <a:t>Checkpoint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949854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9854" y="1938528"/>
            <a:ext cx="1925726" cy="9144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2677" y="2240280"/>
            <a:ext cx="640080" cy="640080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2677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014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24CD6"/>
                </a:solidFill>
                <a:latin typeface="Arial"/>
              </a:rPr>
              <a:t>Record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6158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75580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49900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49900" y="1938528"/>
            <a:ext cx="1925726" cy="9144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2724" y="2240280"/>
            <a:ext cx="640080" cy="640080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2724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060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988A"/>
                </a:solidFill>
                <a:latin typeface="Arial"/>
              </a:rPr>
              <a:t>Export package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6204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75627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349947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9947" y="1938528"/>
            <a:ext cx="1925726" cy="914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92770" y="2240280"/>
            <a:ext cx="640080" cy="640080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2770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7107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845B"/>
                </a:solidFill>
                <a:latin typeface="Arial"/>
              </a:rPr>
              <a:t>Write guide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6251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75673" y="3150108"/>
            <a:ext cx="274320" cy="0"/>
          </a:xfrm>
          <a:prstGeom prst="line">
            <a:avLst/>
          </a:prstGeom>
          <a:ln w="25400">
            <a:solidFill>
              <a:srgbClr val="1098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549993" y="1938528"/>
            <a:ext cx="1925726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49993" y="1938528"/>
            <a:ext cx="1925726" cy="914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92816" y="2240280"/>
            <a:ext cx="640080" cy="640080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92816" y="2240280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7153" y="3017520"/>
            <a:ext cx="165140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77600"/>
                </a:solidFill>
                <a:latin typeface="Arial"/>
              </a:rPr>
              <a:t>Verify handoff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6297" y="3474720"/>
            <a:ext cx="1633118" cy="612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High-level stage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8" y="4754880"/>
            <a:ext cx="10725912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4919472"/>
            <a:ext cx="18288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0988A"/>
                </a:solidFill>
                <a:latin typeface="Arial"/>
              </a:rPr>
              <a:t>THE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4855464"/>
            <a:ext cx="8778240" cy="393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 i="0">
                <a:solidFill>
                  <a:srgbClr val="161B26"/>
                </a:solidFill>
                <a:latin typeface="Arial"/>
              </a:rPr>
              <a:t>Detailed click-by-click steps and files are in the Learner Guide and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Lab 8 ·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82296" cy="243230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084832"/>
            <a:ext cx="512064" cy="51206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Change log explains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828800"/>
            <a:ext cx="82296" cy="2432304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2084832"/>
            <a:ext cx="512064" cy="51206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Export matches downstream need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28800"/>
            <a:ext cx="82296" cy="24323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208483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Guide supports a real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1828800"/>
            <a:ext cx="2487168" cy="2432304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1828800"/>
            <a:ext cx="82296" cy="2432304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25712" y="2084832"/>
            <a:ext cx="512064" cy="51206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2" y="2084832"/>
            <a:ext cx="512064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834640"/>
            <a:ext cx="1965960" cy="1051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61B26"/>
                </a:solidFill>
                <a:latin typeface="Arial"/>
              </a:rPr>
              <a:t>Handoff includes states and acceptance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617720"/>
            <a:ext cx="1083564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00600"/>
            <a:ext cx="1028700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5B6372"/>
                </a:solidFill>
                <a:latin typeface="Arial"/>
              </a:rPr>
              <a:t>Evidence package: CHANGELOG.md, HANDOFF.md, USER-GUIDE.md, export-checklist.md, prompt.txt · capture the final Claude Design version link or export.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Handoff quality depends on preserved intent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6419088"/>
            <a:ext cx="2834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730" b="0" i="1">
                <a:solidFill>
                  <a:srgbClr val="949DA9"/>
                </a:solidFill>
                <a:latin typeface="Arial"/>
              </a:rPr>
              <a:t>Indicative teaching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68680" y="1737360"/>
          <a:ext cx="66294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818120" y="1755648"/>
            <a:ext cx="3657600" cy="36850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755648"/>
            <a:ext cx="91440" cy="3685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2084831"/>
            <a:ext cx="288036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WHAT THE DATA SHOWS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670048"/>
            <a:ext cx="288036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61B26"/>
                </a:solidFill>
                <a:latin typeface="Arial"/>
              </a:rPr>
              <a:t>Indicative teaching score: richer handoff retains behaviour, states and acceptance criteria.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4617720"/>
            <a:ext cx="288036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B6372"/>
                </a:solidFill>
                <a:latin typeface="Arial"/>
              </a:rPr>
              <a:t>Use charts to support a decision—not as decoration.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MODULE 4 · RETRIEVE AND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Module 4 · Decision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Collaboration needs perm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Convenience does not replace access governance.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Choose export by downstr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The best format preserves what the next role needs to know.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Claude Design and Claude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A shared source reduces translation loss but does not remove QA.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A decision log explains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Documentation preserves intent when people and tools change.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Convenience does not replace access governance; documentation preserves intent when people and tools change.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6845B"/>
                </a:solidFill>
                <a:latin typeface="Arial"/>
              </a:rPr>
              <a:t>COURSE SUMMARY ·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Translate user evidence into requirements and complete information flows.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33172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Use Claude Design with context, systems and explicit acceptance criteria.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331720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Test components, states and flows with usability and accessibility evidence.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3317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19656"/>
            <a:ext cx="150876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1" i="0">
                <a:solidFill>
                  <a:srgbClr val="161B26"/>
                </a:solidFill>
                <a:latin typeface="Arial"/>
              </a:rPr>
              <a:t>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386584"/>
            <a:ext cx="1965960" cy="13350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70" b="0" i="0">
                <a:solidFill>
                  <a:srgbClr val="5B6372"/>
                </a:solidFill>
                <a:latin typeface="Arial"/>
              </a:rPr>
              <a:t>Document decisions, export the right format and guide the next role.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703320"/>
            <a:ext cx="1078992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DESIGN LENS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315968"/>
            <a:ext cx="10835640" cy="1325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480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6845B"/>
                </a:solidFill>
                <a:latin typeface="Arial"/>
              </a:rPr>
              <a:t>SYNTHESIS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846320"/>
            <a:ext cx="101955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61B26"/>
                </a:solidFill>
                <a:latin typeface="Arial"/>
              </a:rPr>
              <a:t>Translate user evidence into requirements and complete information flows; document decisions, export the right format and guide the next role.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REFERENCES · LIVE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Sources and further reading · 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664208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28216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Figma — Seven essential UI design principles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728216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2"/>
              </a:rPr>
              <a:t>https://www.figma.com/resource-library/ui-design-principles/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185416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185416"/>
            <a:ext cx="73152" cy="47548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4942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Microsoft — Key UI/UX design principles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249424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3"/>
              </a:rPr>
              <a:t>https://learn.microsoft.com/en-us/dynamics365/guidance/develop/ui-ux-design-principles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2706624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2706624"/>
            <a:ext cx="73152" cy="47548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706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UXPin — Essential UI design principles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770632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4"/>
              </a:rPr>
              <a:t>https://www.uxpin.com/studio/blog/ui-design-principles/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227832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3227832"/>
            <a:ext cx="73152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91839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Contentsquare — Core UI design principles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291839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5"/>
              </a:rPr>
              <a:t>https://contentsquare.com/guides/ui-design/principles/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3749039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749039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81304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MockFlow — Design principles for intuitive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813048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6"/>
              </a:rPr>
              <a:t>https://mockflow.com/resources/ui-design-principles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270248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4270248"/>
            <a:ext cx="73152" cy="475488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334256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MockFlow — UI principles for usability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334256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7"/>
              </a:rPr>
              <a:t>https://mockflow.com/blog/ui-design-principles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791456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4791456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8554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WeWeb — UI design principles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4855464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8"/>
              </a:rPr>
              <a:t>https://www.weweb.io/blog/ui-design-principles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5312664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312664"/>
            <a:ext cx="73152" cy="47548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537667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Visily — Visual design principles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5376672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9"/>
              </a:rPr>
              <a:t>https://www.visily.ai/blog/visual-design-principles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24CD6"/>
                </a:solidFill>
                <a:latin typeface="Arial"/>
              </a:rPr>
              <a:t>REFERENCES · LIVE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21792"/>
            <a:ext cx="1083564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61B26"/>
                </a:solidFill>
                <a:latin typeface="Arial"/>
              </a:rPr>
              <a:t>Sources and further reading · 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664208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28216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Dribbble — Fundamental UI design principles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728216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2"/>
              </a:rPr>
              <a:t>https://dribbble.com/resources/education/ui-design-principles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185416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185416"/>
            <a:ext cx="73152" cy="47548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4942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Maze — Key principles of UI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249424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3"/>
              </a:rPr>
              <a:t>https://maze.co/collections/ux-ui-design/ui-design-principles/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2706624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2706624"/>
            <a:ext cx="73152" cy="475488"/>
          </a:xfrm>
          <a:prstGeom prst="rect">
            <a:avLst/>
          </a:prstGeom>
          <a:solidFill>
            <a:srgbClr val="109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706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GeeksforGeeks — Principles of UI/UX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770632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4"/>
              </a:rPr>
              <a:t>https://www.geeksforgeeks.org/techtips/principles-of-ui-ux-design/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227832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3227832"/>
            <a:ext cx="73152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91839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Duck.Design — Key UI design principles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291839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5"/>
              </a:rPr>
              <a:t>https://duck.design/key-ui-design-principles/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3749039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749039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81304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Anthropic — Introducing Claude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813048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6"/>
              </a:rPr>
              <a:t>https://www.anthropic.com/news/claude-design-anthropic-labs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270248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4270248"/>
            <a:ext cx="73152" cy="475488"/>
          </a:xfrm>
          <a:prstGeom prst="rect">
            <a:avLst/>
          </a:prstGeom>
          <a:solidFill>
            <a:srgbClr val="F06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334256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Anthropic Help — Get started with Claude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334256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7"/>
              </a:rPr>
              <a:t>https://support.claude.com/en/articles/14604416-get-started-with-claude-design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" y="4791456"/>
            <a:ext cx="10625328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4791456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8554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Developers Digest — Claude Design developer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4855464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8"/>
              </a:rPr>
              <a:t>https://www.developersdigest.tech/blog/claude-design-developer-guide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5312664"/>
            <a:ext cx="106253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312664"/>
            <a:ext cx="73152" cy="475488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537667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1" i="0">
                <a:solidFill>
                  <a:srgbClr val="161B26"/>
                </a:solidFill>
                <a:latin typeface="Arial"/>
              </a:rPr>
              <a:t>Interface Design — systematic UI patterns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5376672"/>
            <a:ext cx="632764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 i="0">
                <a:solidFill>
                  <a:srgbClr val="1F6FEB"/>
                </a:solidFill>
                <a:latin typeface="Arial"/>
              </a:rPr>
              <a:t/>
            </a:r>
            <a:r>
              <a:rPr sz="830" b="0">
                <a:solidFill>
                  <a:srgbClr val="1F6FEB"/>
                </a:solidFill>
                <a:latin typeface="Arial"/>
                <a:hlinkClick r:id="rId9"/>
              </a:rPr>
              <a:t>https://github.com/Dammyjay93/interface-design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24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105156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24CD6"/>
                </a:solidFill>
                <a:latin typeface="Arial"/>
              </a:rPr>
              <a:t>Claude Design for UX/UI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67712"/>
            <a:ext cx="105156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9966960" cy="6583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5B6372"/>
                </a:solidFill>
                <a:latin typeface="Arial"/>
              </a:rPr>
              <a:t>Design with evidence. Generate with context. Refine with intent.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36592"/>
            <a:ext cx="777240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6FEB"/>
                </a:solidFill>
                <a:latin typeface="Arial"/>
              </a:rPr>
              <a:t>https://www.tertiarycourses.com.sg/claude-design-for-ux-ui.html</a:t>
            </a:r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650992"/>
            <a:ext cx="95097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6634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Claude Design for UX/UI · C744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19088"/>
            <a:ext cx="36576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73152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 Design with AI</dc:title>
  <dc:subject>WSQ UI Design with Claude Design</dc:subject>
  <dc:creator>Tertiary Infotech Academy Pte Ltd</dc:creator>
  <cp:keywords>TGS-2026064709, Claude Design, UI design, WSQ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