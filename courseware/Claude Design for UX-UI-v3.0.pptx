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8" r:id="rId9"/>
    <p:sldId id="259" r:id="rId10"/>
    <p:sldId id="260" r:id="rId11"/>
    <p:sldId id="261" r:id="rId12"/>
    <p:sldId id="262" r:id="rId13"/>
    <p:sldId id="265" r:id="rId16"/>
    <p:sldId id="266" r:id="rId17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5" r:id="rId1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Relationship Id="rId55" Type="http://schemas.openxmlformats.org/officeDocument/2006/relationships/slide" Target="slides/slide42.xml"/><Relationship Id="rId56" Type="http://schemas.openxmlformats.org/officeDocument/2006/relationships/slide" Target="slides/slide43.xml"/><Relationship Id="rId57" Type="http://schemas.openxmlformats.org/officeDocument/2006/relationships/slide" Target="slides/slide44.xml"/><Relationship Id="rId58" Type="http://schemas.openxmlformats.org/officeDocument/2006/relationships/slide" Target="slides/slide45.xml"/><Relationship Id="rId59" Type="http://schemas.openxmlformats.org/officeDocument/2006/relationships/slide" Target="slides/slide46.xml"/><Relationship Id="rId60" Type="http://schemas.openxmlformats.org/officeDocument/2006/relationships/slide" Target="slides/slide47.xml"/><Relationship Id="rId61" Type="http://schemas.openxmlformats.org/officeDocument/2006/relationships/slide" Target="slides/slide48.xml"/><Relationship Id="rId62" Type="http://schemas.openxmlformats.org/officeDocument/2006/relationships/slide" Target="slides/slide49.xml"/><Relationship Id="rId63" Type="http://schemas.openxmlformats.org/officeDocument/2006/relationships/slide" Target="slides/slide50.xml"/><Relationship Id="rId64" Type="http://schemas.openxmlformats.org/officeDocument/2006/relationships/slide" Target="slides/slide51.xml"/><Relationship Id="rId65" Type="http://schemas.openxmlformats.org/officeDocument/2006/relationships/slide" Target="slides/slide52.xml"/><Relationship Id="rId66" Type="http://schemas.openxmlformats.org/officeDocument/2006/relationships/slide" Target="slides/slide53.xml"/><Relationship Id="rId67" Type="http://schemas.openxmlformats.org/officeDocument/2006/relationships/slide" Target="slides/slide54.xml"/><Relationship Id="rId68" Type="http://schemas.openxmlformats.org/officeDocument/2006/relationships/slide" Target="slides/slide55.xml"/><Relationship Id="rId69" Type="http://schemas.openxmlformats.org/officeDocument/2006/relationships/slide" Target="slides/slide56.xml"/><Relationship Id="rId70" Type="http://schemas.openxmlformats.org/officeDocument/2006/relationships/slide" Target="slides/slide57.xml"/><Relationship Id="rId71" Type="http://schemas.openxmlformats.org/officeDocument/2006/relationships/slide" Target="slides/slide58.xml"/><Relationship Id="rId72" Type="http://schemas.openxmlformats.org/officeDocument/2006/relationships/slide" Target="slides/slide59.xml"/><Relationship Id="rId73" Type="http://schemas.openxmlformats.org/officeDocument/2006/relationships/slide" Target="slides/slide60.xml"/><Relationship Id="rId74" Type="http://schemas.openxmlformats.org/officeDocument/2006/relationships/slide" Target="slides/slide61.xml"/><Relationship Id="rId75" Type="http://schemas.openxmlformats.org/officeDocument/2006/relationships/slide" Target="slides/slide62.xml"/><Relationship Id="rId76" Type="http://schemas.openxmlformats.org/officeDocument/2006/relationships/slide" Target="slides/slide63.xml"/><Relationship Id="rId77" Type="http://schemas.openxmlformats.org/officeDocument/2006/relationships/slide" Target="slides/slide64.xml"/><Relationship Id="rId78" Type="http://schemas.openxmlformats.org/officeDocument/2006/relationships/slide" Target="slides/slide65.xml"/><Relationship Id="rId79" Type="http://schemas.openxmlformats.org/officeDocument/2006/relationships/slide" Target="slides/slide66.xml"/><Relationship Id="rId80" Type="http://schemas.openxmlformats.org/officeDocument/2006/relationships/slide" Target="slides/slide67.xml"/><Relationship Id="rId81" Type="http://schemas.openxmlformats.org/officeDocument/2006/relationships/slide" Target="slides/slide68.xml"/><Relationship Id="rId82" Type="http://schemas.openxmlformats.org/officeDocument/2006/relationships/slide" Target="slides/slide69.xml"/><Relationship Id="rId83" Type="http://schemas.openxmlformats.org/officeDocument/2006/relationships/slide" Target="slides/slide70.xml"/><Relationship Id="rId84" Type="http://schemas.openxmlformats.org/officeDocument/2006/relationships/slide" Target="slides/slide71.xml"/><Relationship Id="rId85" Type="http://schemas.openxmlformats.org/officeDocument/2006/relationships/slide" Target="slides/slide72.xml"/><Relationship Id="rId86" Type="http://schemas.openxmlformats.org/officeDocument/2006/relationships/slide" Target="slides/slide73.xml"/><Relationship Id="rId87" Type="http://schemas.openxmlformats.org/officeDocument/2006/relationships/slide" Target="slides/slide74.xml"/><Relationship Id="rId88" Type="http://schemas.openxmlformats.org/officeDocument/2006/relationships/slide" Target="slides/slide75.xml"/><Relationship Id="rId89" Type="http://schemas.openxmlformats.org/officeDocument/2006/relationships/slide" Target="slides/slide76.xml"/><Relationship Id="rId90" Type="http://schemas.openxmlformats.org/officeDocument/2006/relationships/slide" Target="slides/slide77.xml"/><Relationship Id="rId91" Type="http://schemas.openxmlformats.org/officeDocument/2006/relationships/slide" Target="slides/slide78.xml"/><Relationship Id="rId92" Type="http://schemas.openxmlformats.org/officeDocument/2006/relationships/slide" Target="slides/slide79.xml"/><Relationship Id="rId93" Type="http://schemas.openxmlformats.org/officeDocument/2006/relationships/slide" Target="slides/slide80.xml"/><Relationship Id="rId94" Type="http://schemas.openxmlformats.org/officeDocument/2006/relationships/slide" Target="slides/slide81.xml"/><Relationship Id="rId95" Type="http://schemas.openxmlformats.org/officeDocument/2006/relationships/slide" Target="slides/slide82.xml"/><Relationship Id="rId96" Type="http://schemas.openxmlformats.org/officeDocument/2006/relationships/slide" Target="slides/slide83.xml"/><Relationship Id="rId97" Type="http://schemas.openxmlformats.org/officeDocument/2006/relationships/slide" Target="slides/slide84.xml"/><Relationship Id="rId98" Type="http://schemas.openxmlformats.org/officeDocument/2006/relationships/slide" Target="slides/slide85.xml"/><Relationship Id="rId99" Type="http://schemas.openxmlformats.org/officeDocument/2006/relationships/slide" Target="slides/slide86.xml"/><Relationship Id="rId100" Type="http://schemas.openxmlformats.org/officeDocument/2006/relationships/slide" Target="slides/slide87.xml"/><Relationship Id="rId101" Type="http://schemas.openxmlformats.org/officeDocument/2006/relationships/slide" Target="slides/slide88.xml"/><Relationship Id="rId102" Type="http://schemas.openxmlformats.org/officeDocument/2006/relationships/slide" Target="slides/slide89.xml"/><Relationship Id="rId103" Type="http://schemas.openxmlformats.org/officeDocument/2006/relationships/slide" Target="slides/slide90.xml"/><Relationship Id="rId104" Type="http://schemas.openxmlformats.org/officeDocument/2006/relationships/slide" Target="slides/slide91.xml"/><Relationship Id="rId105" Type="http://schemas.openxmlformats.org/officeDocument/2006/relationships/slide" Target="slides/slide92.xml"/><Relationship Id="rId106" Type="http://schemas.openxmlformats.org/officeDocument/2006/relationships/slide" Target="slides/slide93.xml"/><Relationship Id="rId107" Type="http://schemas.openxmlformats.org/officeDocument/2006/relationships/slide" Target="slides/slide94.xml"/><Relationship Id="rId108" Type="http://schemas.openxmlformats.org/officeDocument/2006/relationships/slide" Target="slides/slide95.xml"/><Relationship Id="rId109" Type="http://schemas.openxmlformats.org/officeDocument/2006/relationships/slide" Target="slides/slide96.xml"/><Relationship Id="rId110" Type="http://schemas.openxmlformats.org/officeDocument/2006/relationships/slide" Target="slides/slide97.xml"/><Relationship Id="rId111" Type="http://schemas.openxmlformats.org/officeDocument/2006/relationships/slide" Target="slides/slide98.xml"/><Relationship Id="rId112" Type="http://schemas.openxmlformats.org/officeDocument/2006/relationships/slide" Target="slides/slide99.xml"/><Relationship Id="rId113" Type="http://schemas.openxmlformats.org/officeDocument/2006/relationships/slide" Target="slides/slide100.xml"/><Relationship Id="rId114" Type="http://schemas.openxmlformats.org/officeDocument/2006/relationships/slide" Target="slides/slide101.xml"/><Relationship Id="rId115" Type="http://schemas.openxmlformats.org/officeDocument/2006/relationships/slide" Target="slides/slide102.xml"/><Relationship Id="rId116" Type="http://schemas.openxmlformats.org/officeDocument/2006/relationships/slide" Target="slides/slide103.xml"/><Relationship Id="rId117" Type="http://schemas.openxmlformats.org/officeDocument/2006/relationships/slide" Target="slides/slide104.xml"/><Relationship Id="rId118" Type="http://schemas.openxmlformats.org/officeDocument/2006/relationships/slide" Target="slides/slide105.xml"/><Relationship Id="rId119" Type="http://schemas.openxmlformats.org/officeDocument/2006/relationships/slide" Target="slides/slide106.xml"/><Relationship Id="rId120" Type="http://schemas.openxmlformats.org/officeDocument/2006/relationships/slide" Target="slides/slide107.xml"/><Relationship Id="rId121" Type="http://schemas.openxmlformats.org/officeDocument/2006/relationships/slide" Target="slides/slide108.xml"/><Relationship Id="rId122" Type="http://schemas.openxmlformats.org/officeDocument/2006/relationships/slide" Target="slides/slide109.xml"/><Relationship Id="rId123" Type="http://schemas.openxmlformats.org/officeDocument/2006/relationships/slide" Target="slides/slide110.xml"/><Relationship Id="rId124" Type="http://schemas.openxmlformats.org/officeDocument/2006/relationships/slide" Target="slides/slide111.xml"/><Relationship Id="rId125" Type="http://schemas.openxmlformats.org/officeDocument/2006/relationships/slide" Target="slides/slide112.xml"/><Relationship Id="rId126" Type="http://schemas.openxmlformats.org/officeDocument/2006/relationships/slide" Target="slides/slide113.xml"/><Relationship Id="rId127" Type="http://schemas.openxmlformats.org/officeDocument/2006/relationships/slide" Target="slides/slide114.xml"/><Relationship Id="rId128" Type="http://schemas.openxmlformats.org/officeDocument/2006/relationships/slide" Target="slides/slide115.xml"/><Relationship Id="rId129" Type="http://schemas.openxmlformats.org/officeDocument/2006/relationships/slide" Target="slides/slide116.xml"/><Relationship Id="rId130" Type="http://schemas.openxmlformats.org/officeDocument/2006/relationships/slide" Target="slides/slide117.xml"/><Relationship Id="rId131" Type="http://schemas.openxmlformats.org/officeDocument/2006/relationships/slide" Target="slides/slide118.xml"/><Relationship Id="rId132" Type="http://schemas.openxmlformats.org/officeDocument/2006/relationships/slide" Target="slides/slide119.xml"/><Relationship Id="rId133" Type="http://schemas.openxmlformats.org/officeDocument/2006/relationships/slide" Target="slides/slide120.xml"/><Relationship Id="rId134" Type="http://schemas.openxmlformats.org/officeDocument/2006/relationships/slide" Target="slides/slide121.xml"/><Relationship Id="rId135" Type="http://schemas.openxmlformats.org/officeDocument/2006/relationships/slide" Target="slides/slide122.xml"/><Relationship Id="rId136" Type="http://schemas.openxmlformats.org/officeDocument/2006/relationships/slide" Target="slides/slide123.xml"/><Relationship Id="rId137" Type="http://schemas.openxmlformats.org/officeDocument/2006/relationships/slide" Target="slides/slide124.xml"/><Relationship Id="rId138" Type="http://schemas.openxmlformats.org/officeDocument/2006/relationships/slide" Target="slides/slide125.xml"/><Relationship Id="rId139" Type="http://schemas.openxmlformats.org/officeDocument/2006/relationships/slide" Target="slides/slide126.xml"/><Relationship Id="rId140" Type="http://schemas.openxmlformats.org/officeDocument/2006/relationships/slide" Target="slides/slide127.xml"/><Relationship Id="rId141" Type="http://schemas.openxmlformats.org/officeDocument/2006/relationships/slide" Target="slides/slide128.xml"/><Relationship Id="rId142" Type="http://schemas.openxmlformats.org/officeDocument/2006/relationships/slide" Target="slides/slide129.xml"/><Relationship Id="rId143" Type="http://schemas.openxmlformats.org/officeDocument/2006/relationships/slide" Target="slides/slide130.xml"/><Relationship Id="rId144" Type="http://schemas.openxmlformats.org/officeDocument/2006/relationships/slide" Target="slides/slide131.xml"/><Relationship Id="rId145" Type="http://schemas.openxmlformats.org/officeDocument/2006/relationships/slide" Target="slides/slide132.xml"/><Relationship Id="rId146" Type="http://schemas.openxmlformats.org/officeDocument/2006/relationships/slide" Target="slides/slide133.xml"/><Relationship Id="rId147" Type="http://schemas.openxmlformats.org/officeDocument/2006/relationships/slide" Target="slides/slide134.xml"/><Relationship Id="rId148" Type="http://schemas.openxmlformats.org/officeDocument/2006/relationships/slide" Target="slides/slide135.xml"/><Relationship Id="rId149" Type="http://schemas.openxmlformats.org/officeDocument/2006/relationships/slide" Target="slides/slide136.xml"/><Relationship Id="rId150" Type="http://schemas.openxmlformats.org/officeDocument/2006/relationships/slide" Target="slides/slide137.xml"/><Relationship Id="rId151" Type="http://schemas.openxmlformats.org/officeDocument/2006/relationships/slide" Target="slides/slide138.xml"/><Relationship Id="rId156" Type="http://schemas.openxmlformats.org/officeDocument/2006/relationships/slide" Target="slides/slide1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task time</c:v>
                </c:pt>
              </c:strCache>
            </c:strRef>
          </c:tx>
          <c:dPt>
            <c:idx val="0"/>
            <c:spPr>
              <a:solidFill>
                <a:srgbClr val="D97757"/>
              </a:solidFill>
              <a:ln>
                <a:noFill/>
              </a:ln>
            </c:spPr>
          </c:dPt>
          <c:dPt>
            <c:idx val="1"/>
            <c:spPr>
              <a:solidFill>
                <a:srgbClr val="C2603F"/>
              </a:solidFill>
              <a:ln>
                <a:noFill/>
              </a:ln>
            </c:spPr>
          </c:dPt>
          <c:dPt>
            <c:idx val="2"/>
            <c:spPr>
              <a:solidFill>
                <a:srgbClr val="3A7D7B"/>
              </a:solidFill>
              <a:ln>
                <a:noFill/>
              </a:ln>
            </c:spPr>
          </c:dPt>
          <c:dPt>
            <c:idx val="3"/>
            <c:spPr>
              <a:solidFill>
                <a:srgbClr val="3A7D7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3 choices</c:v>
                </c:pt>
                <c:pt idx="1">
                  <c:v>5 choices</c:v>
                </c:pt>
                <c:pt idx="2">
                  <c:v>9 choices</c:v>
                </c:pt>
                <c:pt idx="3">
                  <c:v>15 choices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</c:v>
                </c:pt>
                <c:pt idx="1">
                  <c:v>23</c:v>
                </c:pt>
                <c:pt idx="2">
                  <c:v>37</c:v>
                </c:pt>
                <c:pt idx="3">
                  <c:v>58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775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time</c:v>
                </c:pt>
              </c:strCache>
            </c:strRef>
          </c:tx>
          <c:dPt>
            <c:idx val="0"/>
            <c:spPr>
              <a:solidFill>
                <a:srgbClr val="D97757"/>
              </a:solidFill>
              <a:ln>
                <a:noFill/>
              </a:ln>
            </c:spPr>
          </c:dPt>
          <c:dPt>
            <c:idx val="1"/>
            <c:spPr>
              <a:solidFill>
                <a:srgbClr val="C2603F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Without system</c:v>
                </c:pt>
                <c:pt idx="1">
                  <c:v>With system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66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775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Indicative fix effort</c:v>
                </c:pt>
              </c:strCache>
            </c:strRef>
          </c:tx>
          <c:dPt>
            <c:idx val="0"/>
            <c:spPr>
              <a:solidFill>
                <a:srgbClr val="D97757"/>
              </a:solidFill>
              <a:ln>
                <a:noFill/>
              </a:ln>
            </c:spPr>
          </c:dPt>
          <c:dPt>
            <c:idx val="1"/>
            <c:spPr>
              <a:solidFill>
                <a:srgbClr val="C2603F"/>
              </a:solidFill>
              <a:ln>
                <a:noFill/>
              </a:ln>
            </c:spPr>
          </c:dPt>
          <c:dPt>
            <c:idx val="2"/>
            <c:spPr>
              <a:solidFill>
                <a:srgbClr val="3A7D7B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Wireframe</c:v>
                </c:pt>
                <c:pt idx="1">
                  <c:v>Interactive prototype</c:v>
                </c:pt>
                <c:pt idx="2">
                  <c:v>After build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9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775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Context completeness</c:v>
                </c:pt>
              </c:strCache>
            </c:strRef>
          </c:tx>
          <c:dPt>
            <c:idx val="0"/>
            <c:spPr>
              <a:solidFill>
                <a:srgbClr val="D97757"/>
              </a:solidFill>
              <a:ln>
                <a:noFill/>
              </a:ln>
            </c:spPr>
          </c:dPt>
          <c:dPt>
            <c:idx val="1"/>
            <c:spPr>
              <a:solidFill>
                <a:srgbClr val="C2603F"/>
              </a:solidFill>
              <a:ln>
                <a:noFill/>
              </a:ln>
            </c:spPr>
          </c:dPt>
          <c:dPt>
            <c:idx val="2"/>
            <c:spPr>
              <a:solidFill>
                <a:srgbClr val="3A7D7B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Screenshot</c:v>
                </c:pt>
                <c:pt idx="1">
                  <c:v>Prototype</c:v>
                </c:pt>
                <c:pt idx="2">
                  <c:v>System + states + criteria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</c:v>
                </c:pt>
                <c:pt idx="1">
                  <c:v>62</c:v>
                </c:pt>
                <c:pt idx="2">
                  <c:v>94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7757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figma.com/resource-library/ui-design-principles/" TargetMode="External"/><Relationship Id="rId3" Type="http://schemas.openxmlformats.org/officeDocument/2006/relationships/hyperlink" Target="https://learn.microsoft.com/en-us/dynamics365/guidance/develop/ui-ux-design-principles" TargetMode="External"/><Relationship Id="rId4" Type="http://schemas.openxmlformats.org/officeDocument/2006/relationships/hyperlink" Target="https://www.uxpin.com/studio/blog/ui-design-principles/" TargetMode="External"/><Relationship Id="rId5" Type="http://schemas.openxmlformats.org/officeDocument/2006/relationships/hyperlink" Target="https://contentsquare.com/guides/ui-design/principles/" TargetMode="External"/><Relationship Id="rId6" Type="http://schemas.openxmlformats.org/officeDocument/2006/relationships/hyperlink" Target="https://mockflow.com/resources/ui-design-principles" TargetMode="External"/><Relationship Id="rId7" Type="http://schemas.openxmlformats.org/officeDocument/2006/relationships/hyperlink" Target="https://mockflow.com/blog/ui-design-principles" TargetMode="External"/><Relationship Id="rId8" Type="http://schemas.openxmlformats.org/officeDocument/2006/relationships/hyperlink" Target="https://www.weweb.io/blog/ui-design-principles" TargetMode="External"/><Relationship Id="rId9" Type="http://schemas.openxmlformats.org/officeDocument/2006/relationships/hyperlink" Target="https://www.visily.ai/blog/visual-design-principles" TargetMode="Externa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ribbble.com/resources/education/ui-design-principles" TargetMode="External"/><Relationship Id="rId3" Type="http://schemas.openxmlformats.org/officeDocument/2006/relationships/hyperlink" Target="https://maze.co/collections/ux-ui-design/ui-design-principles/" TargetMode="External"/><Relationship Id="rId4" Type="http://schemas.openxmlformats.org/officeDocument/2006/relationships/hyperlink" Target="https://www.geeksforgeeks.org/techtips/principles-of-ui-ux-design/" TargetMode="External"/><Relationship Id="rId5" Type="http://schemas.openxmlformats.org/officeDocument/2006/relationships/hyperlink" Target="https://duck.design/key-ui-design-principles/" TargetMode="External"/><Relationship Id="rId6" Type="http://schemas.openxmlformats.org/officeDocument/2006/relationships/hyperlink" Target="https://www.anthropic.com/news/claude-design-anthropic-labs" TargetMode="External"/><Relationship Id="rId7" Type="http://schemas.openxmlformats.org/officeDocument/2006/relationships/hyperlink" Target="https://support.claude.com/en/articles/14604416-get-started-with-claude-design" TargetMode="External"/><Relationship Id="rId8" Type="http://schemas.openxmlformats.org/officeDocument/2006/relationships/hyperlink" Target="https://www.developersdigest.tech/blog/claude-design-developer-guide" TargetMode="External"/><Relationship Id="rId9" Type="http://schemas.openxmlformats.org/officeDocument/2006/relationships/hyperlink" Target="https://github.com/Dammyjay93/interface-design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tertiarycourses.com.sg/casl-ui-design-with-ai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NON-WSQ COURSE  •  C744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Claude Design for UX/UI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3.0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B6862"/>
                </a:solidFill>
                <a:latin typeface="Calibri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3383280" cy="4370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91440" cy="4370832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139696"/>
            <a:ext cx="1371600" cy="1371600"/>
          </a:xfrm>
          <a:prstGeom prst="ellipse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139696"/>
            <a:ext cx="13716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22191"/>
            <a:ext cx="2770632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21201C"/>
                </a:solidFill>
                <a:latin typeface="Cambria"/>
              </a:rPr>
              <a:t>General Trainer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27706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B6862"/>
                </a:solidFill>
                <a:latin typeface="Calibri"/>
              </a:rPr>
              <a:t>Complete this template before class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19072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19072"/>
            <a:ext cx="82296" cy="5943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801368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97757"/>
                </a:solidFill>
                <a:latin typeface="Calibri"/>
              </a:rPr>
              <a:t>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01368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45059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450591"/>
            <a:ext cx="82296" cy="59436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53288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03F"/>
                </a:solidFill>
                <a:latin typeface="Calibri"/>
              </a:rPr>
              <a:t>TITLE / DESIGNATION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3288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18211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82111"/>
            <a:ext cx="82296" cy="5943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26440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7D7B"/>
                </a:solidFill>
                <a:latin typeface="Calibri"/>
              </a:rPr>
              <a:t>QUALIFICATIONS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6440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1363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913631"/>
            <a:ext cx="82296" cy="5943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99592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7D7B"/>
                </a:solidFill>
                <a:latin typeface="Calibri"/>
              </a:rPr>
              <a:t>AREAS OF EXPERTISE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9592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64515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45151"/>
            <a:ext cx="82296" cy="5943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472744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88A2E"/>
                </a:solidFill>
                <a:latin typeface="Calibri"/>
              </a:rPr>
              <a:t>TRAINING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2744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37667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76671"/>
            <a:ext cx="82296" cy="5943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545896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5483A"/>
                </a:solidFill>
                <a:latin typeface="Calibri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45896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A867D"/>
                </a:solidFill>
                <a:latin typeface="Calibri"/>
              </a:rPr>
              <a:t>________________________________________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719072"/>
            <a:ext cx="3383280" cy="43708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91440" cy="43708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73352" y="2139696"/>
            <a:ext cx="1371600" cy="137160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73352" y="2139696"/>
            <a:ext cx="1371600" cy="13716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AA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22191"/>
            <a:ext cx="2770632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315968"/>
            <a:ext cx="2770632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B6862"/>
                </a:solidFill>
                <a:latin typeface="Calibri"/>
              </a:rPr>
              <a:t>Principal Trainer · Tertiary Infotech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1719072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1719072"/>
            <a:ext cx="82296" cy="59436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45152" y="1801368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D97757"/>
                </a:solidFill>
                <a:latin typeface="Calibri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801368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Principal Trainer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245059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2450591"/>
            <a:ext cx="82296" cy="59436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253288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2603F"/>
                </a:solidFill>
                <a:latin typeface="Calibri"/>
              </a:rPr>
              <a:t>CERTIFICATION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3288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Digital design, AI and technology education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400" y="318211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3182111"/>
            <a:ext cx="82296" cy="5943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326440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7D7B"/>
                </a:solidFill>
                <a:latin typeface="Calibri"/>
              </a:rPr>
              <a:t>DELIVERS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26440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UI/UX and AI courses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391363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3913631"/>
            <a:ext cx="82296" cy="59436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45152" y="399592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3A7D7B"/>
                </a:solidFill>
                <a:latin typeface="Calibri"/>
              </a:rPr>
              <a:t>FOUNDER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99592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Tertiary Infotech / Tertiary Courses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64515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645151"/>
            <a:ext cx="82296" cy="59436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472744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C88A2E"/>
                </a:solidFill>
                <a:latin typeface="Calibri"/>
              </a:rPr>
              <a:t>INDUSTRY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72744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Applied AI, software and digital learning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43400" y="5376671"/>
            <a:ext cx="7150608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43400" y="5376671"/>
            <a:ext cx="82296" cy="59436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5458967"/>
            <a:ext cx="16916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5483A"/>
                </a:solidFill>
                <a:latin typeface="Calibri"/>
              </a:rPr>
              <a:t>CONTACT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5458967"/>
            <a:ext cx="470916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1201C"/>
                </a:solidFill>
                <a:latin typeface="Calibri"/>
              </a:rPr>
              <a:t>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COURSE ADMINISTRATION · LEARNER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Your name, organisation and current role.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Tools or design work you have already tried.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An interface you use often and why it works.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What you want to create or improve today.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Your name, organisation and current role; what you want to create or improve today.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ADMINISTRATION · LEARNING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Ask questions, test assumptions and share observations.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Respect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One conversation at a time; critique the work, not the person.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Focus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Phones silent; keep sensitive data out of design prompts.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Punctuality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Return from breaks on time.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 questions, test assumptions and share observations; return from breaks on time.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COURSE UPDATE · CURRENT 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From Adobe XD to Claude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9808" y="1938528"/>
            <a:ext cx="2475738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67637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6763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Legacy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Manual artboards and tool-specific prototype files.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225546" y="3150108"/>
            <a:ext cx="274319" cy="0"/>
          </a:xfrm>
          <a:prstGeom prst="line">
            <a:avLst/>
          </a:prstGeom>
          <a:ln w="2540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499865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99865" y="1938528"/>
            <a:ext cx="2475738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417695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17695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025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New surface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6170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Conversation plus a live canvas for generation and refinement.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75604" y="3150108"/>
            <a:ext cx="274320" cy="0"/>
          </a:xfrm>
          <a:prstGeom prst="line">
            <a:avLst/>
          </a:prstGeom>
          <a:ln w="2540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49924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1938528"/>
            <a:ext cx="2475738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67753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7753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7084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System context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Import tokens, components, files and codebase context.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725662" y="3150108"/>
            <a:ext cx="274320" cy="0"/>
          </a:xfrm>
          <a:prstGeom prst="line">
            <a:avLst/>
          </a:prstGeom>
          <a:ln w="25400">
            <a:solidFill>
              <a:srgbClr val="C2603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999982" y="1938528"/>
            <a:ext cx="247573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99982" y="1938528"/>
            <a:ext cx="2475738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17811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1781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7142" y="3017520"/>
            <a:ext cx="220141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Handoff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6286" y="3474720"/>
            <a:ext cx="2183130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Export HTML, PDF, PPTX or pass work to Claude Code.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3F"/>
                </a:solidFill>
                <a:latin typeface="Calibri"/>
              </a:rPr>
              <a:t>THE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The course retains UI design fundamentals while replacing obsolete Adobe XD procedures.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ADMINISTRATION · FOUR CONNECTED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Course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Module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Requirements and Principle-Led UI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Module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Claude Design Workflow and Design Systems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Module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Components, Prototypes and Evidence-Based Evaluation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Module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Documentation, Collaboration and Handoff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Requirements and Principle-Led UI Design; documentation, collaboration and handoff.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ADMINISTRATION · 9:30 AM–5:30 PM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Lesson Plan · One 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27632"/>
            <a:ext cx="1353312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1682496"/>
            <a:ext cx="120700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1627632"/>
            <a:ext cx="5925312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682496"/>
            <a:ext cx="577900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Topic / Activity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36992" y="1627632"/>
            <a:ext cx="1444752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10144" y="1682496"/>
            <a:ext cx="1298448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81744" y="1627632"/>
            <a:ext cx="2112264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54896" y="1682496"/>
            <a:ext cx="1965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Calibri"/>
              </a:rPr>
              <a:t>Slides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1975104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201168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09:30–10:30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1680" y="1975104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66544" y="201168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Welcome, outcomes; Module 1 — requirements, research and information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6992" y="1975104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201168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Admin + concept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81744" y="1975104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608" y="201168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10–44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304288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2340864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10:30–11:20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2304288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66544" y="2340864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Labs 1–2 — Research Brief; Information Flow and Principle Audit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36992" y="2304288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91856" y="2340864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Hands-on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81744" y="2304288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8" y="2340864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37–42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633472"/>
            <a:ext cx="1353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2670048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11:20–12:15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1680" y="2633472"/>
            <a:ext cx="5925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66544" y="2670048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Module 2 — Claude Design workflow and design systems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36992" y="2633472"/>
            <a:ext cx="144475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91856" y="2670048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Concept + demo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81744" y="2633472"/>
            <a:ext cx="2112264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36608" y="2670048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45–77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2962656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2999232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12:15–13:05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011680" y="2962656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066544" y="2999232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1201C"/>
                </a:solidFill>
                <a:latin typeface="Calibri"/>
              </a:rPr>
              <a:t>Labs 3–4 — Design System Project; Prompted Wireframes and Variants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36992" y="2962656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91856" y="2999232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Hands-on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81744" y="2962656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36608" y="2999232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70–75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8368" y="3291840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3328416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13:05–13:35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11680" y="3291840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066544" y="3328416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Lunch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36992" y="3291840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91856" y="3328416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Break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81744" y="3291840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36608" y="3328416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3621024"/>
            <a:ext cx="1353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365760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13:35–14:30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011680" y="3621024"/>
            <a:ext cx="5925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066544" y="365760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Module 3 — components, states and interaction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36992" y="3621024"/>
            <a:ext cx="144475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91856" y="365760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Concept + cases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81744" y="3621024"/>
            <a:ext cx="2112264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36608" y="365760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78–110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58368" y="3950208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3232" y="3986784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14:30–15:20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11680" y="3950208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066544" y="3986784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1201C"/>
                </a:solidFill>
                <a:latin typeface="Calibri"/>
              </a:rPr>
              <a:t>Labs 5–6 — Reusable Components and States; Responsive Prototype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36992" y="3950208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91856" y="3986784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Hands-on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81744" y="3950208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36608" y="3986784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103–108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4279392"/>
            <a:ext cx="1353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3232" y="4315968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15:20–16:20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011680" y="4279392"/>
            <a:ext cx="592531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066544" y="4315968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Module 4 — evaluation, documentation and handoff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36992" y="4279392"/>
            <a:ext cx="1444752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991856" y="4315968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Concept + demo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81744" y="4279392"/>
            <a:ext cx="2112264" cy="329184"/>
          </a:xfrm>
          <a:prstGeom prst="rect">
            <a:avLst/>
          </a:prstGeom>
          <a:solidFill>
            <a:srgbClr val="FBF1D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436608" y="4315968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111–135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58368" y="4608576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3232" y="4645152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16:20–16:45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011680" y="4608576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066544" y="4645152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 i="0">
                <a:solidFill>
                  <a:srgbClr val="21201C"/>
                </a:solidFill>
                <a:latin typeface="Calibri"/>
              </a:rPr>
              <a:t>Lab 7 — Usability and Accessibility Evaluation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936992" y="4608576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991856" y="4645152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Hands-on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381744" y="4608576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36608" y="4645152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128–130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58368" y="4937760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13232" y="4974336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16:45–17:10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11680" y="4937760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066544" y="4974336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1201C"/>
                </a:solidFill>
                <a:latin typeface="Calibri"/>
              </a:rPr>
              <a:t>Lab 8 — Documentation, Export and Handoff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936992" y="4937760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991856" y="4974336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Hands-on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81744" y="4937760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436608" y="4974336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131–133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58368" y="5266944"/>
            <a:ext cx="1353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13232" y="5303520"/>
            <a:ext cx="1243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17:10–17:30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011680" y="5266944"/>
            <a:ext cx="592531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066544" y="5303520"/>
            <a:ext cx="581558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1201C"/>
                </a:solidFill>
                <a:latin typeface="Calibri"/>
              </a:rPr>
              <a:t>Course recap, Q&amp;A and next steps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936992" y="5266944"/>
            <a:ext cx="1444752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991856" y="5303520"/>
            <a:ext cx="1335024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Recap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381744" y="5266944"/>
            <a:ext cx="2112264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436608" y="5303520"/>
            <a:ext cx="2002536" cy="2651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21201C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ADMINISTRATION · LAB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Access the hands-on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Open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the course GitHub link.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Choose Code → Download ZIP or clone the repository.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Choose lab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Open one self-contained lab folder.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Follow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the Learner Guide for detailed steps.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D977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Verify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Submit the named evidence and acceptance checks.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Every lab folder includes its own files, README and Sample-Code.pdf.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71800" y="5669280"/>
            <a:ext cx="626364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https://github.com/tertiarycourses/C744-Claude-Design-for-UX-UI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D97757"/>
                </a:solidFill>
                <a:latin typeface="Cambria"/>
              </a:rPr>
              <a:t>MODULE 1 · LO1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1201C"/>
                </a:solidFill>
                <a:latin typeface="Cambria"/>
              </a:rPr>
              <a:t>Requirements and Principle-Led UI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862"/>
                </a:solidFill>
                <a:latin typeface="Calibri"/>
              </a:rPr>
              <a:t>From user needs and information flow to defensible interface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8E5DE"/>
                </a:solidFill>
                <a:latin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UI and UX: different lenses, one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UX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complete journey, task success and emotional experience.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UI 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visual and interactive layer users touch to complete the journey.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Shared ground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Research, flows, accessibility, testing and iteration connect both.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useful flow expressed through clear, predictable interface decisions.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The complete journey, task success and emotional experience; a useful flow expressed through clear, predictable interface decisions.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UI and UX: different lenses, one outcome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booking page looks polished but hides the next available date below the fold.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Repair the task flow first, then use hierarchy to make the next action obvious.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Task completion and error evidence outrank aesthetic preference.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User-centricity begins with a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the primary user and the context in which they act.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Job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State the outcome the user is trying to achieve, not the feature requested.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Barrier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Capture what makes the job slow, risky or confusing today.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Success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Define an observable result the interface should make easier.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Name the primary user and the context in which they act; define an observable result the interface should make easier.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User-centricity begins with a job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team asks for a dashboard because competitors have 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Reframe the request around the decisions users must make and the signals they need.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strong brief connects business intent to a real user outcome.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Design thinking with AI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Empathise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interviews, observations and existing evidence; AI helps synthesize.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Turn patterns into a focused problem statement and constraints.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Ideate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Generate divergent directions without confusing volume with quality.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Prototype + 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Make assumptions visible, test them, and iterate from evidence.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Use interviews, observations and existing evidence; AI helps synthesize; make assumptions visible, test them, and iterate from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Design thinking with AI support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Claude produces ten attractive concepts from a vague prompt.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Anchor exploration in a research-backed problem statement and evaluation criteria.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AI accelerates options; humans remain accountable for evidence and judgement.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Research evidence: signal before synthesis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Analytics and observations reveal what people actually do.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Attitude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Interviews and surveys reveal expectations, language and motivations.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Devices, interruptions, environment and accessibility needs shape 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Triangulate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Combine sources before turning patterns into design requirements.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Analytics and observations reveal what people actually do; combine sources before turning patterns into design requirements.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Research evidence: signal before synthesis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Three interviewees request a feature that usage data shows almost nobody needs.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Treat the request as a hypothesis and investigate the underlying task or barrier.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single source is a clue, not a conclusion.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Personas, segments and jobs-to-be-done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Persona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research-backed behavioural archetype, not invented demographics.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measurable group useful for product or service decisions.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Job 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When situation, I want motivation, so I can expected outcome.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Anti-bias check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Separate evidence from assumptions and decorative biography.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 research-backed behavioural archetype, not invented demographics; separate evidence from assumptions and decorative biography.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Personas, segments and jobs-to-be-done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persona says 'busy professional' but provides no task, context or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Replace generic traits with a job story and evidence-linked constraints.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Useful personas change a design decision.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Information architecture: organise for recognition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List content, actions, entities and states users need.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Grouping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Cluster items using user language and mental models.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Labels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specific nouns and verbs; avoid clever but ambiguous wording.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Card sorting and tree testing reveal findability problems early.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List content, actions, entities and states users need; card sorting and tree testing reveal findability problems early.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01C"/>
                </a:solidFill>
                <a:latin typeface="Cambria"/>
              </a:rPr>
              <a:t>Information architecture: organise for recognition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service portal groups content by internal department names.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Reorganise around user goals and test whether users can predict where items live.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Findability is measurable before high-fidelity design begins.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User flows expose hidden interface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Entry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Show where the user starts and what context arrives with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Happy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Map the shortest valid route to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branch criteria and what the user needs to choose well.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Exceptions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Include empty, loading, error, permission and recovery states.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Show where the user starts and what context arrives with them; include empty, loading, error, permission and recovery states.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User flows expose hidden interface states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checkout flow documents payment success but not a declined card.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Add failure, retry and saved-progress branches before designing screens.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complete flow maps states, not just pages.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Clarity: make purpose and next action obvious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UXPin;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Screen 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clear heading says where the user is and why it matters.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Action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outcome-specific verbs such as 'Save draft' or 'Book slot'.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Visible priority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One primary action dominates; secondary actions remain available.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Plain feedback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Say what happened, what it means and what to do next.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 clear heading says where the user is and why it matters; say what happened, what it means and what to do next.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Clarity: make purpose and next action obvious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UXPin;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form ends with two identical buttons labelled 'Continue'.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Name outcomes, establish a primary action and clarify the consequence of each choice.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If users must decode the interface, clarity has failed.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Visual hierarchy: design the reading order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Visily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Larger elements signal importance when used sparingly.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Contrast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Value, colour and weight create emphasis and separation.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Position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Placement and whitespace determine what users encounter first.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Grouping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Proximity and alignment reveal relationships without explanation.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Larger elements signal importance when used sparingly; proximity and alignment reveal relationships without explanation.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Visual hierarchy: design the reading order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Visily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Every card, heading and button on a dashboard has equal visual weight.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Choose a reading order, strengthen the primary signal and quiet supporting content.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five-second glance should reveal purpose, status and next action.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Consistency and familiarity build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Maze;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same pattern looks and behaves the same across the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Conventions reduce relearning when they match user expectations.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Semantic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Colours, labels and icons keep the same meaning in every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Systemic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Tokens and components make consistency easier to maintain.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The same pattern looks and behaves the same across the product; tokens and components make consistency easier to maintain.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Consistency and familiarity build prediction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Maze;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The same icon opens search on one page and filters on another.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Standardise meaning and encode the pattern in a reusable component.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Consistency turns prior learning into speed and confidence.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Simplicity and progressive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Dribbble;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Essential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Show what most users need to begin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Advanced later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Reveal complexity when context or intent makes it useful.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Reduce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Limit competing choices at each moment of the flow.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Preserve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Do not hide frequently needed actions behind arbitrary layers.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Show what most users need to begin the task; do not hide frequently needed actions behind arbitrary layers.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Simplicity and progressive disclosure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Dribbble;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settings page exposes forty controls in one uninterrupted 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Group by user goal and reveal advanced options only when requested.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Simple means focused, not feature-poor.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Accessibility is a design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Perceivable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Contrast, text alternatives and scalable type support different senses.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Operable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Keyboard access, focus visibility and reachable targets support action.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Understandable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Plain language and predictable behaviour reduce confusion.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Robust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Semantic structure survives devices and assistive technology.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Contrast, text alternatives and scalable type support different senses; semantic structure survives devices and assistive technology.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Accessibility is a design input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status uses only red and green dots with no labels.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Add text or shape cues, verify contrast and include a visible focus state.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Accessibility checks the interface under realistic variation.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Feedback, error prevention and user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Dribbble;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Immediate feedback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Every action receives a visible, proportional response.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Constraints and defaults block invalid actions before submission.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Recover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Errors explain cause, preserve input and offer a direct next step.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Undo, cancel and review reduce the cost of mistakes.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Every action receives a visible, proportional response; undo, cancel and review reduce the cost of mistakes.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Feedback, error prevention and user control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Dribbble;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destructive action succeeds silently and cannot be undone.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Add confirmation where risk is high, show completion and provide recovery when possible.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Good feedback keeps users oriented and in control.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1 · Research Brief and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A neighbourhood wellness service needs a mobile experience for daily support and appointment booking.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research-backed product brief, required-function list and measurable success criteria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browser · supplied brief template · Full detailed procedure: Learner Guide and labs/lab-01-*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1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Review 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Frame user job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List needs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Prioritise functions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Define success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1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Names a primary user and job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Separates evidence from assumptions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Lists essential functions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Defines observable success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brief-template.md, evidence-notes.csv,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2 · Information Flow and Principle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Map the wellness appointment task and inspect a flawed flow against clarity, hierarchy, consistency, accessibility and feedback.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complete user flow with exception states and a prioritised UI audit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Mermaid-compatible flow sample · audit checklist · Full detailed procedure: Learner Guide and labs/lab-02-*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LO1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2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Map entry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Draw happy path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Add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Add exceptions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Prioritise issues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2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Flow includes success and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Every issue names a principle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Severity connects to task impact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Recommendations are testable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user-flow.mmd, audit-checklist.csv,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Choice load grows faster than perceived simplicity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01C"/>
                </a:solidFill>
                <a:latin typeface="Cambria"/>
              </a:rPr>
              <a:t>Indicative teaching figures: more competing choices increase search and decision effort.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1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Module 1 · Decision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UI and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Task completion and error evidence outrank aesthetic preference.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User-centricity begins 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strong brief connects business intent to a real user outcome.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Design thinking with AI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AI accelerates options; humans remain accountable for evidence and judgement.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Research evidence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single source is a clue, not a conclusion.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Task completion and error evidence outrank aesthetic preference; a single source is a clue, not a conclusion.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C2603F"/>
                </a:solidFill>
                <a:latin typeface="Cambria"/>
              </a:rPr>
              <a:t>MODULE 2 · LO2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1201C"/>
                </a:solidFill>
                <a:latin typeface="Cambria"/>
              </a:rPr>
              <a:t>Claude Design Workflow and Design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862"/>
                </a:solidFill>
                <a:latin typeface="Calibri"/>
              </a:rPr>
              <a:t>Context-rich prompting, systematic exploration and controlled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8E5DE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What Claude Design is—and is not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Design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Conversation and a live canvas support visual exploration.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Prototype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Outputs can be interactive and shared for feedback.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System-aware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Projects can inherit or import real design-system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Not autopilot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Research validity, accessibility and acceptance remain human duties.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Conversation and a live canvas support visual exploration; research validity, accessibility and acceptance remain human duties.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What Claude Design is—and is not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stakeholder treats the first generated screen as a finished product.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Position generation as a hypothesis and define the review evidence required before approval.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The first generation is a starting point, not a sign-off.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Access, interface and beta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Availability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Web and desktop access for supported Pro, Max, Team and Enterprise plans.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Chat on the left; a working design canvas on the right.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Enterprise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feature may require administrator enablement.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Beta limits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Expect evolving comments, large-repo and multi-editor behaviour.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Web and desktop access for supported Pro, Max, Team and Enterprise plans; expect evolving comments, large-repo and multi-editor behaviour.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Access, interface and beta boundaries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class cannot see Claude Design even though accounts are active.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Check plan eligibility, enterprise settings and web/desktop availability before the lab.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Tool readiness is part of instructional readiness.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 project is a context boundary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Purpose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One project holds a coherent design goal and its evolving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project can inherit an organisation design system.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Inputs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Screenshots, documents, codebases and design files add concrete context.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Outputs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Versions, comments, exports and handoff remain linked to the work.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One project holds a coherent design goal and its evolving decisions; versions, comments, exports and handoff remain linked to the work.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 project is a context boundary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Unrelated product concepts accumulate in one project and influence later generations.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Separate goals into projects and keep context specific to the intended product.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Good boundaries reduce accidental design drift.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Import a design system before generating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Colour, type, spacing, radius and elevation define visual decisions.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Components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Reusable structures encode interaction and accessibility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Guidelines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Voice, layout rules and do/don't criteria preserve intent.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Quality of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Incomplete or messy inputs produce inconsistent outputs.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Colour, type, spacing, radius and elevation define visual decisions; incomplete or messy inputs produce inconsistent outputs.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Import a design system before generating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:root {
  --color-action: #724cd6;
  --space-1: 4px;
  --space-2: 8px;
  --radius-control: 8px;
}
.button { min-height: 44px; padding: var(--space-2) 16px;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Tokens name decisions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Components consume tokens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The source must be clean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Prompt anatomy for interface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the product outcome and the screen or flow to create.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Describe the primary user, context and accessibility needs.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Provide real labels, entities, states and data priorities.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Specify system, breakpoints, required states and acceptance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Name the product outcome and the screen or flow to create; specify system, breakpoints, required states and acceptance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Prompt anatomy for interface work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Goal: Design a 4-screen booking flow
Audience: Adults with varied digital confidence
Content: Real services, times, error and success states
Constraints: Mobile-first, WCAG contrast, 44px targets
Acceptance: Task completes and conflict recovery preserves input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State the job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Supply real content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Define acceptance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Direction without AI design slop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Interface Design; Developers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One personality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Choose a clear product character: precise, calm, warm or expressive.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One depth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borders, tonal surfaces or shadows consistently.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One spacing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small scale prevents random gaps and component drift.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Explicit exclusions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patterns to avoid when they conflict with product intent.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Choose a clear product character: precise, calm, warm or expressive; name patterns to avoid when they conflict with product intent.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Direction without AI design slop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Interface Design; Developers Digest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Every generated page uses gradient headlines, floating blobs and oversized rounded cards.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Set a restrained direction and tie each visual treatment to product meaning.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Polish comes from coherent decisions, not accumulated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Move from structure to fidelity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Low fidelity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Validate content, hierarchy, flow and screen coverage quickly.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Mid fidelity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Introduce components, realistic content and interaction states.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High fidelity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Apply brand, responsive behaviour and precise visual polish.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Connect states so behaviour can be tested, not merely described.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Validate content, hierarchy, flow and screen coverage quickly; connect states so behaviour can be tested, not merely described.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Move from structure to fidelity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team debates colour while the navigation model is unresolved.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Return to structural wireframes, resolve the flow, then increase fidelity.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Each fidelity level should answer a different question.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Variants are hypotheses, not wallpaper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Diverge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Ask for alternatives that differ in information strategy, not just colour.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Name trade-offs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State what each direction optimises and what it sacrifices.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the same success criteria for every variant.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Converge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Combine evidence-backed strengths rather than voting by taste.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 for alternatives that differ in information strategy, not just colour; combine evidence-backed strengths rather than voting by taste.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Variants are hypotheses, not wallpaper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Anthropic; 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Three alternatives share the same layout and differ only in accent colour.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Request distinct hierarchy and navigation strategies tied to the user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Useful variation changes the decision, not the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Choose the right refinement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Broad changes affecting overall layout, tone or information strategy.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Inline 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local issue that benefits from contextual discussion.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Direct 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Deterministic text or property corrections on the canvas.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Sliders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Controlled exploration of a repeated visual property.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Broad changes affecting overall layout, tone or information strategy; controlled exploration of a repeated visual property.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Choose the right refinement channel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broad request is repeated as dozens of tiny element comments.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Use chat for the system-level change, then comments for remaining local exceptions.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Match the communication channel to the scope of 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Versions turn iteration into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Checkpoint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Save a named state before a significant direction change.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Review versions against the same task and criteria.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Explain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Record why the change was made and what evidence informed it.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Recover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Return to a known-good state when exploration degrades the design.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Save a named state before a significant direction change; return to a known-good state when exploration degrades the design.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Versions turn iteration into evidence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strong version is overwritten by successive experimental prompts.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Create checkpoints and log the rationale before broad iterations.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Version history supports judgement, not only undo.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Responsive design is a set of priorities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Content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Decide what remains, collapses, moves or disappears by breakpoint.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Layout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fluid grids, min/max constraints and intentional stacking.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Interaction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Adjust navigation, touch targets and hover-dependent behaviour.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Test realistic content and states across widths.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Decide what remains, collapses, moves or disappears by breakpoint; test realistic content and states across widths.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Responsive design is a set of priorities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desktop table is simply squeezed until labels become unreadable on mobile.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Transform the information model: prioritise columns, support drill-down and keep actions reachable.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Responsive is behavioural adaptation, not uniform shrinking.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Tokens and components create a shared 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named decision such as space-3 or color-action-primary.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Component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reusable structure with defined anatomy and behaviour.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Variant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controlled expression such as primary, secondary or danger.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condition such as hover, focus, disabled, loading or error.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 named decision such as space-3 or color-action-primary; a condition such as hover, focus, disabled, loading or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Tokens and components create a shared language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.button--primary { background: var(--color-action); }
.button:focus-visible { outline: 3px solid var(--color-focus); }
.button[aria-busy='true'] { cursor: progress; }
.button:disabled { opacity: .55; 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Variant is intentional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Focus stays visible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States are explicit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3 · Claude Design Project and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Create a Claude Design project and provide a compact design-system contract for the wellness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project context pack with tokens, component rules and explicit design 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tokens.css · component contract · Full detailed procedure: Learner Guide and labs/lab-03-*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3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Create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Add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Define 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Attach 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Generate test screen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3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Uses named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Defines component variants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Includes accessibility rules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Test screen matches the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project-context.md, tokens.css, component-contract.md,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4 · Prompted Wireframes and Variants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Generate a four-screen wellness booking flow, then compare two structurally different directions.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low-fidelity responsive wireframes and a documented variant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supplied realistic content · decision matrix · Full detailed procedure: Learner Guide and labs/lab-04-*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4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Prompt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Review screen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Generate variant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Compare trade-offs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Checkpoint choice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2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4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All required screens appear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Real content replaces lorem ipsum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Variants differ structurally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Selection cites criteria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content.json, decision-matrix.csv, wireframe.html,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Design systems accelerate repeatable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01C"/>
                </a:solidFill>
                <a:latin typeface="Cambria"/>
              </a:rPr>
              <a:t>Figma reported participants with a design system completed an objective 34% faster.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MODULE 2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Module 2 · Decision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What Claude Design is—an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first generation is a starting point, not a sign-off.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Access, interface and 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Tool readiness is part of instructional readiness.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 project is a context 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Good boundaries reduce accidental design drift.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Import a design system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design system is executable context, not a mood-board adjective.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C2603F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The first generation is a starting point, not a sign-off; a design system is executable context, not a mood-board adjective.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7D7B"/>
                </a:solidFill>
                <a:latin typeface="Cambria"/>
              </a:rPr>
              <a:t>MODULE 3 · LO2 · LO3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1201C"/>
                </a:solidFill>
                <a:latin typeface="Cambria"/>
              </a:rPr>
              <a:t>Components, Prototypes and Evidence-Based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862"/>
                </a:solidFill>
                <a:latin typeface="Calibri"/>
              </a:rPr>
              <a:t>Design realistic states, validate behaviour and iterate from observable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8E5DE"/>
                </a:solidFill>
                <a:latin typeface="Cambr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Component anatomy defines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Controls layout, grouping and responsive behaviour.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Labels, icons and values communicate purpose and status.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Interaction rules state what users can do and what follows.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Contract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Props, variants, states and constraints define safe reuse.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Controls layout, grouping and responsive behaviour; props, variants, states and constraints define safe reuse.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Component anatomy defines responsibility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UXPin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card component accepts unlimited actions and content shapes.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Define supported anatomy and create separate patterns when responsibilities diverge.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Reusable does not mean infinitely configurable.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States are part of the component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Default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stable state communicates purpose and available action.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Interactive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Hover, pressed and focus states acknowledge user input.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Unavailable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Disabled and permission states explain why action is blocked.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Loading, success and error states reveal progress and outcome.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The stable state communicates purpose and available action; loading, success and error states reveal progress and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States are part of the component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const states = ['default','hover','focus','loading','disabled','error'];
function setState(name) {
  preview.dataset.state = name;
  status.textContent = `State: ${name}`;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List the state matrix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Make state observable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Test transitions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Interaction design makes cause and effect visible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Click, tap, type, drag, time or system event starts a transition.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Conditions determine whether the action is allowed and where it leads.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Response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Visual, content and navigation feedback confirms the effect.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Undo, retry or correction protects users from cost and confusion.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Click, tap, type, drag, time or system event starts a transition; undo, retry or correction protects users from cost and confusion.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01C"/>
                </a:solidFill>
                <a:latin typeface="Cambria"/>
              </a:rPr>
              <a:t>Interaction design makes cause and effect visible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button changes pages without preserving the user's entered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Define state persistence and recovery as part of the interaction contract.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Every interaction needs a comprehensible before, during and after.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Navigation should match the information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Global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Persistent routes connect the product's major destinations.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Local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Tabs, subnavigation and filters organise a bounded context.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Contextual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Links and actions appear where their meaning is strongest.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Wayfinding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Current location, history and next options remain visible.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Persistent routes connect the product's major destinations; current location, history and next options remain visible.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Navigation should match the information model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mobile app hides the current section and relies on a back button for all movement.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Expose location and primary destinations without overwhelming the task view.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Users should know where they are, what is nearby and how to recover.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Forms are conversations with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Ask less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Request only information needed for the current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Label clearly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Persistent labels beat placeholders that disappear.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Validate locally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Place specific guidance next to the field that needs attention.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Preserve progress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Do not erase correct input when one value fails.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Request only information needed for the current outcome; do not erase correct input when one value fails.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Forms are conversations with constraints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UXPin; Dribbble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&lt;label for="email"&gt;Work email&lt;/label&gt;
&lt;input id="email" type="email" aria-describedby="email-help email-error"&gt;
&lt;p id="email-help"&gt;We'll send the booking receipt here.&lt;/p&gt;
&lt;p id="email-error" role="alert"&gt;&lt;/p&gt;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Persistent label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Help is associated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Error is announced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Feedback and microcopy close the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Tell users whether the system is working, waiting or complete.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Specific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the item and action rather than saying 'Success'.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Proportional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Match prominence and persistence to consequence.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Actionable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Errors and empty states offer a realistic next step.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Tell users whether the system is working, waiting or complete; errors and empty states offer a realistic next step.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Feedback and microcopy close the loop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async function saveBooking(data) {
  setStatus('Saving your booking…');
  try { await api.save(data); setStatus('Booking saved'); }
  catch { setStatus('Could not save. Your details are preserved. Retry.'); }
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Expose progress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Name the 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Preserve and recover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Prototype the riskiest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Task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Prototype the path most important to user success.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Interaction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Test novel controls, dependencies and state transitions.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Content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realistic labels and edge-case 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Technical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Represent latency, permissions and system boundaries honestly.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Prototype the path most important to user success; represent latency, permissions and system boundaries honestly.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Prototype the riskiest behaviour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Anthropic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prototype animates the hero banner but ignores a complex approval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Move effort to the interaction whose failure would invalidate the design.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Prototype uncertainty, not decoration.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Define usability metrics before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Contentsquare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Effectiveness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Task success, completion quality and critical error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Efficiency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Time, steps and help required to reach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Satisfaction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Confidence, ease and perceived effort after the task.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Accessibility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Keyboard, focus, contrast and assistive-technology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Task success, completion quality and critical error rate; keyboard, focus, contrast and assistive-technology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Define usability metrics before testing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Contentsquare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team asks participants whether they 'like' a dashboard.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Give a realistic task and measure success, time, errors and confidence.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metric must connect to the design's intended outcome.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Heuristic review is a structured expert lens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interface keeps users informed about what is happening.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Language and concepts align with users' real-world understanding.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Control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Users can leave, undo and recover from unwanted states.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Consistency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Patterns follow product rules and familiar standards.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The interface keeps users informed about what is happening; patterns follow product rules and familiar standards.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Heuristic review is a structured expert lens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Maze; MockFlow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Review comments say only 'this feels confusing'.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Name the violated heuristic, show evidence and propose a testable correction.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Heuristics turn opinion into an inspectable rationale.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Accessibility review across the state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Check text, icons, controls and focus indicators in every state.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Keyboard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Order, reachability, traps and visible focus support non-pointer use.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Semantics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Names, roles, headings and error relationships convey structure.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Motion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Purposeful motion respects reduced-motion preferences.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Check text, icons, controls and focus indicators in every state; purposeful motion respects reduced-motion preferences.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Accessibility review across the state matrix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Figma; WeWeb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The default button passes contrast, but its disabled and focus states do not.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Audit variants and states as a matrix rather than checking one screenshot.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Accessibility defects often hide in transitions and exceptions.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User testing observes behaviour, not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Give a goal and context without teaching the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Observe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Record navigation, pauses, errors and spontaneous interpretation.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Probe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Ask neutral questions after behaviour occurs.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Synthesize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Group evidence by pattern, severity and affected outcome.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Give a goal and context without teaching the path; group evidence by pattern, severity and affected outcome.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User testing observes behaviour, not performance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facilitator explains each feature while the participant attempts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Use neutral task wording and allow the interface to communicate for itself.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Testing the participant invalidates evidence about the design.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Iteration needs a change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the observed problem and who it affects.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Hypothesis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Predict how a specific change should improve the outcome.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Change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Alter the smallest coherent part that addresses the cause.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Retest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the same task and metrics to see whether the prediction holds.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Name the observed problem and who it affects; use the same task and metrics to see whether the prediction holds.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Iteration needs a change hypothesis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Contentsquare;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redesign changes layout, copy and navigation after one failed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Isolate the likely cause, make a bounded change and compare the same measure.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Iteration becomes learning when the prediction is explicit.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5 · Reusable Components and States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Turn the selected wireframe into a component system with accessible buttons, fields, cards and navigation.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component sheet and coded reference with default, focus, loading, disabled and error states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HTML · CSS · JavaScript · Full detailed procedure: Learner Guide and labs/lab-05-*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LO2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5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Define anatomy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Create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Add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Check tokens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Review accessibility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5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Components use tokens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Focus is visible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Loading/error states are distinct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Reuse does not create drift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index.html, styles.css, states.js, state-matrix.csv,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6 · Interactive Responsive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Build and connect the high-fidelity wellness flow across desktop and mobile widths.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interactive prototype covering booking success, conflict and recovery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· standalone HTML prototype · Full detailed procedure: Learner Guide and labs/lab-06-*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6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Apply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Connect screens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Model conflict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Adapt breakpoints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Preview task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6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Primary task is complete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Conflict state preserves progress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Mobile layout adapts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All actions provide feedback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index.html, styles.css, app.js, prototype-test.md,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Find expensive defects earlier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01C"/>
                </a:solidFill>
                <a:latin typeface="Cambria"/>
              </a:rPr>
              <a:t>Indicative teaching ratio: validation cost rises when flow and state defects survive into build.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3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Module 3 · Decision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Component anatomy 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Reusable does not mean infinitely configurable.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States are part of the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component without states is an illustration, not an interaction.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Interaction design makes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Every interaction needs a comprehensible before, during and after.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Navigation should match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Users should know where they are, what is nearby and how to recover.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Reusable does not mean infinitely configurable; users should know where they are, what is nearby and how to recover.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083564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4884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3A7D7B"/>
                </a:solidFill>
                <a:latin typeface="Cambria"/>
              </a:rPr>
              <a:t>MODULE 4 · LO4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098280" cy="8412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21201C"/>
                </a:solidFill>
                <a:latin typeface="Cambria"/>
              </a:rPr>
              <a:t>Documentation, Collaboration and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03320"/>
            <a:ext cx="886968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B6862"/>
                </a:solidFill>
                <a:latin typeface="Calibri"/>
              </a:rPr>
              <a:t>Keep design intent, decisions and deliverables usable beyond the canvas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2103120"/>
            <a:ext cx="123444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5400" b="1" i="0">
                <a:solidFill>
                  <a:srgbClr val="E8E5DE"/>
                </a:solidFill>
                <a:latin typeface="Cambria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Collaboration needs permission 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Stakeholders can inspect the current design without changing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Comment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Reviewers discuss decisions in context while authors retain control.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Collaborators can modify the design and should follow ownership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Organisation scope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Sharing remains aligned with workplace access boundaries.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Stakeholders can inspect the current design without changing it; sharing remains aligned with workplace access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Collaboration needs permission clarity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public edit link is shared for a confidential internal prototype.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Match permission to the collaborator's role and review sensitive content before sharing.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Convenience does not replace access governance.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Choose export by downstream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Fixed review, archive or presentation with stable layout.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Editable presentation content for facilitated communication.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HTML / ZIP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Interactive handoff, local review or implementation starting point.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Tool transfer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Continue refinement in supported design or delivery tools.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Fixed review, archive or presentation with stable layout; continue refinement in supported design or delivery tools.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Choose export by downstream job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developer receives only a flat screenshot of an interactive stateful prototype.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Export an interactive or code-bearing format and include the design contract.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The best format preserves what the next role needs to know.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Claude Design and Claude Code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Synchronise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Bring design-system context into the workflow with /design-sync.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Claude Design MCP path supports design work from Claude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Bundle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Handoff packages design intent, assets and structure together.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Implementation still needs visual, responsive and accessibility checks.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Bring design-system context into the workflow with /design-sync; implementation still needs visual, responsive and accessibility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21201C"/>
                </a:solidFill>
                <a:latin typeface="Calibri"/>
              </a:rPr>
              <a:t>Claude Design and Claude Code handoff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Anthropic;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claude mcp add --scope user --transport http claude-design \
  https://api.anthropic.com/v1/design/mcp
/design-login
/design-sync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Connect once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Authenticate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Synchronise the system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A decision log explains why the UI changed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Describe the user problem, constraint and affected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State what changed and the component or screen impacted.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Rationale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Connect the change to research, testing or system rules.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Consequence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Record trade-offs, follow-up work and the new version.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Describe the user problem, constraint and affected flow; record trade-offs, follow-up work and the new version.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A decision log explains why the UI changed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Interface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button moved between versions with no explanation or test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Add a concise decision entry tied to the observed navigation problem.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Documentation preserves intent when people and tools change.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User guides are task support, not feature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Audience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the language and context of the people performing the task.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Organise guidance around outcomes, not product architecture.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Give a short sequence with visible checkpoints and recovery.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Maintenance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Link guidance to versions and update it when the interface changes.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Use the language and context of the people performing the task; link guidance to versions and update it when the interface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21201C"/>
                </a:solidFill>
                <a:latin typeface="Cambria"/>
              </a:rPr>
              <a:t>User guides are task support, not feature inventory — applied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Maze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6446520" cy="416052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19072"/>
            <a:ext cx="91440" cy="41605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938528"/>
            <a:ext cx="5897880" cy="3520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 i="0">
                <a:solidFill>
                  <a:srgbClr val="E8E5DE"/>
                </a:solidFill>
                <a:latin typeface="Consolas"/>
              </a:rPr>
              <a:t>## Book an appointment
1. Choose a service and available time.
2. Review your details and select Confirm.
3. Check for the confirmation message.
If the slot is no longer available, select another suggested time; your details remain saved.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88352" y="1719072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88352" y="1719072"/>
            <a:ext cx="82296" cy="120700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6096" y="192024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1920240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883664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Organise by outcome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88352" y="3099815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88352" y="3099815"/>
            <a:ext cx="82296" cy="120700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26096" y="3300984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3300984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3264408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Give checkpoints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4480559"/>
            <a:ext cx="4105656" cy="1207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4480559"/>
            <a:ext cx="82296" cy="120700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26096" y="4681727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26096" y="4681727"/>
            <a:ext cx="411480" cy="411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4645151"/>
            <a:ext cx="2944368" cy="7680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Include recovery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Case study: community wellness mobile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Support users with varied confidence, vision and health literacy.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Onboarding → daily overview → appointment selection → confirmation.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Reusable navigation, cards, progress, support and error components.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Task success, error recovery, focus order and language comprehension.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Support users with varied confidence, vision and health literacy; task success, error recovery, focus order and language comprehension.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REAL-LIFE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Case study: community wellness mobile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4069080" cy="41330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568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An appointment slot becomes unavailable after the user selects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09544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11296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6862"/>
                </a:solidFill>
                <a:latin typeface="Calibri"/>
              </a:rPr>
              <a:t>Preserve the user's choices, explain the conflict and offer the nearest valid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714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73168"/>
            <a:ext cx="3493008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Resilient states matter more than the perfect happy path.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719072"/>
            <a:ext cx="6483096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se-wellness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9" y="1883664"/>
            <a:ext cx="5678422" cy="3785615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Case study: sustainable retail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Need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Help an operations manager spot exceptions and approve work quickly.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Hierarchy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Status cards lead to exception details and an approval queue.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States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Normal, empty, loading, error and focus behaviour are all represented.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Time to detect risk, approval accuracy and keyboard completion.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Help an operations manager spot exceptions and approve work quickly; time to detect risk, approval accuracy and keyboard completion.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REAL-LIFE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Case study: sustainable retail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Course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19072"/>
            <a:ext cx="4069080" cy="41330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19568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258568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An approval card highlights amount but hides risk and requester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09544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511296"/>
            <a:ext cx="3493008" cy="7132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6B6862"/>
                </a:solidFill>
                <a:latin typeface="Calibri"/>
              </a:rPr>
              <a:t>Reorder information around the approval decision and show exception severity consistently.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471416"/>
            <a:ext cx="3493008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773168"/>
            <a:ext cx="3493008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 dashboard earns its density by supporting real decisions.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10912" y="1719072"/>
            <a:ext cx="6483096" cy="4133087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ase-operations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2065349"/>
            <a:ext cx="6080760" cy="3422245"/>
          </a:xfrm>
          <a:prstGeom prst="rect">
            <a:avLst/>
          </a:prstGeom>
        </p:spPr>
      </p:pic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Governance protects design quality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Ownership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Name who approves tokens, components, content and accessibility rules.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Change control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Review impact before modifying widely reused patterns.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Remove sensitive data from prompts, screenshots and shared prototypes.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Lifecycle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Deprecate, migrate and archive components with clear version guidance.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Name who approves tokens, components, content and accessibility rules; deprecate, migrate and archive components with clear version guidance.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CASE LENS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21201C"/>
                </a:solidFill>
                <a:latin typeface="Cambria"/>
              </a:rPr>
              <a:t>Governance protects design quality at scale — applied judgement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Microsoft; Anthropic Help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1755648"/>
            <a:ext cx="3392424" cy="91440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2029968"/>
            <a:ext cx="493776" cy="493776"/>
          </a:xfrm>
          <a:prstGeom prst="ellipse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179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5483A"/>
                </a:solidFill>
                <a:latin typeface="Calibri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A shared component changes silently and breaks dozens of screens.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526280"/>
            <a:ext cx="2834640" cy="27432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15968" y="1755648"/>
            <a:ext cx="3392424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44568" y="2029968"/>
            <a:ext cx="493776" cy="493776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755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DESIGN MOVE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Require impact review, version notes and a migration path for breaking changes.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0" y="4526280"/>
            <a:ext cx="2834640" cy="274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73568" y="1755648"/>
            <a:ext cx="3392424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73568" y="1755648"/>
            <a:ext cx="3392424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02168" y="2029968"/>
            <a:ext cx="493776" cy="493776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02168" y="2029968"/>
            <a:ext cx="493776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33104" y="2020824"/>
            <a:ext cx="22402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EVIDENCE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798063"/>
            <a:ext cx="2834640" cy="1645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1201C"/>
                </a:solidFill>
                <a:latin typeface="Calibri"/>
              </a:rPr>
              <a:t>Governance makes reuse safer, not slower.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4526280"/>
            <a:ext cx="2834640" cy="274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8368" y="5102352"/>
            <a:ext cx="10835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239512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Ask: what user outcome changes, and what evidence would prove it?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7 · Usability and Accessibility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Evaluate the prototype with a realistic task, heuristic review and accessibility checks, then perform one evidence-led iteration.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test record, prioritised findings and before/after design checkpoint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comments · keyboard · audit worksheet · Full detailed procedure: Learner Guide and labs/lab-07-*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LO3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7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Define 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Run task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Audit states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Prioritise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Iterate and retest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7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Metrics defined before testing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Findings cite evidence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Accessibility covers states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Retest uses the same task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test-script.md, results.csv, accessibility-check.js, iteration-log.md,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HANDS-ON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8 · Documentation, Export and Handoff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0896"/>
            <a:ext cx="15087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25 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55648"/>
            <a:ext cx="103784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21201C"/>
                </a:solidFill>
                <a:latin typeface="Calibri"/>
              </a:rPr>
              <a:t>Prepare the final prototype for stakeholder review, developer handoff and end-user guidance.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770632"/>
            <a:ext cx="10725912" cy="1389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10012680" cy="4754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1201C"/>
                </a:solidFill>
                <a:latin typeface="Cambria"/>
              </a:rPr>
              <a:t>versioned export bundle, decision log, handoff brief and task-based user guide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4443984"/>
            <a:ext cx="1072591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26864"/>
            <a:ext cx="1001268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Tools: Claude Design export · Claude Code handoff · documentation templates · Full detailed procedure: Learner Guide and labs/lab-08-*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40096"/>
            <a:ext cx="2834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LO4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CONCEPTUAL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8 · 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938528"/>
            <a:ext cx="1925726" cy="9144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92631" y="22402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92631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D97757"/>
                </a:solidFill>
                <a:latin typeface="Calibri"/>
              </a:rPr>
              <a:t>Checkpoint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5534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949854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49854" y="1938528"/>
            <a:ext cx="1925726" cy="9144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2677" y="2240280"/>
            <a:ext cx="640080" cy="640080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2677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87014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2603F"/>
                </a:solidFill>
                <a:latin typeface="Calibri"/>
              </a:rPr>
              <a:t>Record decisions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96158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875580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49900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49900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792724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92724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7060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Export package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96204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75627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349947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49947" y="1938528"/>
            <a:ext cx="1925726" cy="9144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92770" y="224028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92770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87107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A7D7B"/>
                </a:solidFill>
                <a:latin typeface="Calibri"/>
              </a:rPr>
              <a:t>Write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6251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275673" y="3150108"/>
            <a:ext cx="274320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49993" y="1938528"/>
            <a:ext cx="1925726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549993" y="1938528"/>
            <a:ext cx="1925726" cy="9144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192816" y="2240280"/>
            <a:ext cx="640080" cy="6400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92816" y="2240280"/>
            <a:ext cx="640080" cy="640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87153" y="3017520"/>
            <a:ext cx="1651406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88A2E"/>
                </a:solidFill>
                <a:latin typeface="Calibri"/>
              </a:rPr>
              <a:t>Verify handoff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6297" y="3474720"/>
            <a:ext cx="1633118" cy="6126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High-level stage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9808" y="4754880"/>
            <a:ext cx="10725912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919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97757"/>
                </a:solidFill>
                <a:latin typeface="Calibri"/>
              </a:rPr>
              <a:t>THE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4855464"/>
            <a:ext cx="8778240" cy="3931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1" i="0">
                <a:solidFill>
                  <a:srgbClr val="21201C"/>
                </a:solidFill>
                <a:latin typeface="Calibri"/>
              </a:rPr>
              <a:t>Detailed click-by-click steps and files are in the Learner Guide and lab folder.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VERIFY THE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Lab 8 · Evidence and acceptance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Change log explains rationale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15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01568" y="1828800"/>
            <a:ext cx="82296" cy="2432304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39312" y="2084832"/>
            <a:ext cx="512064" cy="51206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84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Export matches downstream need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447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44768" y="1828800"/>
            <a:ext cx="82296" cy="243230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82512" y="2084832"/>
            <a:ext cx="512064" cy="51206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Guide supports a real task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7968" y="1828800"/>
            <a:ext cx="2487168" cy="2432304"/>
          </a:xfrm>
          <a:prstGeom prst="rect">
            <a:avLst/>
          </a:prstGeom>
          <a:solidFill>
            <a:srgbClr val="EA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887968" y="1828800"/>
            <a:ext cx="82296" cy="2432304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25712" y="2084832"/>
            <a:ext cx="512064" cy="51206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084832"/>
            <a:ext cx="512064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2834640"/>
            <a:ext cx="1965960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1201C"/>
                </a:solidFill>
                <a:latin typeface="Calibri"/>
              </a:rPr>
              <a:t>Handoff includes states and acceptance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617720"/>
            <a:ext cx="10835640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4800600"/>
            <a:ext cx="1028700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B6862"/>
                </a:solidFill>
                <a:latin typeface="Calibri"/>
              </a:rPr>
              <a:t>Evidence package: CHANGELOG.md, HANDOFF.md, USER-GUIDE.md, export-checklist.md, prompt.txt · capture the final Claude Design version link or export.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NATIVE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Handoff quality depends on preserved intent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6419088"/>
            <a:ext cx="28346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730" b="0" i="1">
                <a:solidFill>
                  <a:srgbClr val="8A867D"/>
                </a:solidFill>
                <a:latin typeface="Calibri"/>
              </a:rPr>
              <a:t>Indicative teaching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68680" y="1737360"/>
          <a:ext cx="662940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ectangle 11"/>
          <p:cNvSpPr/>
          <p:nvPr/>
        </p:nvSpPr>
        <p:spPr>
          <a:xfrm>
            <a:off x="7818120" y="1755648"/>
            <a:ext cx="365760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8120" y="1755648"/>
            <a:ext cx="91440" cy="3685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2084831"/>
            <a:ext cx="288036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WHAT THE DATA SHOWS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670048"/>
            <a:ext cx="2880360" cy="1600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21201C"/>
                </a:solidFill>
                <a:latin typeface="Cambria"/>
              </a:rPr>
              <a:t>Indicative teaching score: richer handoff retains behaviour, states and acceptance criteria.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617720"/>
            <a:ext cx="28803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B6862"/>
                </a:solidFill>
                <a:latin typeface="Calibri"/>
              </a:rPr>
              <a:t>Use charts to support a decision—not as decoration.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MODULE 4 · RETRIEVE AND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Module 4 · Decision 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Collaboration needs perm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Convenience does not replace access governance.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Choose export by downstr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The best format preserves what the next role needs to know.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Claude Design and Claude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A shared source reduces translation loss but does not remove QA.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A decision log explains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Documentation preserves intent when people and tools change.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Convenience does not replace access governance; documentation preserves intent when people and tools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COURSE SUMMARY ·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1691640"/>
            <a:ext cx="82296" cy="23317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Frame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Translate user evidence into requirements and complete information flows.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691640"/>
            <a:ext cx="82296" cy="233172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Use Claude Design with context, systems and explicit acceptance criteria.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945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Test components, states and flows with usability and accessibility evidence.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87968" y="1691640"/>
            <a:ext cx="2487168" cy="2331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87968" y="1691640"/>
            <a:ext cx="82296" cy="23317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1819656"/>
            <a:ext cx="150876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 i="0">
                <a:solidFill>
                  <a:srgbClr val="21201C"/>
                </a:solidFill>
                <a:latin typeface="Calibri"/>
              </a:rPr>
              <a:t>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386584"/>
            <a:ext cx="1965960" cy="13350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70" b="0" i="0">
                <a:solidFill>
                  <a:srgbClr val="6B6862"/>
                </a:solidFill>
                <a:latin typeface="Calibri"/>
              </a:rPr>
              <a:t>Document decisions, export the right format and guide the next role.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703320"/>
            <a:ext cx="1078992" cy="2560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DESIGN LENS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" y="4315968"/>
            <a:ext cx="1083564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4480560"/>
            <a:ext cx="182880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D97757"/>
                </a:solidFill>
                <a:latin typeface="Calibri"/>
              </a:rPr>
              <a:t>SYNTHESIS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4846320"/>
            <a:ext cx="1019556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21201C"/>
                </a:solidFill>
                <a:latin typeface="Calibri"/>
              </a:rPr>
              <a:t>Translate user evidence into requirements and complete information flows; document decisions, export the right format and guide the next role.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REFERENCES · LIVE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Sources and further reading · 1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664208"/>
            <a:ext cx="7315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2821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Figma — Seven essential UI design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2821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2"/>
              </a:rPr>
              <a:t>https://www.figma.com/resource-library/ui-design-principles/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8541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185416"/>
            <a:ext cx="73152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4942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Microsoft — Key UI/UX design principles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4942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3"/>
              </a:rPr>
              <a:t>https://learn.microsoft.com/en-us/dynamics365/guidance/develop/ui-ux-design-principles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70662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706624"/>
            <a:ext cx="73152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77063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UXPin — Essential UI design principles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77063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4"/>
              </a:rPr>
              <a:t>https://www.uxpin.com/studio/blog/ui-design-principles/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227832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227832"/>
            <a:ext cx="73152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39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Contentsquare — Core UI 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91839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5"/>
              </a:rPr>
              <a:t>https://contentsquare.com/guides/ui-design/principles/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749039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749039"/>
            <a:ext cx="73152" cy="47548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81304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MockFlow — Design principles for intuitive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81304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6"/>
              </a:rPr>
              <a:t>https://mockflow.com/resources/ui-design-principles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27024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270248"/>
            <a:ext cx="73152" cy="47548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33425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MockFlow — UI principles for usability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33425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7"/>
              </a:rPr>
              <a:t>https://mockflow.com/blog/ui-design-principles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79145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4791456"/>
            <a:ext cx="7315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85546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WeWeb — UI design principles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85546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8"/>
              </a:rPr>
              <a:t>https://www.weweb.io/blog/ui-design-principles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31266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312664"/>
            <a:ext cx="73152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37667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Visily — Visual design principles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37667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9"/>
              </a:rPr>
              <a:t>https://www.visily.ai/blog/visual-design-principles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835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2603F"/>
                </a:solidFill>
                <a:latin typeface="Calibri"/>
              </a:rPr>
              <a:t>REFERENCES · LIVE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21792"/>
            <a:ext cx="1083564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21201C"/>
                </a:solidFill>
                <a:latin typeface="Cambria"/>
              </a:rPr>
              <a:t>Sources and further reading · 2 of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8" y="1664208"/>
            <a:ext cx="7315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172821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Dribbble — Fundamental UI design principles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172821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2"/>
              </a:rPr>
              <a:t>https://dribbble.com/resources/education/ui-design-principles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218541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8" y="2185416"/>
            <a:ext cx="73152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224942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Maze — Key principles of UI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4942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3"/>
              </a:rPr>
              <a:t>https://maze.co/collections/ux-ui-design/ui-design-principles/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270662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8" y="2706624"/>
            <a:ext cx="73152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277063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GeeksforGeeks — Principles of UI/UX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77063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4"/>
              </a:rPr>
              <a:t>https://www.geeksforgeeks.org/techtips/principles-of-ui-ux-design/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227832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9808" y="3227832"/>
            <a:ext cx="73152" cy="475488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291839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Duck.Design — Key UI design principles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3291839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5"/>
              </a:rPr>
              <a:t>https://duck.design/key-ui-design-principles/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8" y="3749039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" y="3749039"/>
            <a:ext cx="73152" cy="475488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813048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Anthropic — Introducing Claude Design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9160" y="381304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6"/>
              </a:rPr>
              <a:t>https://www.anthropic.com/news/claude-design-anthropic-labs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" y="4270248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" y="4270248"/>
            <a:ext cx="73152" cy="475488"/>
          </a:xfrm>
          <a:prstGeom prst="rect">
            <a:avLst/>
          </a:prstGeom>
          <a:solidFill>
            <a:srgbClr val="B548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4334256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Anthropic Help — Get started with Claude Design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334256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7"/>
              </a:rPr>
              <a:t>https://support.claude.com/en/articles/14604416-get-started-with-claude-design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791456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9808" y="4791456"/>
            <a:ext cx="73152" cy="47548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2" y="4855464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Developers Digest — Claude Design developer guide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855464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8"/>
              </a:rPr>
              <a:t>https://www.developersdigest.tech/blog/claude-design-developer-guide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808" y="5312664"/>
            <a:ext cx="1062532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9808" y="5312664"/>
            <a:ext cx="73152" cy="475488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7552" y="5376672"/>
            <a:ext cx="3840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i="0">
                <a:solidFill>
                  <a:srgbClr val="21201C"/>
                </a:solidFill>
                <a:latin typeface="Calibri"/>
              </a:rPr>
              <a:t>Interface Design — systematic UI patterns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09160" y="5376672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 i="0">
                <a:solidFill>
                  <a:srgbClr val="C2603F"/>
                </a:solidFill>
                <a:latin typeface="Calibri"/>
              </a:rPr>
              <a:t/>
            </a:r>
            <a:r>
              <a:rPr sz="830" b="0">
                <a:solidFill>
                  <a:srgbClr val="C2603F"/>
                </a:solidFill>
                <a:latin typeface="Calibri"/>
                <a:hlinkClick r:id="rId9"/>
              </a:rPr>
              <a:t>https://github.com/Dammyjay93/interface-design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6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72768"/>
            <a:ext cx="105156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C2603F"/>
                </a:solidFill>
                <a:latin typeface="Cambria"/>
              </a:rPr>
              <a:t>Claude Design for UX/UI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67712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4800" b="1" i="0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566160"/>
            <a:ext cx="9966960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6B6862"/>
                </a:solidFill>
                <a:latin typeface="Calibri"/>
              </a:rPr>
              <a:t>Design with evidence. Generate with context. Refine with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36592"/>
            <a:ext cx="77724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D97757"/>
                </a:solidFill>
                <a:latin typeface="Calibri"/>
              </a:rPr>
              <a:t>https://www.tertiarycourses.com.sg/claude-design-for-ux-ui.html</a:t>
            </a:r>
            <a:r>
              <a:rPr sz="1200" b="1">
                <a:solidFill>
                  <a:srgbClr val="D97757"/>
                </a:solidFill>
                <a:latin typeface="Calibri"/>
                <a:hlinkClick r:id="rId2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50992"/>
            <a:ext cx="950976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B6862"/>
                </a:solidFill>
                <a:latin typeface="Calibri"/>
              </a:rPr>
              <a:t>Tertiary Infotech Academy Pte Ltd · UEN 201200696W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419088"/>
            <a:ext cx="466344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Claude Design for UX/UI · C744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6419088"/>
            <a:ext cx="365760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4200" y="6419088"/>
            <a:ext cx="73152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Design for UX/UI</dc:title>
  <dc:subject>Claude Design for UX/UI (C744) — non-WSQ course slides</dc:subject>
  <dc:creator>Tertiary Infotech Academy Pte Ltd</dc:creator>
  <cp:keywords>C744, Claude Design, UX design, UI design, prototyping</cp:keywords>
  <dc:description>generated using python-pptx</dc:description>
  <cp:lastModifiedBy>Tertiary Infotech Academy Pte Ltd</cp:lastModifiedBy>
  <cp:revision>1</cp:revision>
  <dcterms:created xsi:type="dcterms:W3CDTF">2013-01-27T09:14:16Z</dcterms:created>
  <dcterms:modified xsi:type="dcterms:W3CDTF">2013-01-27T09:15:58Z</dcterms:modified>
  <cp:category>Course Slides</cp:category>
</cp:coreProperties>
</file>